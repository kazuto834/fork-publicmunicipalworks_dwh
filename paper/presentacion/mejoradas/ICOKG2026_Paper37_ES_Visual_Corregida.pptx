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8"/>
  </p:handoutMasterIdLst>
  <p:sldIdLst>
    <p:sldId id="256" r:id="rId7"/>
    <p:sldId id="257" r:id="rId5"/>
    <p:sldId id="258" r:id="rId4"/>
    <p:sldId id="259" r:id="rId3"/>
    <p:sldId id="260" r:id="rId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notesViewPr>
    <p:cSldViewPr snapToGrid="0">
      <p:cViewPr varScale="1">
        <p:scale>
          <a:sx n="66" d="100"/>
          <a:sy n="66" d="100"/>
        </p:scale>
        <p:origin x="3134" y="43"/>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xml"/><Relationship Id="rId3" Type="http://schemas.openxmlformats.org/officeDocument/2006/relationships/slide" Target="slides/slide4.xml"/><Relationship Id="rId4" Type="http://schemas.openxmlformats.org/officeDocument/2006/relationships/slide" Target="slides/slide3.xml"/><Relationship Id="rId5" Type="http://schemas.openxmlformats.org/officeDocument/2006/relationships/slide" Target="slides/slide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handoutMaster" Target="handoutMasters/handout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Regla de umbral (este trabajo)</c:v>
                </c:pt>
              </c:strCache>
            </c:strRef>
          </c:tx>
          <c:spPr>
            <a:solidFill>
              <a:srgbClr val="B57BFF"/>
            </a:solidFill>
            <a:ln>
              <a:noFill/>
            </a:ln>
          </c:spPr>
          <c:dLbls>
            <c:numFmt formatCode="#.000" sourceLinked="0"/>
            <c:txPr>
              <a:bodyPr/>
              <a:lstStyle/>
              <a:p>
                <a:pPr>
                  <a:defRPr sz="850" b="1">
                    <a:solidFill>
                      <a:srgbClr val="FFFFFF"/>
                    </a:solidFill>
                  </a:defRPr>
                </a:pPr>
              </a:p>
            </c:txPr>
            <c:dLblPos val="inBase"/>
            <c:showLegendKey val="0"/>
            <c:showVal val="1"/>
            <c:showCatName val="0"/>
            <c:showSerName val="0"/>
            <c:showPercent val="0"/>
            <c:showBubbleSize val="0"/>
            <c:showLeaderLines val="1"/>
          </c:dLbls>
          <c:errBars>
            <c:errBarType val="both"/>
            <c:errValType val="cust"/>
            <c:noEndCap val="0"/>
            <c:plus>
              <c:numLit>
                <c:formatCode>General</c:formatCode>
                <c:ptCount val="5"/>
                <c:pt idx="0">
                  <c:v>0.056</c:v>
                </c:pt>
                <c:pt idx="1">
                  <c:v>0.031</c:v>
                </c:pt>
                <c:pt idx="2">
                  <c:v>0.038</c:v>
                </c:pt>
                <c:pt idx="3">
                  <c:v>0.022</c:v>
                </c:pt>
                <c:pt idx="4">
                  <c:v>0.052</c:v>
                </c:pt>
              </c:numLit>
            </c:plus>
            <c:minus>
              <c:numLit>
                <c:formatCode>General</c:formatCode>
                <c:ptCount val="5"/>
                <c:pt idx="0">
                  <c:v>0.056</c:v>
                </c:pt>
                <c:pt idx="1">
                  <c:v>0.031</c:v>
                </c:pt>
                <c:pt idx="2">
                  <c:v>0.038</c:v>
                </c:pt>
                <c:pt idx="3">
                  <c:v>0.022</c:v>
                </c:pt>
                <c:pt idx="4">
                  <c:v>0.052</c:v>
                </c:pt>
              </c:numLit>
            </c:minus>
            <c:spPr>
              <a:ln w="15875">
                <a:solidFill>
                  <a:srgbClr val="FFFFFF"/>
                </a:solidFill>
              </a:ln>
            </c:spPr>
          </c:errBars>
          <c:cat>
            <c:strRef>
              <c:f>Sheet1!$A$2:$A$6</c:f>
              <c:strCache>
                <c:ptCount val="5"/>
                <c:pt idx="0">
                  <c:v>Precisión</c:v>
                </c:pt>
                <c:pt idx="1">
                  <c:v>Exhaustividad</c:v>
                </c:pt>
                <c:pt idx="2">
                  <c:v>F1</c:v>
                </c:pt>
                <c:pt idx="3">
                  <c:v>ROC-AUC</c:v>
                </c:pt>
                <c:pt idx="4">
                  <c:v>PR-AUC</c:v>
                </c:pt>
              </c:strCache>
            </c:strRef>
          </c:cat>
          <c:val>
            <c:numRef>
              <c:f>Sheet1!$B$2:$B$6</c:f>
              <c:numCache>
                <c:formatCode>General</c:formatCode>
                <c:ptCount val="5"/>
                <c:pt idx="0">
                  <c:v>0.462</c:v>
                </c:pt>
                <c:pt idx="1">
                  <c:v>0.351</c:v>
                </c:pt>
                <c:pt idx="2">
                  <c:v>0.397</c:v>
                </c:pt>
                <c:pt idx="3">
                  <c:v>0.63</c:v>
                </c:pt>
                <c:pt idx="4">
                  <c:v>0.31</c:v>
                </c:pt>
              </c:numCache>
            </c:numRef>
          </c:val>
        </c:ser>
        <c:ser>
          <c:idx val="1"/>
          <c:order val="1"/>
          <c:tx>
            <c:strRef>
              <c:f>Sheet1!$C$1</c:f>
              <c:strCache>
                <c:ptCount val="1"/>
                <c:pt idx="0">
                  <c:v>Isolation Forest (por defecto)</c:v>
                </c:pt>
              </c:strCache>
            </c:strRef>
          </c:tx>
          <c:spPr>
            <a:solidFill>
              <a:srgbClr val="94A3B8"/>
            </a:solidFill>
            <a:ln>
              <a:noFill/>
            </a:ln>
          </c:spPr>
          <c:dLbls>
            <c:numFmt formatCode="#.000" sourceLinked="0"/>
            <c:txPr>
              <a:bodyPr/>
              <a:lstStyle/>
              <a:p>
                <a:pPr>
                  <a:defRPr sz="850" b="1">
                    <a:solidFill>
                      <a:srgbClr val="1B1530"/>
                    </a:solidFill>
                  </a:defRPr>
                </a:pPr>
              </a:p>
            </c:txPr>
            <c:dLblPos val="inBase"/>
            <c:showLegendKey val="0"/>
            <c:showVal val="1"/>
            <c:showCatName val="0"/>
            <c:showSerName val="0"/>
            <c:showPercent val="0"/>
            <c:showBubbleSize val="0"/>
            <c:showLeaderLines val="1"/>
          </c:dLbls>
          <c:errBars>
            <c:errBarType val="both"/>
            <c:errValType val="cust"/>
            <c:noEndCap val="0"/>
            <c:plus>
              <c:numLit>
                <c:formatCode>General</c:formatCode>
                <c:ptCount val="5"/>
                <c:pt idx="0">
                  <c:v>0.053</c:v>
                </c:pt>
                <c:pt idx="1">
                  <c:v>0.031</c:v>
                </c:pt>
                <c:pt idx="2">
                  <c:v>0.037</c:v>
                </c:pt>
                <c:pt idx="3">
                  <c:v>0.029</c:v>
                </c:pt>
                <c:pt idx="4">
                  <c:v>0.052</c:v>
                </c:pt>
              </c:numLit>
            </c:plus>
            <c:minus>
              <c:numLit>
                <c:formatCode>General</c:formatCode>
                <c:ptCount val="5"/>
                <c:pt idx="0">
                  <c:v>0.053</c:v>
                </c:pt>
                <c:pt idx="1">
                  <c:v>0.031</c:v>
                </c:pt>
                <c:pt idx="2">
                  <c:v>0.037</c:v>
                </c:pt>
                <c:pt idx="3">
                  <c:v>0.029</c:v>
                </c:pt>
                <c:pt idx="4">
                  <c:v>0.052</c:v>
                </c:pt>
              </c:numLit>
            </c:minus>
            <c:spPr>
              <a:ln w="15875">
                <a:solidFill>
                  <a:srgbClr val="FFFFFF"/>
                </a:solidFill>
              </a:ln>
            </c:spPr>
          </c:errBars>
          <c:cat>
            <c:strRef>
              <c:f>Sheet1!$A$2:$A$6</c:f>
              <c:strCache>
                <c:ptCount val="5"/>
                <c:pt idx="0">
                  <c:v>Precisión</c:v>
                </c:pt>
                <c:pt idx="1">
                  <c:v>Exhaustividad</c:v>
                </c:pt>
                <c:pt idx="2">
                  <c:v>F1</c:v>
                </c:pt>
                <c:pt idx="3">
                  <c:v>ROC-AUC</c:v>
                </c:pt>
                <c:pt idx="4">
                  <c:v>PR-AUC</c:v>
                </c:pt>
              </c:strCache>
            </c:strRef>
          </c:cat>
          <c:val>
            <c:numRef>
              <c:f>Sheet1!$C$2:$C$6</c:f>
              <c:numCache>
                <c:formatCode>General</c:formatCode>
                <c:ptCount val="5"/>
                <c:pt idx="0">
                  <c:v>0.369</c:v>
                </c:pt>
                <c:pt idx="1">
                  <c:v>0.321</c:v>
                </c:pt>
                <c:pt idx="2">
                  <c:v>0.342</c:v>
                </c:pt>
                <c:pt idx="3">
                  <c:v>0.65</c:v>
                </c:pt>
                <c:pt idx="4">
                  <c:v>0.342</c:v>
                </c:pt>
              </c:numCache>
            </c:numRef>
          </c:val>
        </c:ser>
        <c:ser>
          <c:idx val="2"/>
          <c:order val="2"/>
          <c:tx>
            <c:strRef>
              <c:f>Sheet1!$D$1</c:f>
              <c:strCache>
                <c:ptCount val="1"/>
                <c:pt idx="0">
                  <c:v>Isolation Forest (presupuesto igualado)</c:v>
                </c:pt>
              </c:strCache>
            </c:strRef>
          </c:tx>
          <c:spPr>
            <a:solidFill>
              <a:srgbClr val="2DD4BF"/>
            </a:solidFill>
            <a:ln>
              <a:noFill/>
            </a:ln>
          </c:spPr>
          <c:dLbls>
            <c:numFmt formatCode="#.000" sourceLinked="0"/>
            <c:txPr>
              <a:bodyPr/>
              <a:lstStyle/>
              <a:p>
                <a:pPr>
                  <a:defRPr sz="850" b="1">
                    <a:solidFill>
                      <a:srgbClr val="1B1530"/>
                    </a:solidFill>
                  </a:defRPr>
                </a:pPr>
              </a:p>
            </c:txPr>
            <c:dLblPos val="inBase"/>
            <c:showLegendKey val="0"/>
            <c:showVal val="1"/>
            <c:showCatName val="0"/>
            <c:showSerName val="0"/>
            <c:showPercent val="0"/>
            <c:showBubbleSize val="0"/>
            <c:showLeaderLines val="1"/>
          </c:dLbls>
          <c:errBars>
            <c:errBarType val="both"/>
            <c:errValType val="cust"/>
            <c:noEndCap val="0"/>
            <c:plus>
              <c:numLit>
                <c:formatCode>General</c:formatCode>
                <c:ptCount val="5"/>
                <c:pt idx="0">
                  <c:v>0.054</c:v>
                </c:pt>
                <c:pt idx="1">
                  <c:v>0.033</c:v>
                </c:pt>
                <c:pt idx="2">
                  <c:v>0.038</c:v>
                </c:pt>
                <c:pt idx="3">
                  <c:v>0.029</c:v>
                </c:pt>
                <c:pt idx="4">
                  <c:v>0.052</c:v>
                </c:pt>
              </c:numLit>
            </c:plus>
            <c:minus>
              <c:numLit>
                <c:formatCode>General</c:formatCode>
                <c:ptCount val="5"/>
                <c:pt idx="0">
                  <c:v>0.054</c:v>
                </c:pt>
                <c:pt idx="1">
                  <c:v>0.033</c:v>
                </c:pt>
                <c:pt idx="2">
                  <c:v>0.038</c:v>
                </c:pt>
                <c:pt idx="3">
                  <c:v>0.029</c:v>
                </c:pt>
                <c:pt idx="4">
                  <c:v>0.052</c:v>
                </c:pt>
              </c:numLit>
            </c:minus>
            <c:spPr>
              <a:ln w="15875">
                <a:solidFill>
                  <a:srgbClr val="FFFFFF"/>
                </a:solidFill>
              </a:ln>
            </c:spPr>
          </c:errBars>
          <c:cat>
            <c:strRef>
              <c:f>Sheet1!$A$2:$A$6</c:f>
              <c:strCache>
                <c:ptCount val="5"/>
                <c:pt idx="0">
                  <c:v>Precisión</c:v>
                </c:pt>
                <c:pt idx="1">
                  <c:v>Exhaustividad</c:v>
                </c:pt>
                <c:pt idx="2">
                  <c:v>F1</c:v>
                </c:pt>
                <c:pt idx="3">
                  <c:v>ROC-AUC</c:v>
                </c:pt>
                <c:pt idx="4">
                  <c:v>PR-AUC</c:v>
                </c:pt>
              </c:strCache>
            </c:strRef>
          </c:cat>
          <c:val>
            <c:numRef>
              <c:f>Sheet1!$D$2:$D$6</c:f>
              <c:numCache>
                <c:formatCode>General</c:formatCode>
                <c:ptCount val="5"/>
                <c:pt idx="0">
                  <c:v>0.387</c:v>
                </c:pt>
                <c:pt idx="1">
                  <c:v>0.294</c:v>
                </c:pt>
                <c:pt idx="2">
                  <c:v>0.333</c:v>
                </c:pt>
                <c:pt idx="3">
                  <c:v>0.65</c:v>
                </c:pt>
                <c:pt idx="4">
                  <c:v>0.342</c:v>
                </c:pt>
              </c:numCache>
            </c:numRef>
          </c:val>
        </c:ser>
        <c:gapWidth val="55"/>
        <c:overlap val="-6"/>
        <c:axId val="100001"/>
        <c:axId val="100002"/>
      </c:barChart>
      <c:catAx>
        <c:axId val="100001"/>
        <c:scaling>
          <c:orientation val="minMax"/>
        </c:scaling>
        <c:delete val="0"/>
        <c:axPos val="b"/>
        <c:majorTickMark val="none"/>
        <c:minorTickMark val="none"/>
        <c:tickLblPos val="nextTo"/>
        <c:spPr>
          <a:ln>
            <a:solidFill>
              <a:srgbClr val="7A6E9E"/>
            </a:solidFill>
          </a:ln>
        </c:spPr>
        <c:txPr>
          <a:bodyPr/>
          <a:lstStyle/>
          <a:p>
            <a:pPr>
              <a:defRPr sz="1200">
                <a:solidFill>
                  <a:srgbClr val="FFFFFF"/>
                </a:solidFill>
              </a:defRPr>
            </a:pPr>
          </a:p>
        </c:txPr>
        <c:crossAx val="100002"/>
        <c:crosses val="autoZero"/>
        <c:auto val="1"/>
        <c:lblAlgn val="ctr"/>
        <c:lblOffset val="100"/>
        <c:noMultiLvlLbl val="0"/>
      </c:catAx>
      <c:valAx>
        <c:axId val="100002"/>
        <c:scaling>
          <c:max val="0.8"/>
          <c:min val="0.0"/>
        </c:scaling>
        <c:delete val="0"/>
        <c:axPos val="l"/>
        <c:majorGridlines>
          <c:spPr>
            <a:ln w="6350">
              <a:solidFill>
                <a:srgbClr val="5A4F7C"/>
              </a:solidFill>
            </a:ln>
          </c:spPr>
        </c:majorGridlines>
        <c:numFmt formatCode="0.0" sourceLinked="0"/>
        <c:majorTickMark val="none"/>
        <c:minorTickMark val="none"/>
        <c:tickLblPos val="nextTo"/>
        <c:spPr>
          <a:ln>
            <a:noFill/>
          </a:ln>
        </c:spPr>
        <c:txPr>
          <a:bodyPr/>
          <a:lstStyle/>
          <a:p>
            <a:pPr>
              <a:defRPr sz="1000">
                <a:solidFill>
                  <a:srgbClr val="ADA3C8"/>
                </a:solidFill>
              </a:defRPr>
            </a:pPr>
          </a:p>
        </c:txPr>
        <c:crossAx val="100001"/>
        <c:crosses val="autoZero"/>
        <c:majorUnit val="0.2"/>
      </c:valAx>
      <c:spPr>
        <a:noFill/>
        <a:ln>
          <a:noFill/>
        </a:ln>
      </c:spPr>
    </c:plotArea>
    <c:legend>
      <c:legendPos val="b"/>
      <c:overlay val="0"/>
      <c:txPr>
        <a:bodyPr/>
        <a:lstStyle/>
        <a:p>
          <a:pPr>
            <a:defRPr sz="1050">
              <a:solidFill>
                <a:srgbClr val="DDD6EE"/>
              </a:solidFill>
            </a:defRPr>
          </a:pPr>
        </a:p>
      </c:txPr>
    </c:legend>
    <c:dispBlanksAs val="gap"/>
  </c:chart>
  <c:spPr>
    <a:noFill/>
    <a:ln>
      <a:noFill/>
    </a:ln>
  </c:spPr>
  <c:txPr>
    <a:bodyPr/>
    <a:lstStyle/>
    <a:p>
      <a:pPr>
        <a:defRPr sz="1100">
          <a:solidFill>
            <a:srgbClr val="DDD6EE"/>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Exhaustividad</c:v>
                </c:pt>
              </c:strCache>
            </c:strRef>
          </c:tx>
          <c:spPr>
            <a:ln>
              <a:noFill/>
            </a:ln>
          </c:spPr>
          <c:dPt>
            <c:idx val="0"/>
            <c:spPr>
              <a:solidFill>
                <a:srgbClr val="B57BFF"/>
              </a:solidFill>
              <a:ln>
                <a:noFill/>
              </a:ln>
            </c:spPr>
          </c:dPt>
          <c:dPt>
            <c:idx val="1"/>
            <c:spPr>
              <a:solidFill>
                <a:srgbClr val="B57BFF"/>
              </a:solidFill>
              <a:ln>
                <a:noFill/>
              </a:ln>
            </c:spPr>
          </c:dPt>
          <c:dPt>
            <c:idx val="2"/>
            <c:spPr>
              <a:solidFill>
                <a:srgbClr val="B57BFF"/>
              </a:solidFill>
              <a:ln>
                <a:noFill/>
              </a:ln>
            </c:spPr>
          </c:dPt>
          <c:dPt>
            <c:idx val="3"/>
            <c:spPr>
              <a:solidFill>
                <a:srgbClr val="F87171"/>
              </a:solidFill>
              <a:ln>
                <a:noFill/>
              </a:ln>
            </c:spPr>
          </c:dPt>
          <c:dPt>
            <c:idx val="4"/>
            <c:spPr>
              <a:solidFill>
                <a:srgbClr val="F87171"/>
              </a:solidFill>
              <a:ln>
                <a:noFill/>
              </a:ln>
            </c:spPr>
          </c:dPt>
          <c:dLbls>
            <c:dLbl>
              <c:idx val="0"/>
              <c:tx>
                <c:rich>
                  <a:bodyPr/>
                  <a:lstStyle/>
                  <a:p>
                    <a:r>
                      <a:rPr sz="1100" b="1">
                        <a:solidFill>
                          <a:srgbClr val="FFFFFF"/>
                        </a:solidFill>
                      </a:rPr>
                      <a:t>.548 ± .059</a:t>
                    </a:r>
                  </a:p>
                </c:rich>
              </c:tx>
              <c:dLblPos val="outEnd"/>
              <c:showLegendKey val="0"/>
              <c:showVal val="1"/>
              <c:showCatName val="0"/>
              <c:showSerName val="0"/>
              <c:showPercent val="0"/>
              <c:showBubbleSize val="0"/>
            </c:dLbl>
            <c:dLbl>
              <c:idx val="1"/>
              <c:tx>
                <c:rich>
                  <a:bodyPr/>
                  <a:lstStyle/>
                  <a:p>
                    <a:r>
                      <a:rPr sz="1100" b="1">
                        <a:solidFill>
                          <a:srgbClr val="FFFFFF"/>
                        </a:solidFill>
                      </a:rPr>
                      <a:t>.474 ± .024</a:t>
                    </a:r>
                  </a:p>
                </c:rich>
              </c:tx>
              <c:dLblPos val="outEnd"/>
              <c:showLegendKey val="0"/>
              <c:showVal val="1"/>
              <c:showCatName val="0"/>
              <c:showSerName val="0"/>
              <c:showPercent val="0"/>
              <c:showBubbleSize val="0"/>
            </c:dLbl>
            <c:dLbl>
              <c:idx val="2"/>
              <c:tx>
                <c:rich>
                  <a:bodyPr/>
                  <a:lstStyle/>
                  <a:p>
                    <a:r>
                      <a:rPr sz="1100" b="1">
                        <a:solidFill>
                          <a:srgbClr val="FFFFFF"/>
                        </a:solidFill>
                      </a:rPr>
                      <a:t>.386 ± .012</a:t>
                    </a:r>
                  </a:p>
                </c:rich>
              </c:tx>
              <c:dLblPos val="outEnd"/>
              <c:showLegendKey val="0"/>
              <c:showVal val="1"/>
              <c:showCatName val="0"/>
              <c:showSerName val="0"/>
              <c:showPercent val="0"/>
              <c:showBubbleSize val="0"/>
            </c:dLbl>
            <c:dLbl>
              <c:idx val="3"/>
              <c:tx>
                <c:rich>
                  <a:bodyPr/>
                  <a:lstStyle/>
                  <a:p>
                    <a:r>
                      <a:rPr sz="1100" b="1">
                        <a:solidFill>
                          <a:srgbClr val="F87171"/>
                        </a:solidFill>
                      </a:rPr>
                      <a:t>.093 ± .051</a:t>
                    </a:r>
                  </a:p>
                </c:rich>
              </c:tx>
              <c:dLblPos val="outEnd"/>
              <c:showLegendKey val="0"/>
              <c:showVal val="1"/>
              <c:showCatName val="0"/>
              <c:showSerName val="0"/>
              <c:showPercent val="0"/>
              <c:showBubbleSize val="0"/>
            </c:dLbl>
            <c:dLbl>
              <c:idx val="4"/>
              <c:tx>
                <c:rich>
                  <a:bodyPr/>
                  <a:lstStyle/>
                  <a:p>
                    <a:r>
                      <a:rPr sz="1100" b="1">
                        <a:solidFill>
                          <a:srgbClr val="F87171"/>
                        </a:solidFill>
                      </a:rPr>
                      <a:t>.061 ± .034</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Constructora improductiva</c:v>
                </c:pt>
                <c:pt idx="1">
                  <c:v>Obra fantasma</c:v>
                </c:pt>
                <c:pt idx="2">
                  <c:v>Obra detenida</c:v>
                </c:pt>
                <c:pt idx="3">
                  <c:v>Sobreprecio</c:v>
                </c:pt>
                <c:pt idx="4">
                  <c:v>Pagos adelantados a la ejecución</c:v>
                </c:pt>
              </c:strCache>
            </c:strRef>
          </c:cat>
          <c:val>
            <c:numRef>
              <c:f>Sheet1!$B$2:$B$6</c:f>
              <c:numCache>
                <c:formatCode>General</c:formatCode>
                <c:ptCount val="5"/>
                <c:pt idx="0">
                  <c:v>0.548</c:v>
                </c:pt>
                <c:pt idx="1">
                  <c:v>0.474</c:v>
                </c:pt>
                <c:pt idx="2">
                  <c:v>0.386</c:v>
                </c:pt>
                <c:pt idx="3">
                  <c:v>0.093</c:v>
                </c:pt>
                <c:pt idx="4">
                  <c:v>0.061</c:v>
                </c:pt>
              </c:numCache>
            </c:numRef>
          </c:val>
        </c:ser>
        <c:gapWidth val="45"/>
        <c:axId val="100001"/>
        <c:axId val="100002"/>
      </c:barChart>
      <c:catAx>
        <c:axId val="100001"/>
        <c:scaling>
          <c:orientation val="maxMin"/>
        </c:scaling>
        <c:delete val="0"/>
        <c:axPos val="l"/>
        <c:majorTickMark val="none"/>
        <c:minorTickMark val="none"/>
        <c:tickLblPos val="nextTo"/>
        <c:spPr>
          <a:ln>
            <a:solidFill>
              <a:srgbClr val="7A6E9E"/>
            </a:solidFill>
          </a:ln>
        </c:spPr>
        <c:txPr>
          <a:bodyPr/>
          <a:lstStyle/>
          <a:p>
            <a:pPr>
              <a:defRPr sz="1250">
                <a:solidFill>
                  <a:srgbClr val="FFFFFF"/>
                </a:solidFill>
              </a:defRPr>
            </a:pPr>
          </a:p>
        </c:txPr>
        <c:crossAx val="100002"/>
        <c:crosses val="autoZero"/>
        <c:auto val="1"/>
        <c:lblAlgn val="ctr"/>
        <c:lblOffset val="100"/>
        <c:noMultiLvlLbl val="0"/>
      </c:catAx>
      <c:valAx>
        <c:axId val="100002"/>
        <c:scaling>
          <c:max val="0.8"/>
          <c:min val="0.0"/>
        </c:scaling>
        <c:delete val="0"/>
        <c:axPos val="b"/>
        <c:majorGridlines>
          <c:spPr>
            <a:ln w="6350">
              <a:solidFill>
                <a:srgbClr val="5A4F7C"/>
              </a:solidFill>
            </a:ln>
          </c:spPr>
        </c:majorGridlines>
        <c:numFmt formatCode="0.0" sourceLinked="0"/>
        <c:majorTickMark val="none"/>
        <c:minorTickMark val="none"/>
        <c:tickLblPos val="nextTo"/>
        <c:spPr>
          <a:ln>
            <a:noFill/>
          </a:ln>
        </c:spPr>
        <c:txPr>
          <a:bodyPr/>
          <a:lstStyle/>
          <a:p>
            <a:pPr>
              <a:defRPr sz="1000">
                <a:solidFill>
                  <a:srgbClr val="ADA3C8"/>
                </a:solidFill>
              </a:defRPr>
            </a:pPr>
          </a:p>
        </c:txPr>
        <c:crossAx val="100001"/>
        <c:crosses val="max"/>
        <c:majorUnit val="0.2"/>
      </c:valAx>
      <c:spPr>
        <a:noFill/>
        <a:ln>
          <a:noFill/>
        </a:ln>
      </c:spPr>
    </c:plotArea>
    <c:dispBlanksAs val="gap"/>
  </c:chart>
  <c:spPr>
    <a:noFill/>
    <a:ln>
      <a:noFill/>
    </a:ln>
  </c:spPr>
  <c:txPr>
    <a:bodyPr/>
    <a:lstStyle/>
    <a:p>
      <a:pPr>
        <a:defRPr sz="1100">
          <a:solidFill>
            <a:srgbClr val="DDD6EE"/>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ms</c:v>
                </c:pt>
              </c:strCache>
            </c:strRef>
          </c:tx>
          <c:dPt>
            <c:idx val="0"/>
            <c:spPr>
              <a:solidFill>
                <a:srgbClr val="B57BFF"/>
              </a:solidFill>
              <a:ln>
                <a:noFill/>
              </a:ln>
            </c:spPr>
          </c:dPt>
          <c:dPt>
            <c:idx val="1"/>
            <c:spPr>
              <a:solidFill>
                <a:srgbClr val="B57BFF"/>
              </a:solidFill>
              <a:ln>
                <a:noFill/>
              </a:ln>
            </c:spPr>
          </c:dPt>
          <c:dPt>
            <c:idx val="2"/>
            <c:spPr>
              <a:solidFill>
                <a:srgbClr val="B57BFF"/>
              </a:solidFill>
              <a:ln>
                <a:noFill/>
              </a:ln>
            </c:spPr>
          </c:dPt>
          <c:dPt>
            <c:idx val="3"/>
            <c:spPr>
              <a:solidFill>
                <a:srgbClr val="FBBF24"/>
              </a:solidFill>
              <a:ln>
                <a:noFill/>
              </a:ln>
            </c:spPr>
          </c:dPt>
          <c:dPt>
            <c:idx val="4"/>
            <c:spPr>
              <a:solidFill>
                <a:srgbClr val="FBBF24"/>
              </a:solidFill>
              <a:ln>
                <a:noFill/>
              </a:ln>
            </c:spPr>
          </c:dPt>
          <c:dPt>
            <c:idx val="5"/>
            <c:spPr>
              <a:solidFill>
                <a:srgbClr val="B57BFF"/>
              </a:solidFill>
              <a:ln>
                <a:noFill/>
              </a:ln>
            </c:spPr>
          </c:dPt>
          <c:dPt>
            <c:idx val="6"/>
            <c:spPr>
              <a:solidFill>
                <a:srgbClr val="FBBF24"/>
              </a:solidFill>
              <a:ln>
                <a:noFill/>
              </a:ln>
            </c:spPr>
          </c:dPt>
          <c:dPt>
            <c:idx val="7"/>
            <c:spPr>
              <a:solidFill>
                <a:srgbClr val="FBBF24"/>
              </a:solidFill>
              <a:ln>
                <a:noFill/>
              </a:ln>
            </c:spPr>
          </c:dPt>
          <c:dLbls>
            <c:dLbl>
              <c:idx val="0"/>
              <c:tx>
                <c:rich>
                  <a:bodyPr/>
                  <a:lstStyle/>
                  <a:p>
                    <a:r>
                      <a:rPr sz="1050" b="1">
                        <a:solidFill>
                          <a:srgbClr val="FFFFFF"/>
                        </a:solidFill>
                      </a:rPr>
                      <a:t>0.1 ms</a:t>
                    </a:r>
                  </a:p>
                </c:rich>
              </c:tx>
              <c:dLblPos val="outEnd"/>
              <c:showLegendKey val="0"/>
              <c:showVal val="1"/>
              <c:showCatName val="0"/>
              <c:showSerName val="0"/>
              <c:showPercent val="0"/>
              <c:showBubbleSize val="0"/>
            </c:dLbl>
            <c:dLbl>
              <c:idx val="1"/>
              <c:tx>
                <c:rich>
                  <a:bodyPr/>
                  <a:lstStyle/>
                  <a:p>
                    <a:r>
                      <a:rPr sz="1050" b="1">
                        <a:solidFill>
                          <a:srgbClr val="FFFFFF"/>
                        </a:solidFill>
                      </a:rPr>
                      <a:t>2 ms</a:t>
                    </a:r>
                  </a:p>
                </c:rich>
              </c:tx>
              <c:dLblPos val="outEnd"/>
              <c:showLegendKey val="0"/>
              <c:showVal val="1"/>
              <c:showCatName val="0"/>
              <c:showSerName val="0"/>
              <c:showPercent val="0"/>
              <c:showBubbleSize val="0"/>
            </c:dLbl>
            <c:dLbl>
              <c:idx val="2"/>
              <c:tx>
                <c:rich>
                  <a:bodyPr/>
                  <a:lstStyle/>
                  <a:p>
                    <a:r>
                      <a:rPr sz="1050" b="1">
                        <a:solidFill>
                          <a:srgbClr val="FFFFFF"/>
                        </a:solidFill>
                      </a:rPr>
                      <a:t>5.2 ms</a:t>
                    </a:r>
                  </a:p>
                </c:rich>
              </c:tx>
              <c:dLblPos val="outEnd"/>
              <c:showLegendKey val="0"/>
              <c:showVal val="1"/>
              <c:showCatName val="0"/>
              <c:showSerName val="0"/>
              <c:showPercent val="0"/>
              <c:showBubbleSize val="0"/>
            </c:dLbl>
            <c:dLbl>
              <c:idx val="3"/>
              <c:tx>
                <c:rich>
                  <a:bodyPr/>
                  <a:lstStyle/>
                  <a:p>
                    <a:r>
                      <a:rPr sz="1050" b="1">
                        <a:solidFill>
                          <a:srgbClr val="FFFFFF"/>
                        </a:solidFill>
                      </a:rPr>
                      <a:t>10.9 ms</a:t>
                    </a:r>
                  </a:p>
                </c:rich>
              </c:tx>
              <c:dLblPos val="outEnd"/>
              <c:showLegendKey val="0"/>
              <c:showVal val="1"/>
              <c:showCatName val="0"/>
              <c:showSerName val="0"/>
              <c:showPercent val="0"/>
              <c:showBubbleSize val="0"/>
            </c:dLbl>
            <c:dLbl>
              <c:idx val="4"/>
              <c:tx>
                <c:rich>
                  <a:bodyPr/>
                  <a:lstStyle/>
                  <a:p>
                    <a:r>
                      <a:rPr sz="1050" b="1">
                        <a:solidFill>
                          <a:srgbClr val="FFFFFF"/>
                        </a:solidFill>
                      </a:rPr>
                      <a:t>18.3 ms</a:t>
                    </a:r>
                  </a:p>
                </c:rich>
              </c:tx>
              <c:dLblPos val="outEnd"/>
              <c:showLegendKey val="0"/>
              <c:showVal val="1"/>
              <c:showCatName val="0"/>
              <c:showSerName val="0"/>
              <c:showPercent val="0"/>
              <c:showBubbleSize val="0"/>
            </c:dLbl>
            <c:dLbl>
              <c:idx val="5"/>
              <c:tx>
                <c:rich>
                  <a:bodyPr/>
                  <a:lstStyle/>
                  <a:p>
                    <a:r>
                      <a:rPr sz="1050" b="1">
                        <a:solidFill>
                          <a:srgbClr val="FFFFFF"/>
                        </a:solidFill>
                      </a:rPr>
                      <a:t>23.8 ms</a:t>
                    </a:r>
                  </a:p>
                </c:rich>
              </c:tx>
              <c:dLblPos val="outEnd"/>
              <c:showLegendKey val="0"/>
              <c:showVal val="1"/>
              <c:showCatName val="0"/>
              <c:showSerName val="0"/>
              <c:showPercent val="0"/>
              <c:showBubbleSize val="0"/>
            </c:dLbl>
            <c:dLbl>
              <c:idx val="6"/>
              <c:tx>
                <c:rich>
                  <a:bodyPr/>
                  <a:lstStyle/>
                  <a:p>
                    <a:r>
                      <a:rPr sz="1050" b="1">
                        <a:solidFill>
                          <a:srgbClr val="FFFFFF"/>
                        </a:solidFill>
                      </a:rPr>
                      <a:t>544 ms</a:t>
                    </a:r>
                  </a:p>
                </c:rich>
              </c:tx>
              <c:dLblPos val="outEnd"/>
              <c:showLegendKey val="0"/>
              <c:showVal val="1"/>
              <c:showCatName val="0"/>
              <c:showSerName val="0"/>
              <c:showPercent val="0"/>
              <c:showBubbleSize val="0"/>
            </c:dLbl>
            <c:dLbl>
              <c:idx val="7"/>
              <c:tx>
                <c:rich>
                  <a:bodyPr/>
                  <a:lstStyle/>
                  <a:p>
                    <a:r>
                      <a:rPr sz="1050" b="1">
                        <a:solidFill>
                          <a:srgbClr val="FFFFFF"/>
                        </a:solidFill>
                      </a:rPr>
                      <a:t>566 ms</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Sheet1!$A$2:$A$9</c:f>
              <c:strCache>
                <c:ptCount val="8"/>
                <c:pt idx="0">
                  <c:v>Insert que dispara el trigger SCD 2</c:v>
                </c:pt>
                <c:pt idx="1">
                  <c:v>v_obras_retraso</c:v>
                </c:pt>
                <c:pt idx="2">
                  <c:v>v_ejercicio_presupuestario</c:v>
                </c:pt>
                <c:pt idx="3">
                  <c:v>/api/public/regiones</c:v>
                </c:pt>
                <c:pt idx="4">
                  <c:v>/api/analitica/anomalias</c:v>
                </c:pt>
                <c:pt idx="5">
                  <c:v>v_anomalias_deteccion</c:v>
                </c:pt>
                <c:pt idx="6">
                  <c:v>/api/public/resumen</c:v>
                </c:pt>
                <c:pt idx="7">
                  <c:v>/api/public/obras (753 kB)</c:v>
                </c:pt>
              </c:strCache>
            </c:strRef>
          </c:cat>
          <c:val>
            <c:numRef>
              <c:f>Sheet1!$B$2:$B$9</c:f>
              <c:numCache>
                <c:formatCode>General</c:formatCode>
                <c:ptCount val="8"/>
                <c:pt idx="0">
                  <c:v>0.1</c:v>
                </c:pt>
                <c:pt idx="1">
                  <c:v>2.0</c:v>
                </c:pt>
                <c:pt idx="2">
                  <c:v>5.2</c:v>
                </c:pt>
                <c:pt idx="3">
                  <c:v>10.9</c:v>
                </c:pt>
                <c:pt idx="4">
                  <c:v>18.3</c:v>
                </c:pt>
                <c:pt idx="5">
                  <c:v>23.8</c:v>
                </c:pt>
                <c:pt idx="6">
                  <c:v>544</c:v>
                </c:pt>
                <c:pt idx="7">
                  <c:v>566</c:v>
                </c:pt>
              </c:numCache>
            </c:numRef>
          </c:val>
        </c:ser>
        <c:gapWidth val="40"/>
        <c:axId val="100001"/>
        <c:axId val="100002"/>
      </c:barChart>
      <c:catAx>
        <c:axId val="100001"/>
        <c:scaling>
          <c:orientation val="maxMin"/>
        </c:scaling>
        <c:delete val="0"/>
        <c:axPos val="l"/>
        <c:majorTickMark val="none"/>
        <c:minorTickMark val="none"/>
        <c:tickLblPos val="nextTo"/>
        <c:spPr>
          <a:ln>
            <a:solidFill>
              <a:srgbClr val="7A6E9E"/>
            </a:solidFill>
          </a:ln>
        </c:spPr>
        <c:txPr>
          <a:bodyPr/>
          <a:lstStyle/>
          <a:p>
            <a:pPr>
              <a:defRPr sz="1050">
                <a:solidFill>
                  <a:srgbClr val="FFFFFF"/>
                </a:solidFill>
              </a:defRPr>
            </a:pPr>
          </a:p>
        </c:txPr>
        <c:crossAx val="100002"/>
        <c:crosses val="min"/>
        <c:auto val="1"/>
        <c:lblAlgn val="ctr"/>
        <c:lblOffset val="100"/>
        <c:noMultiLvlLbl val="0"/>
      </c:catAx>
      <c:valAx>
        <c:axId val="100002"/>
        <c:scaling>
          <c:logBase val="10"/>
          <c:max val="10000.0"/>
          <c:min val="0.01"/>
        </c:scaling>
        <c:delete val="0"/>
        <c:axPos val="b"/>
        <c:majorGridlines>
          <c:spPr>
            <a:ln w="6350">
              <a:solidFill>
                <a:srgbClr val="5A4F7C"/>
              </a:solidFill>
            </a:ln>
          </c:spPr>
        </c:majorGridlines>
        <c:numFmt formatCode="General" sourceLinked="0"/>
        <c:majorTickMark val="none"/>
        <c:minorTickMark val="none"/>
        <c:tickLblPos val="nextTo"/>
        <c:spPr>
          <a:ln>
            <a:noFill/>
          </a:ln>
        </c:spPr>
        <c:txPr>
          <a:bodyPr/>
          <a:lstStyle/>
          <a:p>
            <a:pPr>
              <a:defRPr sz="1000">
                <a:solidFill>
                  <a:srgbClr val="ADA3C8"/>
                </a:solidFill>
              </a:defRPr>
            </a:pPr>
          </a:p>
        </c:txPr>
        <c:crossAx val="100001"/>
        <c:crosses val="max"/>
      </c:valAx>
      <c:spPr>
        <a:noFill/>
        <a:ln>
          <a:noFill/>
        </a:ln>
      </c:spPr>
    </c:plotArea>
    <c:dispBlanksAs val="gap"/>
  </c:chart>
  <c:spPr>
    <a:noFill/>
    <a:ln>
      <a:noFill/>
    </a:ln>
  </c:spPr>
  <c:txPr>
    <a:bodyPr/>
    <a:lstStyle/>
    <a:p>
      <a:pPr>
        <a:defRPr sz="1100">
          <a:solidFill>
            <a:srgbClr val="DDD6EE"/>
          </a:solidFill>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BC36F1F-2033-47B5-9DDB-5B60266EA76D}" type="datetimeFigureOut">
              <a:rPr lang="es-MX" smtClean="0"/>
              <a:t>20/08/2026</a:t>
            </a:fld>
            <a:endParaRPr lang="es-MX"/>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A5E7A3-30F3-4E37-9EF6-783CE7CDBF05}" type="slidenum">
              <a:rPr lang="es-MX" smtClean="0"/>
              <a:t>‹Nº›</a:t>
            </a:fld>
            <a:endParaRPr lang="es-MX"/>
          </a:p>
        </p:txBody>
      </p:sp>
    </p:spTree>
    <p:extLst>
      <p:ext uri="{BB962C8B-B14F-4D97-AF65-F5344CB8AC3E}">
        <p14:creationId xmlns:p14="http://schemas.microsoft.com/office/powerpoint/2010/main" val="4491423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Buenas tardes. Presento el trabajo conjunto con Uriel González Casiano y Marco Tulio Maldonado Mejía, de la ESCOM del Instituto Politécnico Nacional: un Data Warehouse dimensional para el monitoreo geoespacial de obras públicas municipales — y, a propósito, sólo una ruta de evolución hacia un lakehouse, no un lakehouse.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El caso es Temascaltepec, Estado de México: unos 65 mil habitantes repartidos en 55 comunidades de zona serrana. La dirección de obras maneja constructoras, presupuestos, supervisores de campo, fotografías de avance y actas de entrega — normalmente en hojas de cálculo, carpetas compartidas o sistemas transaccionales aislados. Las fotos y los PDF quedan desligados del expediente, y cuando cambia un presupuesto el valor anterior simplemente se sobrescribe. Resultado: no hay análisis histórico, no hay detección temprana de retrasos, y la ciudadanía, en el mejor caso, recibe un portal estático de descargas.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Tres preguntas guían el trabajo. RQ1: ¿un almacén dimensional sobre servicios gestionados de bajo costo puede dar historia auditable a esta escala, sin plataformas lakehouse empresariales? RQ2: ¿qué decisiones de diseño — grano, tipo de dimensión lentamente cambiante por entidad, estrategia de vistas — permiten que la detección de retrasos, las alertas presupuestales y la participación compartan un solo esquema? RQ3: ¿qué tan buena es una regla de umbral sobre el almacén para recuperar anomalías, frente a una línea base no supervisada, y dónde falla? Las tres contribuciones corresponden a ellas: una arquitectura de referencia, una interfaz geoespacial de exploración y una evaluación no circular.</a:t>
            </a:r>
          </a:p>
          <a:p>
            <a:r>
              <a:t>RQ1
¿Puede un DW dimensional sobre servicios gestionados de bajo costo (PostgreSQL/Supabase + almacenamiento compatible con S3) dar trazabilidad histórica auditable a escala de un municipio rural, sin plataformas lakehouse empresariales?
→ Arquitectura · almacén · costo
RQ2
¿Qué decisiones de diseño — grano de los hechos, tipo de SCD por entidad, materialización de vistas — permiten que detección de retrasos, alertas presupuestales y participación ciudadana compartan un solo esquema analítico?
→ Grano · SCD · vistas
RQ3
¿Qué tan bien recupera una regla de umbral sobre las vistas del almacén las anomalías de ejecución, frente a una línea base no supervisada — y qué clases de anomalía no recupera?
→ Evaluación de la detección
CONTRIBUCIONES
1
Arquitectura de referencia: almacén con SCD + evidencia en S3 + API REST
2
Mapa geoespacial como interfaz de exploración tipo grafo
3
Evaluación no circular contra causas latentes, con análisis de fallas por clase</a:t>
            </a:r>
          </a:p>
          <a:p>
            <a:r>
              <a:t>Fuente / Source: paper/main_camera_ready.tex and paper/main_camera_ready.pdf.</a:t>
            </a:r>
          </a:p>
          <a:p>
            <a:r>
              <a:t>Conceptual illustrations generated with the built-in OpenAI image generation tool. They do not represent real municipal records or measured results.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¿Cómo se relaciona con el trabajo en grafos de conocimiento, que es el tema de este congreso? Los grafos geoespaciales como KnowWhereGraph o el grafo municipal de Zaragoza ofrecen una capa semántica formal que nosotros no tenemos. OC4IDS define qué publicar sobre infraestructura, no cómo un municipio pequeño lo produce y lo historiza. Los lakehouse geoespaciales ofrecen una escala mucho mayor, con costo empresarial. Nuestra posición es la intersección de dos cosas: auditabilidad temporal — el registro tal como era en una fecha — y evidencia binaria vinculada al almacén analítico, a escala municipal. Es una posición, no una afirmación de que nadie más lo hace: no hicimos una revisión sistemática.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La arquitectura tiene cuatro capas. Los actores usan páginas web específicas por rol. Una API REST en Flask — nueve blueprints, 56 rutas, once de ellas públicas y de solo lectura — envía los datos estructurados al esquema operacional y los archivos binarios a Cloudflare R2. Triggers de base de datos, no un proceso ETL externo, alimentan el almacén: diez dimensiones, dos tablas de hechos, seis vistas. La capa de presentación son las consultas OLAP, el módulo de detección y el visor geoespacial, que lee los endpoints públicos y las URL de la evidencia. Flechas sólidas: datos estructurados; punteadas: evidencia binaria.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El núcleo es un esquema en estrella. Dos tablas de hechos: eventos de auditoría, con grano de una acción inmutable — 17 tipos de evento, particionada por año — y un snapshot mensual de cada obra. Declarar el grano importa: como la tabla mensual es un snapshot, agregar el costo de varios meses exige tomar el último snapshot, no sumar; las vistas encapsulan esa regla. Diez dimensiones: las cinco de la izquierda son SCD tipo 2 — obra, región, constructora, personal y presupuesto — y guardan la historia. A la derecha, tiempo y tipo de evento son catálogos fijos; fuente, poblador y propuesta son tipo 1. Uso aquí los nombres reales de la implementación, en español.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¿Por qué tipo 2? Porque responde la pregunta del auditor: ¿cómo era este registro el día en que se modificó el presupuesto? Cuando cambia un presupuesto, un trigger cierra la versión vigente y abre una nueva; así, un pago autorizado en mayo se une a la versión que estaba vigente en mayo. El mismo mecanismo mantiene el avance previo atribuido a la constructora original tras una reasignación, y evita que una comunidad fusionada reescriba la historia de inversión. Pobladores y propuestas son tipo 1 a propósito: conservar nombres y CURP anteriores sería un pasivo de datos personales sin retorno analítico. Un script verifica el esquema contra estos tipos declarados. Los valores de la tabla son ilustrativos.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No hay proceso ETL. Doce triggers hacen el trabajo: ocho mantienen sincronizadas las dimensiones, aplicando SCD 2 donde corresponde, y cuatro emiten filas de auditoría cuando se registra un informe de avance, un costo, una imagen o un voto. Encima hay seis vistas estándar, no materializadas. Con unas diez mil filas de hechos corren en milisegundos; las alertas deben servir en el momento en que un supervisor sube un informe; y no hay una tarea de refresco que pueda fallar. Si esto escala a varios municipios, las vistas de agregación pesada pueden materializarse y refrescarse de forma concurrente tras cada carga nocturna, dejando en vivo las de alerta.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La evidencia vive en Cloudflare R2, compatible con S3 y sin costo de egreso. Las claves siguen una convención de particionado tipo Hive por obra y periodo, y los metadatos de cada objeto se guardan en el almacén, así que el vínculo va en ambos sentidos. Las imágenes de la izquierda son la galería del artefacto para una obra — ilustraciones generadas con IA, cada una marcada ILUSTRATIVO en el propio archivo; no son evidencia municipal. Una advertencia honesta: la carga es compensada, no atómica. Si la base de datos falla, la API borra lo que acaba de subir, en mejor esfuerzo; una caída entre ambos pasos todavía puede dejar un objeto huérfano.</a:t>
            </a:r>
          </a:p>
          <a:p>
            <a:r>
              <a:t>ANTES
DESPUÉS
Obra OBR-001 en la galería del artefacto — ilustraciones generadas con IA, cada una marcada ILUSTRATIVO; no son evidencia municipal
Claves de objeto con particionado tipo Hive
works/
{work_id}
/reports/
{year}-{month}
/
{ts}_{slug}
.{ext}
exploración por obra y por periodo, directamente en el bucket
…y una fila de metadatos por objeto en el almacén:
URL pública
nombre original
tipo MIME
tamaño (bytes)
fecha de carga
1
El supervisor adjunta fotos / PDF a un informe de avance
2
La API calcula la clave del objeto
3
Sube con el SDK de S3 a Cloudflare R2 (sin costo de egreso)
4
Registra los metadatos en el almacén y devuelve la URL pública
Compensada, no atómica. 
Si falla la base de datos, la API borra lo recién subido (mejor esfuerzo); una caída intermedia puede dejar un huérfano — aún sin barrido de conciliación.</a:t>
            </a:r>
          </a:p>
          <a:p>
            <a:r>
              <a:t>Fuente / Source: paper/main_camera_ready.tex and paper/main_camera_ready.pdf.</a:t>
            </a:r>
          </a:p>
          <a:p>
            <a:r>
              <a:t>Captura del sitio publicado / Published site screenshot, 2026-09-17: https://gabrielhuav.github.io/PublicMunicipalWorks_DWH/director/director.html . Synthetic demonstration. Gallery work photographs are AI-generated illustrations, not municipal evidence.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El visor geoespacial es la Figura 3 del artículo. Los marcadores tienen color según el estado — verde completada, ámbar en progreso, rojo retrasada — y están en las coordenadas reales de cada comunidad, tomadas de OpenStreetMap, con un pequeño desplazamiento determinista. Al seleccionar una obra se abre su ficha técnica: expediente, presupuesto, constructora, fechas, avance físico e imágenes del almacén de objetos — aquí, un aula retrasada y un muro de contención terminado. La capa de análisis muestra los días de desfase y la brecha entre avance físico y financiero. Es un grafo implícito que sale de las llaves foráneas del modelo dimensional — no un grafo de conocimiento OWL; publicar el vocabulario es trabajo futuro.</a:t>
            </a:r>
          </a:p>
          <a:p>
            <a:r>
              <a:t>Fig. 3 del artículo · mapa base © colaboradores de OpenStreetMap, © CARTO · Leaflet
● 
● 
● 
Marcadores por estado: completada · en progreso · retrasada
Ficha técnica: 
expediente, presupuesto, constructora, fechas, avance físico, imágenes de R2
Capa de análisis: 
días de desfase (C2) · avance físico vs financiero (C3)
Las relaciones salen de las llaves foráneas — no es un grafo OWL/RDF (trabajo futuro)</a:t>
            </a:r>
          </a:p>
          <a:p>
            <a:r>
              <a:t>Fuente / Source: paper/main_camera_ready.tex and paper/main_camera_ready.pdf.</a:t>
            </a:r>
          </a:p>
          <a:p>
            <a:r>
              <a:t>Source: Figure 3 and work-detail screenshots embedded in the original supplied deck. OpenStreetMap contributors, CARTO and Leaflet. Synthetic dataset.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Todo está en línea como sitio estático en GitHub Pages — estático a propósito, para que siga funcionando sin ningún backend. Conserva la interfaz del prototipo: los cuatro espacios por rol — director de obras, supervisor, proyectista y secretaría — más las propuestas ciudadanas y el mapa, en español e inglés, con dos temas en modo claro y oscuro. Las credenciales están impresas en la página, el formulario acepta cualquier valor, y todos los datos son sintéticos y viven sólo en la pestaña de cada visitante, así que nadie afecta a nadie. Escaneen el código para probarlo. La API en Flask y el almacén en PostgreSQL se distribuyen como un stack de Docker que se levanta desde el repositorio.</a:t>
            </a:r>
          </a:p>
          <a:p>
            <a:r>
              <a:t>Sin backend: datos sintéticos en tu pestaña
Español / inglés
2 temas × claro / oscuro
Acceso abierto: credenciales en la página
Director · obras registradas
Supervisor · libro de informes
Proyectista · presupuestos
Propuestas de la comunidad
Pruébalo ahora
gabrielhuav.github.io/PublicMunicipalWorks_DWH
API Flask + PostgreSQL: se levanta con Docker desde el repositorio</a:t>
            </a:r>
          </a:p>
          <a:p>
            <a:r>
              <a:t>Fuente / Source: paper/main_camera_ready.tex and paper/main_camera_ready.pdf.</a:t>
            </a:r>
          </a:p>
          <a:p>
            <a:r>
              <a:t>Captura del sitio publicado / Published site screenshot, 2026-09-17: https://gabrielhuav.github.io/PublicMunicipalWorks_DWH/director/director.html . Synthetic demonstration. Gallery work photographs are AI-generated illustrations, not municipal evidence.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Antes de los números, su alcance. Hay tres poblaciones sintéticas y nunca las mezclamos. El sitio publicado tiene seis obras en la pestaña del visitante y sólo sustenta afirmaciones sobre la interfaz y la auditoría Lighthouse. El almacén sembrado — 1,247 obras en 55 comunidades, 127.4 millones de pesos, casi nueve mil eventos de auditoría — sustenta las afirmaciones estructurales y las latencias. Y una simulación aparte para la detección, de unos 2,580 registros obra-periodo por semilla, sustenta la tabla de detección y nada más. Ningún número aquí es una medición sobre datos municipales reales.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El módulo de detección marca una obra-mes si se cumple cualquiera de tres criterios operativos: C1, un costo a más de tres desviaciones estándar de la media; C2, un retraso registrado de más de 120 días; C3, avance físico menor al 30 por ciento con avance financiero mayor al 80 — pagado, pero no construido. El puntaje toma el máximo de los tres términos y alerta por encima de 3; también lo usamos para las métricas de ranking. Lo importante: la regla está implementada como una vista SQL sobre la tabla de hechos mensual y se sirve en solo lectura, así que la regla que evaluamos es exactamente la que ejecuta un operador.</a:t>
            </a:r>
          </a:p>
          <a:p>
            <a:r>
              <a:t>C1  
Costo atípico
|b
i
 − μ
b
| / σ
b
 &gt; 3
presupuesto ejercido a más de 3 σ de la media
C2  
Retraso extremo
d
i
 &gt; 120 días
desfase registrado mayor a 120 días
C3  
Avance inconsistente
físico &lt; 30 % ∧ financiero &gt; 80 %
pagado, pero no construido
PUNTAJE DE ANOMALÍA
alerta si s
i
 &gt; 3
s
i
 = max( |b
i
 − μ
b
| / σ
b
 ,  (d
i
 / 120) · 𝟙[d
i
 &gt; 120] ,  3.5 · 𝟙[C3] )
v_anomalias_deteccion
vista SQL sobre el hecho mensual
/api/analitica/anomalias
servida en solo lectura
la regla evaluada = la regla que corre el operador</a:t>
            </a:r>
          </a:p>
          <a:p>
            <a:r>
              <a:t>Fuente / Source: paper/main_camera_ready.tex and paper/main_camera_ready.pdf.</a:t>
            </a:r>
          </a:p>
          <a:p>
            <a:r>
              <a:t>Conceptual illustrations generated with the built-in OpenAI image generation tool. They do not represent real municipal records or measured results.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La evaluación está diseñada para no ser circular. Las anomalías son estados latentes del proceso — un precio inflado, una constructora improductiva, pagos adelantados a la ejecución, una obra detenida, una obra fantasma — cuyas magnitudes observables se traslapan con el rango normal: algunas son indetectables y algunas obras sanas parecen irregulares. Diez semillas, cuatro prevalencias y una línea base Isolation Forest, evaluada también con el mismo presupuesto de alertas. La regla alcanza 0.46 de precisión con 0.35 de exhaustividad. No domina: Isolation Forest ordena mejor en ambas AUC. Su ventaja es el punto de operación: con el mismo número de alertas es más precisa y recupera más — que es lo que importa a una oficina que revisa un número fijo de expedientes por periodo. Ambas mejoran con la prevalencia.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Por causa, las fallas son diagnósticas. La regla recupera razonablemente constructoras improductivas, obras fantasma y obras detenidas, pero el sobreprecio sólo el 9 por ciento de las veces y los pagos adelantados a la ejecución el 6. La razón es estructural, no de ajuste. C1 compara un monto absoluto contra la media de su periodo, así que marca obras grandes, no obras con sobreprecio: una escuela inflada un 30 por ciento sigue siendo más barata que un camino honesto. Y ningún criterio mira la brecha entre avance físico y financiero salvo que el físico baje del 30 por ciento, así que una obra pagada por delante de su ejecución pasa si al final se termina. Es un filtro de fallas de calendario con una revisión estrecha de obra fantasma — no un detector de anomalías de costo.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Latencia, medida en el stack de referencia de Docker con la población sembrada. El almacén responde en milisegundos de un dígito: la vista de obras retrasadas en 2 ms, y un insert que dispara el trigger SCD 2 en 0.1 ms. El tiempo se va en la entrega: el endpoint público de obras serializa todo el portafolio, 753 kB, en 566 ms, y el rendimiento sostenido es de 3.4 peticiones por segundo con dos workers síncronos. Paginar y agregar workers lo resuelve sin tocar el diseño dimensional. A la derecha, el front end estático: 100 en accesibilidad en ambas páginas — alcanzado corrigiendo lo que reportó la auditoría. El rendimiento lo limita el peso de entrega heredado del prototipo.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Entonces, respondiendo las preguntas. RQ1: sí — y en esta versión medido, sobre servicios de bajo costo, con la capa analítica respondiendo en milisegundos; la salvedad es que es un stack de referencia con carga sintética, no una instalación en producción. RQ2: un hecho transaccional con grano de evento más un snapshot obra-mes, con SCD 2 sólo en las cinco entidades relevantes para auditoría, sirve los tres usos desde un solo esquema. RQ3: parcialmente — 0.46 de precisión con 0.35 de exhaustividad, superada en ranking por Isolation Forest, con fallas concentradas en las anomalías de costo, cuyo criterio está mal especificado. En suma: transparencia con capacidad analítica, evidencia georreferenciada y participación, sin costos de plataforma empresarial.</a:t>
            </a:r>
          </a:p>
          <a:p>
            <a:r>
              <a:t>RQ1
Sí — y medido
10 dimensiones (5 SCD 2), 2 hechos y 6 vistas sobre servicios gestionados de bajo costo; la capa analítica responde en milisegundos y el límite está en la entrega. Salvedad: un stack de referencia con carga sintética, no un municipio en producción.
RQ2
Un esquema sirve los tres usos
Un hecho transaccional con grano de evento más un snapshot obra × mes, con SCD 2 sólo en las cinco entidades relevantes para auditoría, sirve la detección de retrasos, las alertas presupuestales y la participación.
RQ3
Parcialmente
0.46 de precisión con 0.35 de exhaustividad contra causas latentes; Isolation Forest ordena mejor; las fallas se concentran en anomalías de costo, cuyo criterio está mal especificado.
Transparencia con capacidad analítica, evidencia georreferenciada y participación ciudadana — sin costos de plataforma empresarial.</a:t>
            </a:r>
          </a:p>
          <a:p>
            <a:r>
              <a:t>Fuente / Source: paper/main_camera_ready.tex and paper/main_camera_ready.pdf.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Limitaciones: no hay un despliegue dinámico hospedado, todos los datos son sintéticos, el almacén de objetos no se consulta analíticamente, el mapa lee el esquema operacional y el control de acceso es ligero. El camino principal es un lakehouse real: un formato de tabla abierto — Iceberg, o Parquet con metadatos transaccionales — sobre R2, consultado con un motor ligero como DuckDB o Trino, sin Spark; después, el esquema como vocabulario OWL y una proyección conforme a OC4IDS, para que los datos sean comparables con otras jurisdicciones. Además: visión por computadora en las fotos de avance, voto cuadrático, pronóstico de fechas de término, un criterio de costo por tipo de obra y validación en más municipios.</a:t>
            </a:r>
          </a:p>
          <a:p>
            <a:r>
              <a:t>HOY
DW dimensional + almacén de evidencia
almacén PostgreSQL · R2 guarda binarios, sin consultarlos
SIGUIENTE
Formato de tabla abierto sobre el lago
Iceberg o Parquet + metadatos transaccionales en R2, consultados con DuckDB / Trino — sin Spark
DESPUÉS
Datos enlazados y comparables
esquema como vocabulario OWL · proyección conforme a OC4IDS
Limitaciones
Sin despliegue dinámico hospedado: la permanencia es el artefacto estático
Todos los resultados analíticos provienen de datos sintéticos
El almacén de objetos guarda evidencia pero no se consulta analíticamente
Los endpoints públicos del mapa leen el esquema operacional, no las vistas
Control de acceso ligero: rol en encabezado, token de sesión sin expiración
El voto simple puede sub-representar a las minorías
También sigue
Visión por computadora en fotos de avance
Voto cuadrático para propuestas minoritarias
Pronóstico de fechas de término
Criterio de costo por tipo de obra, reevaluado
Más municipios, medición antes/después
Endurecer acceso: expiración, rotación</a:t>
            </a:r>
          </a:p>
          <a:p>
            <a:r>
              <a:t>Fuente / Source: paper/main_camera_ready.tex and paper/main_camera_ready.pdf.</a:t>
            </a:r>
          </a:p>
          <a:p>
            <a:r>
              <a:t>Conceptual illustrations generated with the built-in OpenAI image generation tool. They do not represent real municipal records or measured results.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 Gracias. La demo en línea y el repositorio — código, generadores de datos y scripts de evaluación — están en estos dos códigos QR. Con gusto respondo preguntas.</a:t>
            </a:r>
          </a:p>
          <a:p/>
          <a:p>
            <a:r>
              <a:t>Respuestas de respaldo:</a:t>
            </a:r>
          </a:p>
          <a:p>
            <a:r>
              <a:t>• ¿Por qué no un grafo de conocimiento? Las relaciones ya viven en las llaves foráneas; publicar el esquema como vocabulario OWL es el primer paso del trabajo futuro, y alinearlo con OC4IDS el segundo.</a:t>
            </a:r>
          </a:p>
          <a:p>
            <a:r>
              <a:t>• ¿Por qué no un lakehouse ya? A escala municipal (~10^4 filas de hechos) PostgreSQL responde en milisegundos; el formato de tabla abierto está planeado sin Spark (DuckDB/Trino sobre R2).</a:t>
            </a:r>
          </a:p>
          <a:p>
            <a:r>
              <a:t>• ¿Algún número es real? No — son tres poblaciones sintéticas; no se afirma nada sobre la obra pública real de Temascaltepec.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5609492" y="1117966"/>
            <a:ext cx="6453554" cy="2387600"/>
          </a:xfrm>
        </p:spPr>
        <p:txBody>
          <a:bodyPr anchor="b"/>
          <a:lstStyle>
            <a:lvl1pPr algn="ctr">
              <a:defRPr sz="6000"/>
            </a:lvl1pPr>
          </a:lstStyle>
          <a:p>
            <a:r>
              <a:rPr lang="es-ES" dirty="0" smtClean="0"/>
              <a:t>Haga clic para modificar el estilo de título del patrón</a:t>
            </a:r>
            <a:endParaRPr lang="es-MX" dirty="0"/>
          </a:p>
        </p:txBody>
      </p:sp>
      <p:sp>
        <p:nvSpPr>
          <p:cNvPr id="3" name="Subtítulo 2"/>
          <p:cNvSpPr>
            <a:spLocks noGrp="1"/>
          </p:cNvSpPr>
          <p:nvPr>
            <p:ph type="subTitle" idx="1"/>
          </p:nvPr>
        </p:nvSpPr>
        <p:spPr>
          <a:xfrm>
            <a:off x="5609492" y="4002088"/>
            <a:ext cx="6453554"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MX"/>
          </a:p>
        </p:txBody>
      </p:sp>
      <p:sp>
        <p:nvSpPr>
          <p:cNvPr id="4" name="Marcador de fecha 3"/>
          <p:cNvSpPr>
            <a:spLocks noGrp="1"/>
          </p:cNvSpPr>
          <p:nvPr>
            <p:ph type="dt" sz="half" idx="10"/>
          </p:nvPr>
        </p:nvSpPr>
        <p:spPr/>
        <p:txBody>
          <a:bodyPr/>
          <a:lstStyle/>
          <a:p>
            <a:fld id="{1918CC1C-BDE7-40A2-A17E-8A8E06553619}" type="datetimeFigureOut">
              <a:rPr lang="es-MX" smtClean="0"/>
              <a:t>20/08/2026</a:t>
            </a:fld>
            <a:endParaRPr lang="es-MX"/>
          </a:p>
        </p:txBody>
      </p:sp>
      <p:sp>
        <p:nvSpPr>
          <p:cNvPr id="6" name="Marcador de número de diapositiva 5"/>
          <p:cNvSpPr>
            <a:spLocks noGrp="1"/>
          </p:cNvSpPr>
          <p:nvPr>
            <p:ph type="sldNum" sz="quarter" idx="12"/>
          </p:nvPr>
        </p:nvSpPr>
        <p:spPr/>
        <p:txBody>
          <a:bodyPr/>
          <a:lstStyle/>
          <a:p>
            <a:fld id="{C9CC731C-4015-4722-B2F6-924864FCA402}" type="slidenum">
              <a:rPr lang="es-MX" smtClean="0"/>
              <a:t>‹Nº›</a:t>
            </a:fld>
            <a:endParaRPr lang="es-MX"/>
          </a:p>
        </p:txBody>
      </p:sp>
      <p:pic>
        <p:nvPicPr>
          <p:cNvPr id="8" name="Imagen 7"/>
          <p:cNvPicPr>
            <a:picLocks noChangeAspect="1"/>
          </p:cNvPicPr>
          <p:nvPr userDrawn="1"/>
        </p:nvPicPr>
        <p:blipFill rotWithShape="1">
          <a:blip r:embed="rId2">
            <a:extLst>
              <a:ext uri="{28A0092B-C50C-407E-A947-70E740481C1C}">
                <a14:useLocalDpi xmlns:a14="http://schemas.microsoft.com/office/drawing/2010/main" val="0"/>
              </a:ext>
            </a:extLst>
          </a:blip>
          <a:srcRect b="12564"/>
          <a:stretch/>
        </p:blipFill>
        <p:spPr>
          <a:xfrm>
            <a:off x="0" y="10746"/>
            <a:ext cx="5486400" cy="5996354"/>
          </a:xfrm>
          <a:prstGeom prst="rect">
            <a:avLst/>
          </a:prstGeom>
        </p:spPr>
      </p:pic>
    </p:spTree>
    <p:extLst>
      <p:ext uri="{BB962C8B-B14F-4D97-AF65-F5344CB8AC3E}">
        <p14:creationId xmlns:p14="http://schemas.microsoft.com/office/powerpoint/2010/main" val="2516979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1918CC1C-BDE7-40A2-A17E-8A8E06553619}" type="datetimeFigureOut">
              <a:rPr lang="es-MX" smtClean="0"/>
              <a:t>20/08/2026</a:t>
            </a:fld>
            <a:endParaRPr lang="es-MX"/>
          </a:p>
        </p:txBody>
      </p:sp>
      <p:sp>
        <p:nvSpPr>
          <p:cNvPr id="6" name="Marcador de número de diapositiva 5"/>
          <p:cNvSpPr>
            <a:spLocks noGrp="1"/>
          </p:cNvSpPr>
          <p:nvPr>
            <p:ph type="sldNum" sz="quarter" idx="12"/>
          </p:nvPr>
        </p:nvSpPr>
        <p:spPr/>
        <p:txBody>
          <a:bodyPr/>
          <a:lstStyle/>
          <a:p>
            <a:fld id="{C9CC731C-4015-4722-B2F6-924864FCA402}" type="slidenum">
              <a:rPr lang="es-MX" smtClean="0"/>
              <a:t>‹Nº›</a:t>
            </a:fld>
            <a:endParaRPr lang="es-MX"/>
          </a:p>
        </p:txBody>
      </p:sp>
    </p:spTree>
    <p:extLst>
      <p:ext uri="{BB962C8B-B14F-4D97-AF65-F5344CB8AC3E}">
        <p14:creationId xmlns:p14="http://schemas.microsoft.com/office/powerpoint/2010/main" val="1016169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1918CC1C-BDE7-40A2-A17E-8A8E06553619}" type="datetimeFigureOut">
              <a:rPr lang="es-MX" smtClean="0"/>
              <a:t>20/08/2026</a:t>
            </a:fld>
            <a:endParaRPr lang="es-MX"/>
          </a:p>
        </p:txBody>
      </p:sp>
      <p:sp>
        <p:nvSpPr>
          <p:cNvPr id="6" name="Marcador de número de diapositiva 5"/>
          <p:cNvSpPr>
            <a:spLocks noGrp="1"/>
          </p:cNvSpPr>
          <p:nvPr>
            <p:ph type="sldNum" sz="quarter" idx="12"/>
          </p:nvPr>
        </p:nvSpPr>
        <p:spPr/>
        <p:txBody>
          <a:bodyPr/>
          <a:lstStyle/>
          <a:p>
            <a:fld id="{C9CC731C-4015-4722-B2F6-924864FCA402}" type="slidenum">
              <a:rPr lang="es-MX" smtClean="0"/>
              <a:t>‹Nº›</a:t>
            </a:fld>
            <a:endParaRPr lang="es-MX"/>
          </a:p>
        </p:txBody>
      </p:sp>
    </p:spTree>
    <p:extLst>
      <p:ext uri="{BB962C8B-B14F-4D97-AF65-F5344CB8AC3E}">
        <p14:creationId xmlns:p14="http://schemas.microsoft.com/office/powerpoint/2010/main" val="800772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fecha 4"/>
          <p:cNvSpPr>
            <a:spLocks noGrp="1"/>
          </p:cNvSpPr>
          <p:nvPr>
            <p:ph type="dt" sz="half" idx="10"/>
          </p:nvPr>
        </p:nvSpPr>
        <p:spPr/>
        <p:txBody>
          <a:bodyPr/>
          <a:lstStyle/>
          <a:p>
            <a:fld id="{1918CC1C-BDE7-40A2-A17E-8A8E06553619}" type="datetimeFigureOut">
              <a:rPr lang="es-MX" smtClean="0"/>
              <a:t>20/08/2026</a:t>
            </a:fld>
            <a:endParaRPr lang="es-MX"/>
          </a:p>
        </p:txBody>
      </p:sp>
      <p:sp>
        <p:nvSpPr>
          <p:cNvPr id="7" name="Marcador de número de diapositiva 6"/>
          <p:cNvSpPr>
            <a:spLocks noGrp="1"/>
          </p:cNvSpPr>
          <p:nvPr>
            <p:ph type="sldNum" sz="quarter" idx="12"/>
          </p:nvPr>
        </p:nvSpPr>
        <p:spPr/>
        <p:txBody>
          <a:bodyPr/>
          <a:lstStyle/>
          <a:p>
            <a:fld id="{C9CC731C-4015-4722-B2F6-924864FCA402}" type="slidenum">
              <a:rPr lang="es-MX" smtClean="0"/>
              <a:t>‹Nº›</a:t>
            </a:fld>
            <a:endParaRPr lang="es-MX"/>
          </a:p>
        </p:txBody>
      </p:sp>
    </p:spTree>
    <p:extLst>
      <p:ext uri="{BB962C8B-B14F-4D97-AF65-F5344CB8AC3E}">
        <p14:creationId xmlns:p14="http://schemas.microsoft.com/office/powerpoint/2010/main" val="133287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2998176" y="365125"/>
            <a:ext cx="8357211" cy="1325563"/>
          </a:xfrm>
        </p:spPr>
        <p:txBody>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7" name="Marcador de fecha 6"/>
          <p:cNvSpPr>
            <a:spLocks noGrp="1"/>
          </p:cNvSpPr>
          <p:nvPr>
            <p:ph type="dt" sz="half" idx="10"/>
          </p:nvPr>
        </p:nvSpPr>
        <p:spPr/>
        <p:txBody>
          <a:bodyPr/>
          <a:lstStyle/>
          <a:p>
            <a:fld id="{1918CC1C-BDE7-40A2-A17E-8A8E06553619}" type="datetimeFigureOut">
              <a:rPr lang="es-MX" smtClean="0"/>
              <a:t>20/08/2026</a:t>
            </a:fld>
            <a:endParaRPr lang="es-MX"/>
          </a:p>
        </p:txBody>
      </p:sp>
      <p:sp>
        <p:nvSpPr>
          <p:cNvPr id="8" name="Marcador de pie de página 7"/>
          <p:cNvSpPr>
            <a:spLocks noGrp="1"/>
          </p:cNvSpPr>
          <p:nvPr>
            <p:ph type="ftr" sz="quarter" idx="11"/>
          </p:nvPr>
        </p:nvSpPr>
        <p:spPr>
          <a:xfrm>
            <a:off x="4038600" y="6356349"/>
            <a:ext cx="4114800" cy="365125"/>
          </a:xfrm>
          <a:prstGeom prst="rect">
            <a:avLst/>
          </a:prstGeom>
        </p:spPr>
        <p:txBody>
          <a:bodyPr/>
          <a:lstStyle/>
          <a:p>
            <a:endParaRPr lang="es-MX"/>
          </a:p>
        </p:txBody>
      </p:sp>
      <p:sp>
        <p:nvSpPr>
          <p:cNvPr id="9" name="Marcador de número de diapositiva 8"/>
          <p:cNvSpPr>
            <a:spLocks noGrp="1"/>
          </p:cNvSpPr>
          <p:nvPr>
            <p:ph type="sldNum" sz="quarter" idx="12"/>
          </p:nvPr>
        </p:nvSpPr>
        <p:spPr/>
        <p:txBody>
          <a:bodyPr/>
          <a:lstStyle/>
          <a:p>
            <a:fld id="{C9CC731C-4015-4722-B2F6-924864FCA402}" type="slidenum">
              <a:rPr lang="es-MX" smtClean="0"/>
              <a:t>‹Nº›</a:t>
            </a:fld>
            <a:endParaRPr lang="es-MX"/>
          </a:p>
        </p:txBody>
      </p:sp>
    </p:spTree>
    <p:extLst>
      <p:ext uri="{BB962C8B-B14F-4D97-AF65-F5344CB8AC3E}">
        <p14:creationId xmlns:p14="http://schemas.microsoft.com/office/powerpoint/2010/main" val="602962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fecha 2"/>
          <p:cNvSpPr>
            <a:spLocks noGrp="1"/>
          </p:cNvSpPr>
          <p:nvPr>
            <p:ph type="dt" sz="half" idx="10"/>
          </p:nvPr>
        </p:nvSpPr>
        <p:spPr/>
        <p:txBody>
          <a:bodyPr/>
          <a:lstStyle/>
          <a:p>
            <a:fld id="{1918CC1C-BDE7-40A2-A17E-8A8E06553619}" type="datetimeFigureOut">
              <a:rPr lang="es-MX" smtClean="0"/>
              <a:t>20/08/2026</a:t>
            </a:fld>
            <a:endParaRPr lang="es-MX"/>
          </a:p>
        </p:txBody>
      </p:sp>
      <p:sp>
        <p:nvSpPr>
          <p:cNvPr id="5" name="Marcador de número de diapositiva 4"/>
          <p:cNvSpPr>
            <a:spLocks noGrp="1"/>
          </p:cNvSpPr>
          <p:nvPr>
            <p:ph type="sldNum" sz="quarter" idx="12"/>
          </p:nvPr>
        </p:nvSpPr>
        <p:spPr/>
        <p:txBody>
          <a:bodyPr/>
          <a:lstStyle/>
          <a:p>
            <a:fld id="{C9CC731C-4015-4722-B2F6-924864FCA402}" type="slidenum">
              <a:rPr lang="es-MX" smtClean="0"/>
              <a:t>‹Nº›</a:t>
            </a:fld>
            <a:endParaRPr lang="es-MX"/>
          </a:p>
        </p:txBody>
      </p:sp>
    </p:spTree>
    <p:extLst>
      <p:ext uri="{BB962C8B-B14F-4D97-AF65-F5344CB8AC3E}">
        <p14:creationId xmlns:p14="http://schemas.microsoft.com/office/powerpoint/2010/main" val="3428029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1918CC1C-BDE7-40A2-A17E-8A8E06553619}" type="datetimeFigureOut">
              <a:rPr lang="es-MX" smtClean="0"/>
              <a:t>20/08/2026</a:t>
            </a:fld>
            <a:endParaRPr lang="es-MX"/>
          </a:p>
        </p:txBody>
      </p:sp>
      <p:sp>
        <p:nvSpPr>
          <p:cNvPr id="4" name="Marcador de número de diapositiva 3"/>
          <p:cNvSpPr>
            <a:spLocks noGrp="1"/>
          </p:cNvSpPr>
          <p:nvPr>
            <p:ph type="sldNum" sz="quarter" idx="12"/>
          </p:nvPr>
        </p:nvSpPr>
        <p:spPr/>
        <p:txBody>
          <a:bodyPr/>
          <a:lstStyle/>
          <a:p>
            <a:fld id="{C9CC731C-4015-4722-B2F6-924864FCA402}" type="slidenum">
              <a:rPr lang="es-MX" smtClean="0"/>
              <a:t>‹Nº›</a:t>
            </a:fld>
            <a:endParaRPr lang="es-MX"/>
          </a:p>
        </p:txBody>
      </p:sp>
    </p:spTree>
    <p:extLst>
      <p:ext uri="{BB962C8B-B14F-4D97-AF65-F5344CB8AC3E}">
        <p14:creationId xmlns:p14="http://schemas.microsoft.com/office/powerpoint/2010/main" val="3930161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1918CC1C-BDE7-40A2-A17E-8A8E06553619}" type="datetimeFigureOut">
              <a:rPr lang="es-MX" smtClean="0"/>
              <a:t>20/08/2026</a:t>
            </a:fld>
            <a:endParaRPr lang="es-MX"/>
          </a:p>
        </p:txBody>
      </p:sp>
      <p:sp>
        <p:nvSpPr>
          <p:cNvPr id="5" name="Marcador de pie de página 4"/>
          <p:cNvSpPr>
            <a:spLocks noGrp="1"/>
          </p:cNvSpPr>
          <p:nvPr>
            <p:ph type="ftr" sz="quarter" idx="11"/>
          </p:nvPr>
        </p:nvSpPr>
        <p:spPr>
          <a:xfrm>
            <a:off x="4038600" y="6356349"/>
            <a:ext cx="4114800" cy="365125"/>
          </a:xfrm>
          <a:prstGeom prst="rect">
            <a:avLst/>
          </a:prstGeom>
        </p:spPr>
        <p:txBody>
          <a:bodyPr/>
          <a:lstStyle/>
          <a:p>
            <a:endParaRPr lang="es-MX"/>
          </a:p>
        </p:txBody>
      </p:sp>
      <p:sp>
        <p:nvSpPr>
          <p:cNvPr id="6" name="Marcador de número de diapositiva 5"/>
          <p:cNvSpPr>
            <a:spLocks noGrp="1"/>
          </p:cNvSpPr>
          <p:nvPr>
            <p:ph type="sldNum" sz="quarter" idx="12"/>
          </p:nvPr>
        </p:nvSpPr>
        <p:spPr/>
        <p:txBody>
          <a:bodyPr/>
          <a:lstStyle/>
          <a:p>
            <a:fld id="{C9CC731C-4015-4722-B2F6-924864FCA402}" type="slidenum">
              <a:rPr lang="es-MX" smtClean="0"/>
              <a:t>‹Nº›</a:t>
            </a:fld>
            <a:endParaRPr lang="es-MX"/>
          </a:p>
        </p:txBody>
      </p:sp>
    </p:spTree>
    <p:extLst>
      <p:ext uri="{BB962C8B-B14F-4D97-AF65-F5344CB8AC3E}">
        <p14:creationId xmlns:p14="http://schemas.microsoft.com/office/powerpoint/2010/main" val="4270794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1918CC1C-BDE7-40A2-A17E-8A8E06553619}" type="datetimeFigureOut">
              <a:rPr lang="es-MX" smtClean="0"/>
              <a:t>20/08/2026</a:t>
            </a:fld>
            <a:endParaRPr lang="es-MX"/>
          </a:p>
        </p:txBody>
      </p:sp>
      <p:sp>
        <p:nvSpPr>
          <p:cNvPr id="5" name="Marcador de pie de página 4"/>
          <p:cNvSpPr>
            <a:spLocks noGrp="1"/>
          </p:cNvSpPr>
          <p:nvPr>
            <p:ph type="ftr" sz="quarter" idx="11"/>
          </p:nvPr>
        </p:nvSpPr>
        <p:spPr>
          <a:xfrm>
            <a:off x="4038600" y="6356349"/>
            <a:ext cx="4114800" cy="365125"/>
          </a:xfrm>
          <a:prstGeom prst="rect">
            <a:avLst/>
          </a:prstGeom>
        </p:spPr>
        <p:txBody>
          <a:bodyPr/>
          <a:lstStyle/>
          <a:p>
            <a:endParaRPr lang="es-MX"/>
          </a:p>
        </p:txBody>
      </p:sp>
      <p:sp>
        <p:nvSpPr>
          <p:cNvPr id="6" name="Marcador de número de diapositiva 5"/>
          <p:cNvSpPr>
            <a:spLocks noGrp="1"/>
          </p:cNvSpPr>
          <p:nvPr>
            <p:ph type="sldNum" sz="quarter" idx="12"/>
          </p:nvPr>
        </p:nvSpPr>
        <p:spPr/>
        <p:txBody>
          <a:bodyPr/>
          <a:lstStyle/>
          <a:p>
            <a:fld id="{C9CC731C-4015-4722-B2F6-924864FCA402}" type="slidenum">
              <a:rPr lang="es-MX" smtClean="0"/>
              <a:t>‹Nº›</a:t>
            </a:fld>
            <a:endParaRPr lang="es-MX"/>
          </a:p>
        </p:txBody>
      </p:sp>
    </p:spTree>
    <p:extLst>
      <p:ext uri="{BB962C8B-B14F-4D97-AF65-F5344CB8AC3E}">
        <p14:creationId xmlns:p14="http://schemas.microsoft.com/office/powerpoint/2010/main" val="83682155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3048000" y="365125"/>
            <a:ext cx="83058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8200" y="1825625"/>
            <a:ext cx="10515600" cy="4127500"/>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18CC1C-BDE7-40A2-A17E-8A8E06553619}" type="datetimeFigureOut">
              <a:rPr lang="es-MX" smtClean="0"/>
              <a:t>20/08/2026</a:t>
            </a:fld>
            <a:endParaRPr lang="es-MX"/>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CC731C-4015-4722-B2F6-924864FCA402}" type="slidenum">
              <a:rPr lang="es-MX" smtClean="0"/>
              <a:t>‹Nº›</a:t>
            </a:fld>
            <a:endParaRPr lang="es-MX"/>
          </a:p>
        </p:txBody>
      </p:sp>
    </p:spTree>
    <p:extLst>
      <p:ext uri="{BB962C8B-B14F-4D97-AF65-F5344CB8AC3E}">
        <p14:creationId xmlns:p14="http://schemas.microsoft.com/office/powerpoint/2010/main" val="3671741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8" r:id="rId8"/>
    <p:sldLayoutId id="2147483659" r:id="rId9"/>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3.xml"/><Relationship Id="rId6" Type="http://schemas.openxmlformats.org/officeDocument/2006/relationships/image" Target="../media/visual_ES_1_image.png"/><Relationship Id="rId7" Type="http://schemas.openxmlformats.org/officeDocument/2006/relationships/image" Target="../media/visual_ES_1_image2.png"/><Relationship Id="rId8" Type="http://schemas.openxmlformats.org/officeDocument/2006/relationships/image" Target="../media/visual_ES_1_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image" Target="../media/image23.png"/><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12.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21.png"/><Relationship Id="rId7" Type="http://schemas.openxmlformats.org/officeDocument/2006/relationships/image" Target="../media/image19.png"/><Relationship Id="rId8" Type="http://schemas.openxmlformats.org/officeDocument/2006/relationships/image" Target="../media/image11.png"/><Relationship Id="rId9" Type="http://schemas.openxmlformats.org/officeDocument/2006/relationships/notesSlide" Target="../notesSlides/notesSlide9.xml"/><Relationship Id="rId10" Type="http://schemas.openxmlformats.org/officeDocument/2006/relationships/image" Target="../media/visual_ES_2_image.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jpg"/><Relationship Id="rId3" Type="http://schemas.openxmlformats.org/officeDocument/2006/relationships/image" Target="../media/image37.jpg"/><Relationship Id="rId4" Type="http://schemas.openxmlformats.org/officeDocument/2006/relationships/image" Target="../media/image38.jpg"/><Relationship Id="rId5" Type="http://schemas.openxmlformats.org/officeDocument/2006/relationships/notesSlide" Target="../notesSlides/notesSlide10.xml"/><Relationship Id="rId6" Type="http://schemas.openxmlformats.org/officeDocument/2006/relationships/image" Target="../media/visual_ES_3_image2.jpeg"/><Relationship Id="rId7" Type="http://schemas.openxmlformats.org/officeDocument/2006/relationships/image" Target="../media/visual_ES_3_image3.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jpg"/><Relationship Id="rId3" Type="http://schemas.openxmlformats.org/officeDocument/2006/relationships/image" Target="../media/image35.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jpg"/><Relationship Id="rId8" Type="http://schemas.openxmlformats.org/officeDocument/2006/relationships/image" Target="../media/image44.jpg"/><Relationship Id="rId9" Type="http://schemas.openxmlformats.org/officeDocument/2006/relationships/image" Target="../media/image45.jpg"/><Relationship Id="rId10" Type="http://schemas.openxmlformats.org/officeDocument/2006/relationships/image" Target="../media/image46.jpg"/><Relationship Id="rId11" Type="http://schemas.openxmlformats.org/officeDocument/2006/relationships/image" Target="../media/image47.png"/><Relationship Id="rId12" Type="http://schemas.openxmlformats.org/officeDocument/2006/relationships/notesSlide" Target="../notesSlides/notesSlide11.xml"/><Relationship Id="rId13" Type="http://schemas.openxmlformats.org/officeDocument/2006/relationships/image" Target="../media/visual_ES_4_image4.jpeg"/><Relationship Id="rId14" Type="http://schemas.openxmlformats.org/officeDocument/2006/relationships/image" Target="../media/visual_ES_4_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11.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notesSlide" Target="../notesSlides/notesSlide13.xml"/><Relationship Id="rId6" Type="http://schemas.openxmlformats.org/officeDocument/2006/relationships/image" Target="../media/visual_ES_5_image5.png"/><Relationship Id="rId7" Type="http://schemas.openxmlformats.org/officeDocument/2006/relationships/image" Target="../media/visual_ES_5_image6.png"/><Relationship Id="rId8" Type="http://schemas.openxmlformats.org/officeDocument/2006/relationships/image" Target="../media/visual_ES_5_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 Id="rId3" Type="http://schemas.openxmlformats.org/officeDocument/2006/relationships/image" Target="../media/image49.png"/><Relationship Id="rId4" Type="http://schemas.openxmlformats.org/officeDocument/2006/relationships/image" Target="../media/image51.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 Id="rId3" Type="http://schemas.openxmlformats.org/officeDocument/2006/relationships/image" Target="../media/image5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1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1.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34.png"/><Relationship Id="rId10" Type="http://schemas.openxmlformats.org/officeDocument/2006/relationships/image" Target="../media/image59.png"/><Relationship Id="rId11" Type="http://schemas.openxmlformats.org/officeDocument/2006/relationships/image" Target="../media/image60.png"/><Relationship Id="rId12" Type="http://schemas.openxmlformats.org/officeDocument/2006/relationships/image" Target="../media/image61.png"/><Relationship Id="rId13" Type="http://schemas.openxmlformats.org/officeDocument/2006/relationships/image" Target="../media/image62.png"/><Relationship Id="rId14" Type="http://schemas.openxmlformats.org/officeDocument/2006/relationships/image" Target="../media/image27.png"/><Relationship Id="rId15" Type="http://schemas.openxmlformats.org/officeDocument/2006/relationships/notesSlide" Target="../notesSlides/notesSlide18.xml"/><Relationship Id="rId16" Type="http://schemas.openxmlformats.org/officeDocument/2006/relationships/image" Target="../media/visual_ES_7_image8.png"/><Relationship Id="rId17" Type="http://schemas.openxmlformats.org/officeDocument/2006/relationships/image" Target="../media/visual_ES_7_image9.png"/><Relationship Id="rId18" Type="http://schemas.openxmlformats.org/officeDocument/2006/relationships/image" Target="../media/visual_ES_7_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7.png"/><Relationship Id="rId3" Type="http://schemas.openxmlformats.org/officeDocument/2006/relationships/image" Target="../media/image63.png"/><Relationship Id="rId4"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669280" y="960120"/>
            <a:ext cx="6172200" cy="2331720"/>
          </a:xfrm>
        </p:spPr>
        <p:txBody>
          <a:bodyPr wrap="square" lIns="0" rIns="0" tIns="0" bIns="0" anchor="b">
            <a:noAutofit/>
          </a:bodyPr>
          <a:lstStyle/>
          <a:p>
            <a:pPr algn="ctr">
              <a:lnSpc>
                <a:spcPct val="95000"/>
              </a:lnSpc>
              <a:spcAft>
                <a:spcPts val="800"/>
              </a:spcAft>
            </a:pPr>
            <a:r>
              <a:rPr sz="2900" b="0" i="0" lang="es-MX">
                <a:solidFill>
                  <a:srgbClr val="FFFFFF"/>
                </a:solidFill>
                <a:latin typeface="Calibri Light"/>
              </a:rPr>
              <a:t>Un Data Warehouse dimensional para el monitoreo geoespacial de obras públicas municipales</a:t>
            </a:r>
          </a:p>
          <a:p>
            <a:pPr algn="ctr">
              <a:lnSpc>
                <a:spcPct val="95000"/>
              </a:lnSpc>
              <a:spcAft>
                <a:spcPts val="0"/>
              </a:spcAft>
            </a:pPr>
            <a:r>
              <a:rPr sz="1800" b="0" i="0" lang="es-MX">
                <a:solidFill>
                  <a:srgbClr val="D9C5FF"/>
                </a:solidFill>
                <a:latin typeface="Calibri Light"/>
              </a:rPr>
              <a:t>con una ruta de evolución hacia una arquitectura Lakehouse</a:t>
            </a:r>
          </a:p>
        </p:txBody>
      </p:sp>
      <p:sp>
        <p:nvSpPr>
          <p:cNvPr id="3" name="Subtitle 2"/>
          <p:cNvSpPr>
            <a:spLocks noGrp="1"/>
          </p:cNvSpPr>
          <p:nvPr>
            <p:ph type="subTitle" idx="1"/>
          </p:nvPr>
        </p:nvSpPr>
        <p:spPr>
          <a:xfrm>
            <a:off x="5669280" y="3474720"/>
            <a:ext cx="6172200" cy="1051560"/>
          </a:xfrm>
        </p:spPr>
        <p:txBody>
          <a:bodyPr wrap="square" lIns="0" rIns="0" tIns="0" bIns="0" anchor="t">
            <a:noAutofit/>
          </a:bodyPr>
          <a:lstStyle/>
          <a:p>
            <a:pPr algn="ctr">
              <a:spcAft>
                <a:spcPts val="400"/>
              </a:spcAft>
            </a:pPr>
            <a:r>
              <a:rPr sz="1500" b="0" i="0" lang="es-MX">
                <a:solidFill>
                  <a:srgbClr val="FFFFFF"/>
                </a:solidFill>
                <a:latin typeface="Calibri"/>
              </a:rPr>
              <a:t>Uriel González Casiano · Marco Tulio Maldonado Mejía · Gabriel Hurtado Avilés</a:t>
            </a:r>
          </a:p>
          <a:p>
            <a:pPr algn="ctr">
              <a:spcAft>
                <a:spcPts val="0"/>
              </a:spcAft>
            </a:pPr>
            <a:r>
              <a:rPr sz="1200" b="0" i="0" lang="es-MX">
                <a:solidFill>
                  <a:srgbClr val="ADA3C8"/>
                </a:solidFill>
                <a:latin typeface="Calibri"/>
              </a:rPr>
              <a:t>Escuela Superior de Cómputo (ESCOM) · Instituto Politécnico Nacional · Ciudad de México</a:t>
            </a:r>
          </a:p>
        </p:txBody>
      </p:sp>
      <p:sp>
        <p:nvSpPr>
          <p:cNvPr id="4" name="Rounded Rectangle 3"/>
          <p:cNvSpPr/>
          <p:nvPr/>
        </p:nvSpPr>
        <p:spPr>
          <a:xfrm>
            <a:off x="6263640" y="4709160"/>
            <a:ext cx="4983480" cy="1097280"/>
          </a:xfrm>
          <a:prstGeom prst="roundRect">
            <a:avLst>
              <a:gd name="adj" fmla="val 11666"/>
            </a:avLst>
          </a:prstGeom>
          <a:solidFill>
            <a:srgbClr val="B57BFF">
              <a:alpha val="12000"/>
            </a:srgbClr>
          </a:solidFill>
          <a:ln w="9525">
            <a:solidFill>
              <a:srgbClr val="B57BFF">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263640" y="4773168"/>
            <a:ext cx="4983480" cy="1005840"/>
          </a:xfrm>
          <a:prstGeom prst="rect">
            <a:avLst/>
          </a:prstGeom>
          <a:noFill/>
        </p:spPr>
        <p:txBody>
          <a:bodyPr wrap="square" lIns="0" rIns="0" tIns="0" bIns="0" anchor="ctr">
            <a:noAutofit/>
          </a:bodyPr>
          <a:lstStyle/>
          <a:p>
            <a:pPr algn="ctr">
              <a:spcAft>
                <a:spcPts val="200"/>
              </a:spcAft>
            </a:pPr>
            <a:r>
              <a:rPr sz="1250" b="1" i="0" lang="es-MX" spc="200">
                <a:solidFill>
                  <a:srgbClr val="B57BFF"/>
                </a:solidFill>
                <a:latin typeface="Calibri"/>
              </a:rPr>
              <a:t>ICOKG 2026 · SPRINGER</a:t>
            </a:r>
          </a:p>
          <a:p>
            <a:pPr algn="ctr">
              <a:spcAft>
                <a:spcPts val="0"/>
              </a:spcAft>
            </a:pPr>
            <a:r>
              <a:rPr sz="1250" b="0" i="0" lang="es-MX">
                <a:solidFill>
                  <a:srgbClr val="FFFFFF"/>
                </a:solidFill>
                <a:latin typeface="Calibri"/>
              </a:rPr>
              <a:t>Sesión: Data Warehousing and Geospatial Modeling (virtual)</a:t>
            </a:r>
          </a:p>
          <a:p>
            <a:pPr algn="ctr">
              <a:spcAft>
                <a:spcPts val="0"/>
              </a:spcAft>
            </a:pPr>
            <a:r>
              <a:rPr sz="1250" b="0" i="0" lang="es-MX">
                <a:solidFill>
                  <a:srgbClr val="DDD6EE"/>
                </a:solidFill>
                <a:latin typeface="Calibri"/>
              </a:rPr>
              <a:t>Jueves 24 de septiembre de 2026 · 14:00–14:20</a:t>
            </a:r>
          </a:p>
        </p:txBody>
      </p:sp>
      <p:pic>
        <p:nvPicPr>
          <p:cNvPr id="6" name="Picture 5" descr="Logotipo del Instituto Politécnico Nacional"/>
          <p:cNvPicPr>
            <a:picLocks noChangeAspect="1"/>
          </p:cNvPicPr>
          <p:nvPr/>
        </p:nvPicPr>
        <p:blipFill>
          <a:blip r:embed="rId2"/>
          <a:stretch>
            <a:fillRect/>
          </a:stretch>
        </p:blipFill>
        <p:spPr>
          <a:xfrm>
            <a:off x="10455101" y="292608"/>
            <a:ext cx="310354" cy="530352"/>
          </a:xfrm>
          <a:prstGeom prst="rect">
            <a:avLst/>
          </a:prstGeom>
        </p:spPr>
      </p:pic>
      <p:pic>
        <p:nvPicPr>
          <p:cNvPr id="7" name="Picture 6" descr="escom_white.png"/>
          <p:cNvPicPr>
            <a:picLocks noChangeAspect="1"/>
          </p:cNvPicPr>
          <p:nvPr/>
        </p:nvPicPr>
        <p:blipFill>
          <a:blip r:embed="rId3"/>
          <a:stretch>
            <a:fillRect/>
          </a:stretch>
        </p:blipFill>
        <p:spPr>
          <a:xfrm>
            <a:off x="10927080" y="292608"/>
            <a:ext cx="694278" cy="53035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s-MX">
                <a:solidFill>
                  <a:srgbClr val="FFFFFF"/>
                </a:solidFill>
                <a:latin typeface="Calibri Light"/>
              </a:rPr>
              <a:t>El problema: datos de obra pública sin historia</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s-MX" spc="250">
                <a:solidFill>
                  <a:srgbClr val="B57BFF"/>
                </a:solidFill>
                <a:latin typeface="Calibri"/>
              </a:rPr>
              <a:t>CONTEXTO</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s-MX">
                <a:solidFill>
                  <a:srgbClr val="8E84AB"/>
                </a:solidFill>
                <a:latin typeface="Calibri"/>
              </a:rPr>
              <a:t>2 / 19</a:t>
            </a:r>
          </a:p>
        </p:txBody>
      </p:sp>
      <p:pic>
        <p:nvPicPr>
          <p:cNvPr id="5" name="Picture 4" descr="parroquia.jpg"/>
          <p:cNvPicPr>
            <a:picLocks noChangeAspect="1"/>
          </p:cNvPicPr>
          <p:nvPr/>
        </p:nvPicPr>
        <p:blipFill>
          <a:blip r:embed="rId2"/>
          <a:srcRect l="446" r="446"/>
          <a:stretch>
            <a:fillRect/>
          </a:stretch>
        </p:blipFill>
        <p:spPr>
          <a:xfrm>
            <a:off x="548640" y="1783080"/>
            <a:ext cx="3977639" cy="2697480"/>
          </a:xfrm>
          <a:prstGeom prst="roundRect">
            <a:avLst>
              <a:gd name="adj" fmla="val 4067"/>
            </a:avLst>
          </a:prstGeom>
          <a:ln w="12700">
            <a:solidFill>
              <a:srgbClr val="D9C5FF">
                <a:alpha val="35000"/>
              </a:srgbClr>
            </a:solidFill>
          </a:ln>
          <a:effectLst>
            <a:outerShdw blurRad="177800" dist="50800" dir="5400000" algn="t" rotWithShape="0">
              <a:srgbClr val="000000">
                <a:alpha val="50000"/>
              </a:srgbClr>
            </a:outerShdw>
          </a:effectLst>
        </p:spPr>
      </p:pic>
      <p:sp>
        <p:nvSpPr>
          <p:cNvPr id="6" name="TextBox 5"/>
          <p:cNvSpPr txBox="1"/>
          <p:nvPr/>
        </p:nvSpPr>
        <p:spPr>
          <a:xfrm>
            <a:off x="548640" y="4553712"/>
            <a:ext cx="3977639" cy="274320"/>
          </a:xfrm>
          <a:prstGeom prst="rect">
            <a:avLst/>
          </a:prstGeom>
          <a:noFill/>
        </p:spPr>
        <p:txBody>
          <a:bodyPr wrap="square" lIns="0" rIns="0" tIns="0" bIns="0" anchor="t">
            <a:noAutofit/>
          </a:bodyPr>
          <a:lstStyle/>
          <a:p>
            <a:pPr algn="l">
              <a:spcAft>
                <a:spcPts val="0"/>
              </a:spcAft>
            </a:pPr>
            <a:r>
              <a:rPr sz="1150" b="0" i="0" lang="es-MX">
                <a:solidFill>
                  <a:srgbClr val="DDD6EE"/>
                </a:solidFill>
                <a:latin typeface="Calibri"/>
              </a:rPr>
              <a:t>Temascaltepec de González, cabecera municipal</a:t>
            </a:r>
          </a:p>
        </p:txBody>
      </p:sp>
      <p:sp>
        <p:nvSpPr>
          <p:cNvPr id="7" name="TextBox 6"/>
          <p:cNvSpPr txBox="1"/>
          <p:nvPr/>
        </p:nvSpPr>
        <p:spPr>
          <a:xfrm>
            <a:off x="548640" y="4791456"/>
            <a:ext cx="3977639" cy="274320"/>
          </a:xfrm>
          <a:prstGeom prst="rect">
            <a:avLst/>
          </a:prstGeom>
          <a:noFill/>
        </p:spPr>
        <p:txBody>
          <a:bodyPr wrap="square" lIns="0" rIns="0" tIns="0" bIns="0" anchor="t">
            <a:noAutofit/>
          </a:bodyPr>
          <a:lstStyle/>
          <a:p>
            <a:pPr algn="l">
              <a:spcAft>
                <a:spcPts val="0"/>
              </a:spcAft>
            </a:pPr>
            <a:r>
              <a:rPr sz="850" b="0" i="0" lang="es-MX">
                <a:solidFill>
                  <a:srgbClr val="8E84AB"/>
                </a:solidFill>
                <a:latin typeface="Calibri"/>
              </a:rPr>
              <a:t>Foto: Catedrales e Iglesias · CC BY 2.0 · Wikimedia Commons</a:t>
            </a:r>
          </a:p>
        </p:txBody>
      </p:sp>
      <p:sp>
        <p:nvSpPr>
          <p:cNvPr id="8" name="TextBox 7"/>
          <p:cNvSpPr txBox="1"/>
          <p:nvPr/>
        </p:nvSpPr>
        <p:spPr>
          <a:xfrm>
            <a:off x="548640" y="5074920"/>
            <a:ext cx="1920240" cy="566928"/>
          </a:xfrm>
          <a:prstGeom prst="rect">
            <a:avLst/>
          </a:prstGeom>
          <a:noFill/>
        </p:spPr>
        <p:txBody>
          <a:bodyPr wrap="square" lIns="0" rIns="0" tIns="0" bIns="0" anchor="t">
            <a:noAutofit/>
          </a:bodyPr>
          <a:lstStyle/>
          <a:p>
            <a:pPr algn="l">
              <a:spcAft>
                <a:spcPts val="0"/>
              </a:spcAft>
            </a:pPr>
            <a:r>
              <a:rPr sz="3400" b="1" i="0" lang="es-MX">
                <a:solidFill>
                  <a:srgbClr val="D9C5FF"/>
                </a:solidFill>
                <a:latin typeface="Calibri"/>
              </a:rPr>
              <a:t>64,844</a:t>
            </a:r>
          </a:p>
        </p:txBody>
      </p:sp>
      <p:sp>
        <p:nvSpPr>
          <p:cNvPr id="9" name="TextBox 8"/>
          <p:cNvSpPr txBox="1"/>
          <p:nvPr/>
        </p:nvSpPr>
        <p:spPr>
          <a:xfrm>
            <a:off x="548640" y="5605272"/>
            <a:ext cx="1920240" cy="292608"/>
          </a:xfrm>
          <a:prstGeom prst="rect">
            <a:avLst/>
          </a:prstGeom>
          <a:noFill/>
        </p:spPr>
        <p:txBody>
          <a:bodyPr wrap="square" lIns="0" rIns="0" tIns="0" bIns="0" anchor="t">
            <a:noAutofit/>
          </a:bodyPr>
          <a:lstStyle/>
          <a:p>
            <a:pPr algn="l">
              <a:spcAft>
                <a:spcPts val="0"/>
              </a:spcAft>
            </a:pPr>
            <a:r>
              <a:rPr sz="1250" b="0" i="0" lang="es-MX">
                <a:solidFill>
                  <a:srgbClr val="DDD6EE"/>
                </a:solidFill>
                <a:latin typeface="Calibri"/>
              </a:rPr>
              <a:t>habitantes</a:t>
            </a:r>
          </a:p>
        </p:txBody>
      </p:sp>
      <p:sp>
        <p:nvSpPr>
          <p:cNvPr id="10" name="TextBox 9"/>
          <p:cNvSpPr txBox="1"/>
          <p:nvPr/>
        </p:nvSpPr>
        <p:spPr>
          <a:xfrm>
            <a:off x="2560320" y="5074920"/>
            <a:ext cx="1920240" cy="566928"/>
          </a:xfrm>
          <a:prstGeom prst="rect">
            <a:avLst/>
          </a:prstGeom>
          <a:noFill/>
        </p:spPr>
        <p:txBody>
          <a:bodyPr wrap="square" lIns="0" rIns="0" tIns="0" bIns="0" anchor="t">
            <a:noAutofit/>
          </a:bodyPr>
          <a:lstStyle/>
          <a:p>
            <a:pPr algn="l">
              <a:spcAft>
                <a:spcPts val="0"/>
              </a:spcAft>
            </a:pPr>
            <a:r>
              <a:rPr sz="3400" b="1" i="0" lang="es-MX">
                <a:solidFill>
                  <a:srgbClr val="D9C5FF"/>
                </a:solidFill>
                <a:latin typeface="Calibri"/>
              </a:rPr>
              <a:t>55</a:t>
            </a:r>
          </a:p>
        </p:txBody>
      </p:sp>
      <p:sp>
        <p:nvSpPr>
          <p:cNvPr id="11" name="TextBox 10"/>
          <p:cNvSpPr txBox="1"/>
          <p:nvPr/>
        </p:nvSpPr>
        <p:spPr>
          <a:xfrm>
            <a:off x="2560320" y="5605272"/>
            <a:ext cx="1920240" cy="292608"/>
          </a:xfrm>
          <a:prstGeom prst="rect">
            <a:avLst/>
          </a:prstGeom>
          <a:noFill/>
        </p:spPr>
        <p:txBody>
          <a:bodyPr wrap="square" lIns="0" rIns="0" tIns="0" bIns="0" anchor="t">
            <a:noAutofit/>
          </a:bodyPr>
          <a:lstStyle/>
          <a:p>
            <a:pPr algn="l">
              <a:spcAft>
                <a:spcPts val="0"/>
              </a:spcAft>
            </a:pPr>
            <a:r>
              <a:rPr sz="1250" b="0" i="0" lang="es-MX">
                <a:solidFill>
                  <a:srgbClr val="DDD6EE"/>
                </a:solidFill>
                <a:latin typeface="Calibri"/>
              </a:rPr>
              <a:t>comunidades</a:t>
            </a:r>
          </a:p>
        </p:txBody>
      </p:sp>
      <p:pic>
        <p:nvPicPr>
          <p:cNvPr id="12" name="Picture 11" descr="locator_es.png"/>
          <p:cNvPicPr>
            <a:picLocks noChangeAspect="1"/>
          </p:cNvPicPr>
          <p:nvPr/>
        </p:nvPicPr>
        <p:blipFill>
          <a:blip r:embed="rId3"/>
          <a:stretch>
            <a:fillRect/>
          </a:stretch>
        </p:blipFill>
        <p:spPr>
          <a:xfrm>
            <a:off x="4709160" y="1737360"/>
            <a:ext cx="3429000" cy="2971800"/>
          </a:xfrm>
          <a:prstGeom prst="rect">
            <a:avLst/>
          </a:prstGeom>
        </p:spPr>
      </p:pic>
      <p:sp>
        <p:nvSpPr>
          <p:cNvPr id="13" name="TextBox 12"/>
          <p:cNvSpPr txBox="1"/>
          <p:nvPr/>
        </p:nvSpPr>
        <p:spPr>
          <a:xfrm>
            <a:off x="4754880" y="4754880"/>
            <a:ext cx="3383280" cy="274320"/>
          </a:xfrm>
          <a:prstGeom prst="rect">
            <a:avLst/>
          </a:prstGeom>
          <a:noFill/>
        </p:spPr>
        <p:txBody>
          <a:bodyPr wrap="square" lIns="0" rIns="0" tIns="0" bIns="0" anchor="t">
            <a:noAutofit/>
          </a:bodyPr>
          <a:lstStyle/>
          <a:p>
            <a:pPr algn="l">
              <a:spcAft>
                <a:spcPts val="0"/>
              </a:spcAft>
            </a:pPr>
            <a:r>
              <a:rPr sz="850" b="0" i="0" lang="es-MX">
                <a:solidFill>
                  <a:srgbClr val="8E84AB"/>
                </a:solidFill>
                <a:latin typeface="Calibri"/>
              </a:rPr>
              <a:t>Límites © colaboradores de OpenStreetMap (ODbL)</a:t>
            </a:r>
          </a:p>
        </p:txBody>
      </p:sp>
      <p:sp>
        <p:nvSpPr>
          <p:cNvPr id="14" name="TextBox 13"/>
          <p:cNvSpPr txBox="1"/>
          <p:nvPr/>
        </p:nvSpPr>
        <p:spPr>
          <a:xfrm>
            <a:off x="8412480" y="1783080"/>
            <a:ext cx="3246120" cy="320040"/>
          </a:xfrm>
          <a:prstGeom prst="rect">
            <a:avLst/>
          </a:prstGeom>
          <a:noFill/>
        </p:spPr>
        <p:txBody>
          <a:bodyPr wrap="square" lIns="0" rIns="0" tIns="0" bIns="0" anchor="t">
            <a:noAutofit/>
          </a:bodyPr>
          <a:lstStyle/>
          <a:p>
            <a:pPr algn="l">
              <a:spcAft>
                <a:spcPts val="0"/>
              </a:spcAft>
            </a:pPr>
            <a:r>
              <a:rPr sz="1400" b="1" i="0" lang="es-MX">
                <a:solidFill>
                  <a:srgbClr val="D9C5FF"/>
                </a:solidFill>
                <a:latin typeface="Calibri"/>
              </a:rPr>
              <a:t>Con qué trabaja hoy la oficina</a:t>
            </a:r>
          </a:p>
        </p:txBody>
      </p:sp>
      <p:sp>
        <p:nvSpPr>
          <p:cNvPr id="15" name="Oval 14"/>
          <p:cNvSpPr/>
          <p:nvPr/>
        </p:nvSpPr>
        <p:spPr>
          <a:xfrm>
            <a:off x="8430768" y="2258568"/>
            <a:ext cx="512064" cy="512064"/>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eet.png"/>
          <p:cNvPicPr>
            <a:picLocks noChangeAspect="1"/>
          </p:cNvPicPr>
          <p:nvPr/>
        </p:nvPicPr>
        <p:blipFill>
          <a:blip r:embed="rId4"/>
          <a:stretch>
            <a:fillRect/>
          </a:stretch>
        </p:blipFill>
        <p:spPr>
          <a:xfrm>
            <a:off x="8553663" y="2381463"/>
            <a:ext cx="266273" cy="266273"/>
          </a:xfrm>
          <a:prstGeom prst="rect">
            <a:avLst/>
          </a:prstGeom>
        </p:spPr>
      </p:pic>
      <p:sp>
        <p:nvSpPr>
          <p:cNvPr id="17" name="TextBox 16"/>
          <p:cNvSpPr txBox="1"/>
          <p:nvPr/>
        </p:nvSpPr>
        <p:spPr>
          <a:xfrm>
            <a:off x="9098280" y="2258568"/>
            <a:ext cx="2560320" cy="530352"/>
          </a:xfrm>
          <a:prstGeom prst="rect">
            <a:avLst/>
          </a:prstGeom>
          <a:noFill/>
        </p:spPr>
        <p:txBody>
          <a:bodyPr wrap="square" lIns="0" rIns="0" tIns="0" bIns="0" anchor="ctr">
            <a:noAutofit/>
          </a:bodyPr>
          <a:lstStyle/>
          <a:p>
            <a:pPr algn="l">
              <a:spcAft>
                <a:spcPts val="0"/>
              </a:spcAft>
            </a:pPr>
            <a:r>
              <a:rPr sz="1250" b="0" i="0" lang="es-MX">
                <a:solidFill>
                  <a:srgbClr val="FFFFFF"/>
                </a:solidFill>
                <a:latin typeface="Calibri"/>
              </a:rPr>
              <a:t>Hojas de cálculo y sistemas transaccionales aislados</a:t>
            </a:r>
          </a:p>
        </p:txBody>
      </p:sp>
      <p:sp>
        <p:nvSpPr>
          <p:cNvPr id="18" name="Oval 17"/>
          <p:cNvSpPr/>
          <p:nvPr/>
        </p:nvSpPr>
        <p:spPr>
          <a:xfrm>
            <a:off x="8430768" y="2944368"/>
            <a:ext cx="512064" cy="512064"/>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images.png"/>
          <p:cNvPicPr>
            <a:picLocks noChangeAspect="1"/>
          </p:cNvPicPr>
          <p:nvPr/>
        </p:nvPicPr>
        <p:blipFill>
          <a:blip r:embed="rId5"/>
          <a:stretch>
            <a:fillRect/>
          </a:stretch>
        </p:blipFill>
        <p:spPr>
          <a:xfrm>
            <a:off x="8553663" y="3067263"/>
            <a:ext cx="266273" cy="266273"/>
          </a:xfrm>
          <a:prstGeom prst="rect">
            <a:avLst/>
          </a:prstGeom>
        </p:spPr>
      </p:pic>
      <p:sp>
        <p:nvSpPr>
          <p:cNvPr id="20" name="TextBox 19"/>
          <p:cNvSpPr txBox="1"/>
          <p:nvPr/>
        </p:nvSpPr>
        <p:spPr>
          <a:xfrm>
            <a:off x="9098280" y="2944368"/>
            <a:ext cx="2560320" cy="530352"/>
          </a:xfrm>
          <a:prstGeom prst="rect">
            <a:avLst/>
          </a:prstGeom>
          <a:noFill/>
        </p:spPr>
        <p:txBody>
          <a:bodyPr wrap="square" lIns="0" rIns="0" tIns="0" bIns="0" anchor="ctr">
            <a:noAutofit/>
          </a:bodyPr>
          <a:lstStyle/>
          <a:p>
            <a:pPr algn="l">
              <a:spcAft>
                <a:spcPts val="0"/>
              </a:spcAft>
            </a:pPr>
            <a:r>
              <a:rPr sz="1250" b="0" i="0" lang="es-MX">
                <a:solidFill>
                  <a:srgbClr val="FFFFFF"/>
                </a:solidFill>
                <a:latin typeface="Calibri"/>
              </a:rPr>
              <a:t>Fotos de avance y PDF desligados del expediente</a:t>
            </a:r>
          </a:p>
        </p:txBody>
      </p:sp>
      <p:sp>
        <p:nvSpPr>
          <p:cNvPr id="21" name="Oval 20"/>
          <p:cNvSpPr/>
          <p:nvPr/>
        </p:nvSpPr>
        <p:spPr>
          <a:xfrm>
            <a:off x="8430768" y="3630168"/>
            <a:ext cx="512064" cy="512064"/>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istory.png"/>
          <p:cNvPicPr>
            <a:picLocks noChangeAspect="1"/>
          </p:cNvPicPr>
          <p:nvPr/>
        </p:nvPicPr>
        <p:blipFill>
          <a:blip r:embed="rId6"/>
          <a:stretch>
            <a:fillRect/>
          </a:stretch>
        </p:blipFill>
        <p:spPr>
          <a:xfrm>
            <a:off x="8553663" y="3753063"/>
            <a:ext cx="266273" cy="266273"/>
          </a:xfrm>
          <a:prstGeom prst="rect">
            <a:avLst/>
          </a:prstGeom>
        </p:spPr>
      </p:pic>
      <p:sp>
        <p:nvSpPr>
          <p:cNvPr id="23" name="TextBox 22"/>
          <p:cNvSpPr txBox="1"/>
          <p:nvPr/>
        </p:nvSpPr>
        <p:spPr>
          <a:xfrm>
            <a:off x="9098280" y="3630168"/>
            <a:ext cx="2560320" cy="530352"/>
          </a:xfrm>
          <a:prstGeom prst="rect">
            <a:avLst/>
          </a:prstGeom>
          <a:noFill/>
        </p:spPr>
        <p:txBody>
          <a:bodyPr wrap="square" lIns="0" rIns="0" tIns="0" bIns="0" anchor="ctr">
            <a:noAutofit/>
          </a:bodyPr>
          <a:lstStyle/>
          <a:p>
            <a:pPr algn="l">
              <a:spcAft>
                <a:spcPts val="0"/>
              </a:spcAft>
            </a:pPr>
            <a:r>
              <a:rPr sz="1250" b="0" i="0" lang="es-MX">
                <a:solidFill>
                  <a:srgbClr val="FFFFFF"/>
                </a:solidFill>
                <a:latin typeface="Calibri"/>
              </a:rPr>
              <a:t>Un presupuesto modificado sobrescribe al anterior</a:t>
            </a:r>
          </a:p>
        </p:txBody>
      </p:sp>
      <p:sp>
        <p:nvSpPr>
          <p:cNvPr id="24" name="Oval 23"/>
          <p:cNvSpPr/>
          <p:nvPr/>
        </p:nvSpPr>
        <p:spPr>
          <a:xfrm>
            <a:off x="8430768" y="4315968"/>
            <a:ext cx="512064" cy="512064"/>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s.png"/>
          <p:cNvPicPr>
            <a:picLocks noChangeAspect="1"/>
          </p:cNvPicPr>
          <p:nvPr/>
        </p:nvPicPr>
        <p:blipFill>
          <a:blip r:embed="rId7"/>
          <a:stretch>
            <a:fillRect/>
          </a:stretch>
        </p:blipFill>
        <p:spPr>
          <a:xfrm>
            <a:off x="8553663" y="4438863"/>
            <a:ext cx="266273" cy="266273"/>
          </a:xfrm>
          <a:prstGeom prst="rect">
            <a:avLst/>
          </a:prstGeom>
        </p:spPr>
      </p:pic>
      <p:sp>
        <p:nvSpPr>
          <p:cNvPr id="26" name="TextBox 25"/>
          <p:cNvSpPr txBox="1"/>
          <p:nvPr/>
        </p:nvSpPr>
        <p:spPr>
          <a:xfrm>
            <a:off x="9098280" y="4315968"/>
            <a:ext cx="2560320" cy="530352"/>
          </a:xfrm>
          <a:prstGeom prst="rect">
            <a:avLst/>
          </a:prstGeom>
          <a:noFill/>
        </p:spPr>
        <p:txBody>
          <a:bodyPr wrap="square" lIns="0" rIns="0" tIns="0" bIns="0" anchor="ctr">
            <a:noAutofit/>
          </a:bodyPr>
          <a:lstStyle/>
          <a:p>
            <a:pPr algn="l">
              <a:spcAft>
                <a:spcPts val="0"/>
              </a:spcAft>
            </a:pPr>
            <a:r>
              <a:rPr sz="1250" b="0" i="0" lang="es-MX">
                <a:solidFill>
                  <a:srgbClr val="FFFFFF"/>
                </a:solidFill>
                <a:latin typeface="Calibri"/>
              </a:rPr>
              <a:t>La ciudadanía, en el mejor caso, un portal de descargas</a:t>
            </a:r>
          </a:p>
        </p:txBody>
      </p:sp>
      <p:sp>
        <p:nvSpPr>
          <p:cNvPr id="27" name="Rounded Rectangle 26"/>
          <p:cNvSpPr/>
          <p:nvPr/>
        </p:nvSpPr>
        <p:spPr>
          <a:xfrm>
            <a:off x="4754880" y="5120640"/>
            <a:ext cx="6885432" cy="804672"/>
          </a:xfrm>
          <a:prstGeom prst="roundRect">
            <a:avLst>
              <a:gd name="adj" fmla="val 13636"/>
            </a:avLst>
          </a:prstGeom>
          <a:solidFill>
            <a:srgbClr val="B57BFF">
              <a:alpha val="14000"/>
            </a:srgbClr>
          </a:solidFill>
          <a:ln w="9525">
            <a:solidFill>
              <a:srgbClr val="B57BFF">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910328" y="5294376"/>
            <a:ext cx="457200" cy="457200"/>
          </a:xfrm>
          <a:prstGeom prst="ellipse">
            <a:avLst/>
          </a:prstGeom>
          <a:solidFill>
            <a:srgbClr val="FBBF24">
              <a:alpha val="20000"/>
            </a:srgbClr>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alert.png"/>
          <p:cNvPicPr>
            <a:picLocks noChangeAspect="1"/>
          </p:cNvPicPr>
          <p:nvPr/>
        </p:nvPicPr>
        <p:blipFill>
          <a:blip r:embed="rId8"/>
          <a:stretch>
            <a:fillRect/>
          </a:stretch>
        </p:blipFill>
        <p:spPr>
          <a:xfrm>
            <a:off x="5020056" y="5404104"/>
            <a:ext cx="237744" cy="237744"/>
          </a:xfrm>
          <a:prstGeom prst="rect">
            <a:avLst/>
          </a:prstGeom>
        </p:spPr>
      </p:pic>
      <p:sp>
        <p:nvSpPr>
          <p:cNvPr id="30" name="TextBox 29"/>
          <p:cNvSpPr txBox="1"/>
          <p:nvPr/>
        </p:nvSpPr>
        <p:spPr>
          <a:xfrm>
            <a:off x="5532120" y="5138928"/>
            <a:ext cx="5989320" cy="768096"/>
          </a:xfrm>
          <a:prstGeom prst="rect">
            <a:avLst/>
          </a:prstGeom>
          <a:noFill/>
        </p:spPr>
        <p:txBody>
          <a:bodyPr wrap="square" lIns="0" rIns="0" tIns="0" bIns="0" anchor="ctr">
            <a:noAutofit/>
          </a:bodyPr>
          <a:lstStyle/>
          <a:p>
            <a:pPr algn="l">
              <a:spcAft>
                <a:spcPts val="0"/>
              </a:spcAft>
            </a:pPr>
            <a:r>
              <a:rPr sz="1400" b="1" i="0" lang="es-MX">
                <a:solidFill>
                  <a:srgbClr val="FBBF24"/>
                </a:solidFill>
                <a:latin typeface="Calibri"/>
              </a:rPr>
              <a:t>Resultado: </a:t>
            </a:r>
            <a:r>
              <a:rPr sz="1400" b="0" i="0" lang="es-MX">
                <a:solidFill>
                  <a:srgbClr val="FFFFFF"/>
                </a:solidFill>
                <a:latin typeface="Calibri"/>
              </a:rPr>
              <a:t>sin análisis histórico, sin detección temprana de retrasos, sin participación ciudadana informada.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s-MX">
                <a:solidFill>
                  <a:srgbClr val="FFFFFF"/>
                </a:solidFill>
                <a:latin typeface="Calibri Light"/>
              </a:rPr>
              <a:t>Tres preguntas de investigación</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s-MX" spc="250">
                <a:solidFill>
                  <a:srgbClr val="B57BFF"/>
                </a:solidFill>
                <a:latin typeface="Calibri"/>
              </a:rPr>
              <a:t>PREGUNTAS DE INVESTIGACIÓN</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s-MX">
                <a:solidFill>
                  <a:srgbClr val="8E84AB"/>
                </a:solidFill>
                <a:latin typeface="Calibri"/>
              </a:rPr>
              <a:t>3 / 19</a:t>
            </a:r>
          </a:p>
        </p:txBody>
      </p:sp>
      <p:pic>
        <p:nvPicPr>
          <p:cNvPr id="100" name="Picture 100" descr="Embedded illustration or system screenshot"/>
          <p:cNvPicPr>
            <a:picLocks noChangeAspect="1"/>
          </p:cNvPicPr>
          <p:nvPr/>
        </p:nvPicPr>
        <p:blipFill>
          <a:blip r:embed="rId6"/>
          <a:srcRect l="0" r="66667" t="0" b="0"/>
          <a:stretch>
            <a:fillRect/>
          </a:stretch>
        </p:blipFill>
        <p:spPr>
          <a:xfrm>
            <a:off x="1285875" y="1724025"/>
            <a:ext cx="2095500" cy="2095500"/>
          </a:xfrm>
          <a:prstGeom prst="rect">
            <a:avLst/>
          </a:prstGeom>
        </p:spPr>
      </p:pic>
      <p:pic>
        <p:nvPicPr>
          <p:cNvPr id="101" name="Picture 101" descr="Embedded illustration or system screenshot"/>
          <p:cNvPicPr>
            <a:picLocks noChangeAspect="1"/>
          </p:cNvPicPr>
          <p:nvPr/>
        </p:nvPicPr>
        <p:blipFill>
          <a:blip r:embed="rId7"/>
          <a:srcRect l="33333" r="33333" t="0" b="0"/>
          <a:stretch>
            <a:fillRect/>
          </a:stretch>
        </p:blipFill>
        <p:spPr>
          <a:xfrm>
            <a:off x="5038725" y="1724025"/>
            <a:ext cx="2095500" cy="2095500"/>
          </a:xfrm>
          <a:prstGeom prst="rect">
            <a:avLst/>
          </a:prstGeom>
        </p:spPr>
      </p:pic>
      <p:pic>
        <p:nvPicPr>
          <p:cNvPr id="102" name="Picture 102" descr="Embedded illustration or system screenshot"/>
          <p:cNvPicPr>
            <a:picLocks noChangeAspect="1"/>
          </p:cNvPicPr>
          <p:nvPr/>
        </p:nvPicPr>
        <p:blipFill>
          <a:blip r:embed="rId8"/>
          <a:srcRect l="66667" r="0" t="0" b="0"/>
          <a:stretch>
            <a:fillRect/>
          </a:stretch>
        </p:blipFill>
        <p:spPr>
          <a:xfrm>
            <a:off x="8791575" y="1724025"/>
            <a:ext cx="2095500" cy="2095500"/>
          </a:xfrm>
          <a:prstGeom prst="rect">
            <a:avLst/>
          </a:prstGeom>
        </p:spPr>
      </p:pic>
      <p:sp>
        <p:nvSpPr>
          <p:cNvPr id="103" name="Visual RQ1  Trazabilidad">
            <a:extLst>
              <a:ext uri="{FF2B5EF4-FFF2-40B4-BE49-F238E27FC236}">
                <a16:creationId xmlns:a16="http://schemas.microsoft.com/office/drawing/2014/main" id="{115F5DE3-3092-4369-B9CA-2214670787A5}"/>
              </a:ext>
            </a:extLst>
          </p:cNvPr>
          <p:cNvSpPr>
            <a:spLocks noGrp="1"/>
          </p:cNvSpPr>
          <p:nvPr/>
        </p:nvSpPr>
        <p:spPr>
          <a:xfrm>
            <a:off x="666750" y="3933825"/>
            <a:ext cx="3409950" cy="342900"/>
          </a:xfrm>
          <a:prstGeom prst="rect">
            <a:avLst/>
          </a:prstGeom>
          <a:noFill/>
          <a:ln w="0">
            <a:noFill/>
          </a:ln>
        </p:spPr>
        <p:txBody>
          <a:bodyPr anchor="t">
            <a:noAutofit/>
          </a:bodyPr>
          <a:lstStyle/>
          <a:p>
            <a:pPr algn="l">
              <a:defRPr sz="1875" b="1">
                <a:solidFill>
                  <a:srgbClr val="BD8CFF"/>
                </a:solidFill>
                <a:latin typeface="Calibri"/>
                <a:ea typeface="Calibri"/>
                <a:cs typeface="Calibri"/>
              </a:defRPr>
            </a:pPr>
            <a:r>
              <a:rPr sz="1875" b="1">
                <a:solidFill>
                  <a:srgbClr val="BD8CFF"/>
                </a:solidFill>
                <a:latin typeface="Calibri"/>
                <a:ea typeface="Calibri"/>
                <a:cs typeface="Calibri"/>
              </a:rPr>
              <a:t>RQ1  Trazabilidad</a:t>
            </a:r>
          </a:p>
        </p:txBody>
      </p:sp>
      <p:sp>
        <p:nvSpPr>
          <p:cNvPr id="104" name="Visual ¿Puede un DW de bajo cost">
            <a:extLst>
              <a:ext uri="{FF2B5EF4-FFF2-40B4-BE49-F238E27FC236}">
                <a16:creationId xmlns:a16="http://schemas.microsoft.com/office/drawing/2014/main" id="{87E5DD69-5E98-48FA-B585-6189BBBF2EE2}"/>
              </a:ext>
            </a:extLst>
          </p:cNvPr>
          <p:cNvSpPr>
            <a:spLocks noGrp="1"/>
          </p:cNvSpPr>
          <p:nvPr/>
        </p:nvSpPr>
        <p:spPr>
          <a:xfrm>
            <a:off x="666750" y="4352925"/>
            <a:ext cx="3333750" cy="942975"/>
          </a:xfrm>
          <a:prstGeom prst="rect">
            <a:avLst/>
          </a:prstGeom>
          <a:noFill/>
          <a:ln w="0">
            <a:noFill/>
          </a:ln>
        </p:spPr>
        <p:txBody>
          <a:bodyPr anchor="t">
            <a:noAutofit/>
          </a:bodyPr>
          <a:lstStyle/>
          <a:p>
            <a:pPr algn="l">
              <a:defRPr sz="1650" b="0">
                <a:solidFill>
                  <a:srgbClr val="F7F4FF"/>
                </a:solidFill>
                <a:latin typeface="Calibri"/>
                <a:ea typeface="Calibri"/>
                <a:cs typeface="Calibri"/>
              </a:defRPr>
            </a:pPr>
            <a:r>
              <a:rPr sz="1650" b="0">
                <a:solidFill>
                  <a:srgbClr val="F7F4FF"/>
                </a:solidFill>
                <a:latin typeface="Calibri"/>
                <a:ea typeface="Calibri"/>
                <a:cs typeface="Calibri"/>
              </a:rPr>
              <a:t>¿Puede un DW de bajo costo conservar historia auditable a escala municipal?</a:t>
            </a:r>
          </a:p>
        </p:txBody>
      </p:sp>
      <p:sp>
        <p:nvSpPr>
          <p:cNvPr id="105" name="Visual Arquitectura con SCD, evi">
            <a:extLst>
              <a:ext uri="{FF2B5EF4-FFF2-40B4-BE49-F238E27FC236}">
                <a16:creationId xmlns:a16="http://schemas.microsoft.com/office/drawing/2014/main" id="{DF8BDED5-7455-4250-BEA2-C3DE69FCF5D8}"/>
              </a:ext>
            </a:extLst>
          </p:cNvPr>
          <p:cNvSpPr>
            <a:spLocks noGrp="1"/>
          </p:cNvSpPr>
          <p:nvPr/>
        </p:nvSpPr>
        <p:spPr>
          <a:xfrm>
            <a:off x="666750" y="5372100"/>
            <a:ext cx="3333750" cy="495300"/>
          </a:xfrm>
          <a:prstGeom prst="rect">
            <a:avLst/>
          </a:prstGeom>
          <a:noFill/>
          <a:ln w="0">
            <a:noFill/>
          </a:ln>
        </p:spPr>
        <p:txBody>
          <a:bodyPr anchor="t">
            <a:noAutofit/>
          </a:bodyPr>
          <a:lstStyle/>
          <a:p>
            <a:pPr algn="l">
              <a:defRPr sz="1275" b="0">
                <a:solidFill>
                  <a:srgbClr val="CEC4DF"/>
                </a:solidFill>
                <a:latin typeface="Calibri"/>
                <a:ea typeface="Calibri"/>
                <a:cs typeface="Calibri"/>
              </a:defRPr>
            </a:pPr>
            <a:r>
              <a:rPr sz="1275" b="0">
                <a:solidFill>
                  <a:srgbClr val="CEC4DF"/>
                </a:solidFill>
                <a:latin typeface="Calibri"/>
                <a:ea typeface="Calibri"/>
                <a:cs typeface="Calibri"/>
              </a:rPr>
              <a:t>Arquitectura con SCD, evidencia en S3 y API REST</a:t>
            </a:r>
          </a:p>
        </p:txBody>
      </p:sp>
      <p:sp>
        <p:nvSpPr>
          <p:cNvPr id="106" name="Visual RQ2  Diseño dimensional">
            <a:extLst>
              <a:ext uri="{FF2B5EF4-FFF2-40B4-BE49-F238E27FC236}">
                <a16:creationId xmlns:a16="http://schemas.microsoft.com/office/drawing/2014/main" id="{3942D244-E992-4655-87CB-5655177CE5CE}"/>
              </a:ext>
            </a:extLst>
          </p:cNvPr>
          <p:cNvSpPr>
            <a:spLocks noGrp="1"/>
          </p:cNvSpPr>
          <p:nvPr/>
        </p:nvSpPr>
        <p:spPr>
          <a:xfrm>
            <a:off x="4419600" y="3933825"/>
            <a:ext cx="3409950" cy="342900"/>
          </a:xfrm>
          <a:prstGeom prst="rect">
            <a:avLst/>
          </a:prstGeom>
          <a:noFill/>
          <a:ln w="0">
            <a:noFill/>
          </a:ln>
        </p:spPr>
        <p:txBody>
          <a:bodyPr anchor="t">
            <a:noAutofit/>
          </a:bodyPr>
          <a:lstStyle/>
          <a:p>
            <a:pPr algn="l">
              <a:defRPr sz="1875" b="1">
                <a:solidFill>
                  <a:srgbClr val="BD8CFF"/>
                </a:solidFill>
                <a:latin typeface="Calibri"/>
                <a:ea typeface="Calibri"/>
                <a:cs typeface="Calibri"/>
              </a:defRPr>
            </a:pPr>
            <a:r>
              <a:rPr sz="1875" b="1">
                <a:solidFill>
                  <a:srgbClr val="BD8CFF"/>
                </a:solidFill>
                <a:latin typeface="Calibri"/>
                <a:ea typeface="Calibri"/>
                <a:cs typeface="Calibri"/>
              </a:rPr>
              <a:t>RQ2  Diseño dimensional</a:t>
            </a:r>
          </a:p>
        </p:txBody>
      </p:sp>
      <p:sp>
        <p:nvSpPr>
          <p:cNvPr id="107" name="Visual ¿Qué grano, tipos de SCD ">
            <a:extLst>
              <a:ext uri="{FF2B5EF4-FFF2-40B4-BE49-F238E27FC236}">
                <a16:creationId xmlns:a16="http://schemas.microsoft.com/office/drawing/2014/main" id="{E346AFEB-C2C9-48E5-8B67-38F603B0308E}"/>
              </a:ext>
            </a:extLst>
          </p:cNvPr>
          <p:cNvSpPr>
            <a:spLocks noGrp="1"/>
          </p:cNvSpPr>
          <p:nvPr/>
        </p:nvSpPr>
        <p:spPr>
          <a:xfrm>
            <a:off x="4419600" y="4352925"/>
            <a:ext cx="3333750" cy="942975"/>
          </a:xfrm>
          <a:prstGeom prst="rect">
            <a:avLst/>
          </a:prstGeom>
          <a:noFill/>
          <a:ln w="0">
            <a:noFill/>
          </a:ln>
        </p:spPr>
        <p:txBody>
          <a:bodyPr anchor="t">
            <a:noAutofit/>
          </a:bodyPr>
          <a:lstStyle/>
          <a:p>
            <a:pPr algn="l">
              <a:defRPr sz="1650" b="0">
                <a:solidFill>
                  <a:srgbClr val="F7F4FF"/>
                </a:solidFill>
                <a:latin typeface="Calibri"/>
                <a:ea typeface="Calibri"/>
                <a:cs typeface="Calibri"/>
              </a:defRPr>
            </a:pPr>
            <a:r>
              <a:rPr sz="1650" b="0">
                <a:solidFill>
                  <a:srgbClr val="F7F4FF"/>
                </a:solidFill>
                <a:latin typeface="Calibri"/>
                <a:ea typeface="Calibri"/>
                <a:cs typeface="Calibri"/>
              </a:rPr>
              <a:t>¿Qué grano, tipos de SCD y vistas permiten compartir un esquema analítico?</a:t>
            </a:r>
          </a:p>
        </p:txBody>
      </p:sp>
      <p:sp>
        <p:nvSpPr>
          <p:cNvPr id="108" name="Visual Mapa para explorar relaci">
            <a:extLst>
              <a:ext uri="{FF2B5EF4-FFF2-40B4-BE49-F238E27FC236}">
                <a16:creationId xmlns:a16="http://schemas.microsoft.com/office/drawing/2014/main" id="{834FFD7C-5768-438A-BC15-A233F77ABBCB}"/>
              </a:ext>
            </a:extLst>
          </p:cNvPr>
          <p:cNvSpPr>
            <a:spLocks noGrp="1"/>
          </p:cNvSpPr>
          <p:nvPr/>
        </p:nvSpPr>
        <p:spPr>
          <a:xfrm>
            <a:off x="4419600" y="5372100"/>
            <a:ext cx="3333750" cy="495300"/>
          </a:xfrm>
          <a:prstGeom prst="rect">
            <a:avLst/>
          </a:prstGeom>
          <a:noFill/>
          <a:ln w="0">
            <a:noFill/>
          </a:ln>
        </p:spPr>
        <p:txBody>
          <a:bodyPr anchor="t">
            <a:noAutofit/>
          </a:bodyPr>
          <a:lstStyle/>
          <a:p>
            <a:pPr algn="l">
              <a:defRPr sz="1275" b="0">
                <a:solidFill>
                  <a:srgbClr val="CEC4DF"/>
                </a:solidFill>
                <a:latin typeface="Calibri"/>
                <a:ea typeface="Calibri"/>
                <a:cs typeface="Calibri"/>
              </a:defRPr>
            </a:pPr>
            <a:r>
              <a:rPr sz="1275" b="0">
                <a:solidFill>
                  <a:srgbClr val="CEC4DF"/>
                </a:solidFill>
                <a:latin typeface="Calibri"/>
                <a:ea typeface="Calibri"/>
                <a:cs typeface="Calibri"/>
              </a:rPr>
              <a:t>Mapa para explorar relaciones entre entidades</a:t>
            </a:r>
          </a:p>
        </p:txBody>
      </p:sp>
      <p:sp>
        <p:nvSpPr>
          <p:cNvPr id="109" name="Visual RQ3  Detección">
            <a:extLst>
              <a:ext uri="{FF2B5EF4-FFF2-40B4-BE49-F238E27FC236}">
                <a16:creationId xmlns:a16="http://schemas.microsoft.com/office/drawing/2014/main" id="{A8F09673-9DA7-45F1-9904-DAFE3E614380}"/>
              </a:ext>
            </a:extLst>
          </p:cNvPr>
          <p:cNvSpPr>
            <a:spLocks noGrp="1"/>
          </p:cNvSpPr>
          <p:nvPr/>
        </p:nvSpPr>
        <p:spPr>
          <a:xfrm>
            <a:off x="8172450" y="3933825"/>
            <a:ext cx="3409950" cy="342900"/>
          </a:xfrm>
          <a:prstGeom prst="rect">
            <a:avLst/>
          </a:prstGeom>
          <a:noFill/>
          <a:ln w="0">
            <a:noFill/>
          </a:ln>
        </p:spPr>
        <p:txBody>
          <a:bodyPr anchor="t">
            <a:noAutofit/>
          </a:bodyPr>
          <a:lstStyle/>
          <a:p>
            <a:pPr algn="l">
              <a:defRPr sz="1875" b="1">
                <a:solidFill>
                  <a:srgbClr val="BD8CFF"/>
                </a:solidFill>
                <a:latin typeface="Calibri"/>
                <a:ea typeface="Calibri"/>
                <a:cs typeface="Calibri"/>
              </a:defRPr>
            </a:pPr>
            <a:r>
              <a:rPr sz="1875" b="1">
                <a:solidFill>
                  <a:srgbClr val="BD8CFF"/>
                </a:solidFill>
                <a:latin typeface="Calibri"/>
                <a:ea typeface="Calibri"/>
                <a:cs typeface="Calibri"/>
              </a:rPr>
              <a:t>RQ3  Detección</a:t>
            </a:r>
          </a:p>
        </p:txBody>
      </p:sp>
      <p:sp>
        <p:nvSpPr>
          <p:cNvPr id="110" name="Visual ¿Qué anomalías recupera l">
            <a:extLst>
              <a:ext uri="{FF2B5EF4-FFF2-40B4-BE49-F238E27FC236}">
                <a16:creationId xmlns:a16="http://schemas.microsoft.com/office/drawing/2014/main" id="{E5167205-B9DF-4584-AE24-E75644547D2D}"/>
              </a:ext>
            </a:extLst>
          </p:cNvPr>
          <p:cNvSpPr>
            <a:spLocks noGrp="1"/>
          </p:cNvSpPr>
          <p:nvPr/>
        </p:nvSpPr>
        <p:spPr>
          <a:xfrm>
            <a:off x="8172450" y="4352925"/>
            <a:ext cx="3333750" cy="942975"/>
          </a:xfrm>
          <a:prstGeom prst="rect">
            <a:avLst/>
          </a:prstGeom>
          <a:noFill/>
          <a:ln w="0">
            <a:noFill/>
          </a:ln>
        </p:spPr>
        <p:txBody>
          <a:bodyPr anchor="t">
            <a:noAutofit/>
          </a:bodyPr>
          <a:lstStyle/>
          <a:p>
            <a:pPr algn="l">
              <a:defRPr sz="1650" b="0">
                <a:solidFill>
                  <a:srgbClr val="F7F4FF"/>
                </a:solidFill>
                <a:latin typeface="Calibri"/>
                <a:ea typeface="Calibri"/>
                <a:cs typeface="Calibri"/>
              </a:defRPr>
            </a:pPr>
            <a:r>
              <a:rPr sz="1650" b="0">
                <a:solidFill>
                  <a:srgbClr val="F7F4FF"/>
                </a:solidFill>
                <a:latin typeface="Calibri"/>
                <a:ea typeface="Calibri"/>
                <a:cs typeface="Calibri"/>
              </a:rPr>
              <a:t>¿Qué anomalías recupera la regla y cuáles omite frente a Isolation Forest?</a:t>
            </a:r>
          </a:p>
        </p:txBody>
      </p:sp>
      <p:sp>
        <p:nvSpPr>
          <p:cNvPr id="111" name="Visual Evaluación contra causas ">
            <a:extLst>
              <a:ext uri="{FF2B5EF4-FFF2-40B4-BE49-F238E27FC236}">
                <a16:creationId xmlns:a16="http://schemas.microsoft.com/office/drawing/2014/main" id="{546C9DC6-4B66-44F4-997B-152818C3E134}"/>
              </a:ext>
            </a:extLst>
          </p:cNvPr>
          <p:cNvSpPr>
            <a:spLocks noGrp="1"/>
          </p:cNvSpPr>
          <p:nvPr/>
        </p:nvSpPr>
        <p:spPr>
          <a:xfrm>
            <a:off x="8172450" y="5372100"/>
            <a:ext cx="3333750" cy="495300"/>
          </a:xfrm>
          <a:prstGeom prst="rect">
            <a:avLst/>
          </a:prstGeom>
          <a:noFill/>
          <a:ln w="0">
            <a:noFill/>
          </a:ln>
        </p:spPr>
        <p:txBody>
          <a:bodyPr anchor="t">
            <a:noAutofit/>
          </a:bodyPr>
          <a:lstStyle/>
          <a:p>
            <a:pPr algn="l">
              <a:defRPr sz="1275" b="0">
                <a:solidFill>
                  <a:srgbClr val="CEC4DF"/>
                </a:solidFill>
                <a:latin typeface="Calibri"/>
                <a:ea typeface="Calibri"/>
                <a:cs typeface="Calibri"/>
              </a:defRPr>
            </a:pPr>
            <a:r>
              <a:rPr sz="1275" b="0">
                <a:solidFill>
                  <a:srgbClr val="CEC4DF"/>
                </a:solidFill>
                <a:latin typeface="Calibri"/>
                <a:ea typeface="Calibri"/>
                <a:cs typeface="Calibri"/>
              </a:rPr>
              <a:t>Evaluación contra causas latentes y análisis de fallas</a:t>
            </a:r>
          </a:p>
        </p:txBody>
      </p:sp>
      <p:sp>
        <p:nvSpPr>
          <p:cNvPr id="112" name="Visual Apoyos conceptuales gener">
            <a:extLst>
              <a:ext uri="{FF2B5EF4-FFF2-40B4-BE49-F238E27FC236}">
                <a16:creationId xmlns:a16="http://schemas.microsoft.com/office/drawing/2014/main" id="{79BAC4CA-E840-4F35-BE51-B9E8EA50138A}"/>
              </a:ext>
            </a:extLst>
          </p:cNvPr>
          <p:cNvSpPr>
            <a:spLocks noGrp="1"/>
          </p:cNvSpPr>
          <p:nvPr/>
        </p:nvSpPr>
        <p:spPr>
          <a:xfrm>
            <a:off x="552450" y="5934075"/>
            <a:ext cx="7143750" cy="152400"/>
          </a:xfrm>
          <a:prstGeom prst="rect">
            <a:avLst/>
          </a:prstGeom>
          <a:noFill/>
          <a:ln w="0">
            <a:noFill/>
          </a:ln>
        </p:spPr>
        <p:txBody>
          <a:bodyPr anchor="t">
            <a:noAutofit/>
          </a:bodyPr>
          <a:lstStyle/>
          <a:p>
            <a:pPr algn="l">
              <a:defRPr sz="825" b="0">
                <a:solidFill>
                  <a:srgbClr val="CEC4DF"/>
                </a:solidFill>
                <a:latin typeface="Calibri"/>
                <a:ea typeface="Calibri"/>
                <a:cs typeface="Calibri"/>
              </a:defRPr>
            </a:pPr>
            <a:r>
              <a:rPr sz="825" b="0">
                <a:solidFill>
                  <a:srgbClr val="CEC4DF"/>
                </a:solidFill>
                <a:latin typeface="Calibri"/>
                <a:ea typeface="Calibri"/>
                <a:cs typeface="Calibri"/>
              </a:rPr>
              <a:t>Apoyos conceptuales generados con IA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s-MX">
                <a:solidFill>
                  <a:srgbClr val="FFFFFF"/>
                </a:solidFill>
                <a:latin typeface="Calibri Light"/>
              </a:rPr>
              <a:t>Dónde se ubica este trabajo</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s-MX" spc="250">
                <a:solidFill>
                  <a:srgbClr val="B57BFF"/>
                </a:solidFill>
                <a:latin typeface="Calibri"/>
              </a:rPr>
              <a:t>TRABAJO RELACIONADO</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s-MX">
                <a:solidFill>
                  <a:srgbClr val="8E84AB"/>
                </a:solidFill>
                <a:latin typeface="Calibri"/>
              </a:rPr>
              <a:t>4 / 19</a:t>
            </a:r>
          </a:p>
        </p:txBody>
      </p:sp>
      <p:sp>
        <p:nvSpPr>
          <p:cNvPr id="5" name="Oval 4"/>
          <p:cNvSpPr/>
          <p:nvPr/>
        </p:nvSpPr>
        <p:spPr>
          <a:xfrm>
            <a:off x="1188719" y="2148839"/>
            <a:ext cx="3200400" cy="3200400"/>
          </a:xfrm>
          <a:prstGeom prst="ellipse">
            <a:avLst/>
          </a:prstGeom>
          <a:solidFill>
            <a:srgbClr val="B57BFF">
              <a:alpha val="22000"/>
            </a:srgbClr>
          </a:solidFill>
          <a:ln w="19050">
            <a:solidFill>
              <a:srgbClr val="B57BFF">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200400" y="2148839"/>
            <a:ext cx="3200400" cy="3200400"/>
          </a:xfrm>
          <a:prstGeom prst="ellipse">
            <a:avLst/>
          </a:prstGeom>
          <a:solidFill>
            <a:srgbClr val="FBBF24">
              <a:alpha val="16000"/>
            </a:srgbClr>
          </a:solidFill>
          <a:ln w="19050">
            <a:solidFill>
              <a:srgbClr val="FBBF24">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325880" y="3063240"/>
            <a:ext cx="1783080" cy="1371600"/>
          </a:xfrm>
          <a:prstGeom prst="rect">
            <a:avLst/>
          </a:prstGeom>
          <a:noFill/>
        </p:spPr>
        <p:txBody>
          <a:bodyPr wrap="square" lIns="0" rIns="0" tIns="0" bIns="0" anchor="t">
            <a:noAutofit/>
          </a:bodyPr>
          <a:lstStyle/>
          <a:p>
            <a:pPr algn="l">
              <a:spcAft>
                <a:spcPts val="400"/>
              </a:spcAft>
            </a:pPr>
            <a:r>
              <a:rPr sz="1400" b="1" i="0" lang="es-MX">
                <a:solidFill>
                  <a:srgbClr val="D9C5FF"/>
                </a:solidFill>
                <a:latin typeface="Calibri"/>
              </a:rPr>
              <a:t>Auditabilidad temporal</a:t>
            </a:r>
          </a:p>
          <a:p>
            <a:pPr algn="l">
              <a:spcAft>
                <a:spcPts val="0"/>
              </a:spcAft>
            </a:pPr>
            <a:r>
              <a:rPr sz="1100" b="0" i="0" lang="es-MX">
                <a:solidFill>
                  <a:srgbClr val="DDD6EE"/>
                </a:solidFill>
                <a:latin typeface="Calibri"/>
              </a:rPr>
              <a:t>estado de cada entidad a nivel de auditoría (SCD 2)</a:t>
            </a:r>
          </a:p>
        </p:txBody>
      </p:sp>
      <p:sp>
        <p:nvSpPr>
          <p:cNvPr id="8" name="TextBox 7"/>
          <p:cNvSpPr txBox="1"/>
          <p:nvPr/>
        </p:nvSpPr>
        <p:spPr>
          <a:xfrm>
            <a:off x="4480560" y="3063240"/>
            <a:ext cx="1737360" cy="1371600"/>
          </a:xfrm>
          <a:prstGeom prst="rect">
            <a:avLst/>
          </a:prstGeom>
          <a:noFill/>
        </p:spPr>
        <p:txBody>
          <a:bodyPr wrap="square" lIns="0" rIns="0" tIns="0" bIns="0" anchor="t">
            <a:noAutofit/>
          </a:bodyPr>
          <a:lstStyle/>
          <a:p>
            <a:pPr algn="r">
              <a:spcAft>
                <a:spcPts val="400"/>
              </a:spcAft>
            </a:pPr>
            <a:r>
              <a:rPr sz="1400" b="1" i="0" lang="es-MX">
                <a:solidFill>
                  <a:srgbClr val="FBBF24"/>
                </a:solidFill>
                <a:latin typeface="Calibri"/>
              </a:rPr>
              <a:t>Vínculo con evidencia</a:t>
            </a:r>
          </a:p>
          <a:p>
            <a:pPr algn="r">
              <a:spcAft>
                <a:spcPts val="0"/>
              </a:spcAft>
            </a:pPr>
            <a:r>
              <a:rPr sz="1100" b="0" i="0" lang="es-MX">
                <a:solidFill>
                  <a:srgbClr val="DDD6EE"/>
                </a:solidFill>
                <a:latin typeface="Calibri"/>
              </a:rPr>
              <a:t>evidencia binaria de campo ↔ almacén analítico</a:t>
            </a:r>
          </a:p>
        </p:txBody>
      </p:sp>
      <p:sp>
        <p:nvSpPr>
          <p:cNvPr id="9" name="TextBox 8"/>
          <p:cNvSpPr txBox="1"/>
          <p:nvPr/>
        </p:nvSpPr>
        <p:spPr>
          <a:xfrm>
            <a:off x="3154680" y="3401568"/>
            <a:ext cx="1280160" cy="822960"/>
          </a:xfrm>
          <a:prstGeom prst="rect">
            <a:avLst/>
          </a:prstGeom>
          <a:noFill/>
        </p:spPr>
        <p:txBody>
          <a:bodyPr wrap="square" lIns="0" rIns="0" tIns="0" bIns="0" anchor="ctr">
            <a:noAutofit/>
          </a:bodyPr>
          <a:lstStyle/>
          <a:p>
            <a:pPr algn="ctr">
              <a:spcAft>
                <a:spcPts val="0"/>
              </a:spcAft>
            </a:pPr>
            <a:r>
              <a:rPr sz="1500" b="1" i="0" lang="es-MX">
                <a:solidFill>
                  <a:srgbClr val="FFFFFF"/>
                </a:solidFill>
                <a:latin typeface="Calibri"/>
              </a:rPr>
              <a:t>Este trabajo</a:t>
            </a:r>
          </a:p>
          <a:p>
            <a:pPr algn="ctr">
              <a:spcAft>
                <a:spcPts val="0"/>
              </a:spcAft>
            </a:pPr>
            <a:r>
              <a:rPr sz="1050" b="0" i="0" lang="es-MX">
                <a:solidFill>
                  <a:srgbClr val="DDD6EE"/>
                </a:solidFill>
                <a:latin typeface="Calibri"/>
              </a:rPr>
              <a:t>escala municipal</a:t>
            </a:r>
          </a:p>
        </p:txBody>
      </p:sp>
      <p:sp>
        <p:nvSpPr>
          <p:cNvPr id="10" name="TextBox 9"/>
          <p:cNvSpPr txBox="1"/>
          <p:nvPr/>
        </p:nvSpPr>
        <p:spPr>
          <a:xfrm>
            <a:off x="548640" y="5486400"/>
            <a:ext cx="6309360" cy="457200"/>
          </a:xfrm>
          <a:prstGeom prst="rect">
            <a:avLst/>
          </a:prstGeom>
          <a:noFill/>
        </p:spPr>
        <p:txBody>
          <a:bodyPr wrap="square" lIns="0" rIns="0" tIns="0" bIns="0" anchor="t">
            <a:noAutofit/>
          </a:bodyPr>
          <a:lstStyle/>
          <a:p>
            <a:pPr algn="l">
              <a:spcAft>
                <a:spcPts val="0"/>
              </a:spcAft>
            </a:pPr>
            <a:r>
              <a:rPr sz="1100" b="0" i="1" lang="es-MX">
                <a:solidFill>
                  <a:srgbClr val="ADA3C8"/>
                </a:solidFill>
                <a:latin typeface="Calibri"/>
              </a:rPr>
              <a:t>Es una posición, no una afirmación de vacío: no se hizo una revisión sistemática.</a:t>
            </a:r>
          </a:p>
        </p:txBody>
      </p:sp>
      <p:sp>
        <p:nvSpPr>
          <p:cNvPr id="11" name="Rounded Rectangle 10"/>
          <p:cNvSpPr/>
          <p:nvPr/>
        </p:nvSpPr>
        <p:spPr>
          <a:xfrm>
            <a:off x="6903720" y="1783080"/>
            <a:ext cx="4736592" cy="731520"/>
          </a:xfrm>
          <a:prstGeom prst="roundRect">
            <a:avLst>
              <a:gd name="adj" fmla="val 12500"/>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059168" y="1837943"/>
            <a:ext cx="2880359" cy="274320"/>
          </a:xfrm>
          <a:prstGeom prst="rect">
            <a:avLst/>
          </a:prstGeom>
          <a:noFill/>
        </p:spPr>
        <p:txBody>
          <a:bodyPr wrap="square" lIns="0" rIns="0" tIns="0" bIns="0" anchor="t">
            <a:noAutofit/>
          </a:bodyPr>
          <a:lstStyle/>
          <a:p>
            <a:pPr algn="l">
              <a:spcAft>
                <a:spcPts val="0"/>
              </a:spcAft>
            </a:pPr>
            <a:r>
              <a:rPr sz="1250" b="1" i="0" lang="es-MX">
                <a:solidFill>
                  <a:srgbClr val="FFFFFF"/>
                </a:solidFill>
                <a:latin typeface="Calibri"/>
              </a:rPr>
              <a:t>Grafos geoespaciales (KG)</a:t>
            </a:r>
          </a:p>
        </p:txBody>
      </p:sp>
      <p:sp>
        <p:nvSpPr>
          <p:cNvPr id="13" name="TextBox 12"/>
          <p:cNvSpPr txBox="1"/>
          <p:nvPr/>
        </p:nvSpPr>
        <p:spPr>
          <a:xfrm>
            <a:off x="10012680" y="1856231"/>
            <a:ext cx="1508760" cy="256032"/>
          </a:xfrm>
          <a:prstGeom prst="rect">
            <a:avLst/>
          </a:prstGeom>
          <a:noFill/>
        </p:spPr>
        <p:txBody>
          <a:bodyPr wrap="square" lIns="0" rIns="0" tIns="0" bIns="0" anchor="t">
            <a:noAutofit/>
          </a:bodyPr>
          <a:lstStyle/>
          <a:p>
            <a:pPr algn="r">
              <a:spcAft>
                <a:spcPts val="0"/>
              </a:spcAft>
            </a:pPr>
            <a:r>
              <a:rPr sz="900" b="0" i="0" lang="es-MX">
                <a:solidFill>
                  <a:srgbClr val="8E84AB"/>
                </a:solidFill>
                <a:latin typeface="Calibri"/>
              </a:rPr>
              <a:t>KnowWhereGraph · Zaragoza</a:t>
            </a:r>
          </a:p>
        </p:txBody>
      </p:sp>
      <p:sp>
        <p:nvSpPr>
          <p:cNvPr id="14" name="TextBox 13"/>
          <p:cNvSpPr txBox="1"/>
          <p:nvPr/>
        </p:nvSpPr>
        <p:spPr>
          <a:xfrm>
            <a:off x="7059168" y="2121408"/>
            <a:ext cx="4480560" cy="347472"/>
          </a:xfrm>
          <a:prstGeom prst="rect">
            <a:avLst/>
          </a:prstGeom>
          <a:noFill/>
        </p:spPr>
        <p:txBody>
          <a:bodyPr wrap="square" lIns="0" rIns="0" tIns="0" bIns="0" anchor="t">
            <a:noAutofit/>
          </a:bodyPr>
          <a:lstStyle/>
          <a:p>
            <a:pPr algn="l">
              <a:spcAft>
                <a:spcPts val="0"/>
              </a:spcAft>
            </a:pPr>
            <a:r>
              <a:rPr sz="1100" b="0" i="0" lang="es-MX">
                <a:solidFill>
                  <a:srgbClr val="DDD6EE"/>
                </a:solidFill>
                <a:latin typeface="Calibri"/>
              </a:rPr>
              <a:t>capa semántica formal — pero sin el registro “tal como era” en una fecha</a:t>
            </a:r>
          </a:p>
        </p:txBody>
      </p:sp>
      <p:sp>
        <p:nvSpPr>
          <p:cNvPr id="15" name="Rounded Rectangle 14"/>
          <p:cNvSpPr/>
          <p:nvPr/>
        </p:nvSpPr>
        <p:spPr>
          <a:xfrm>
            <a:off x="6903720" y="2606040"/>
            <a:ext cx="4736592" cy="731520"/>
          </a:xfrm>
          <a:prstGeom prst="roundRect">
            <a:avLst>
              <a:gd name="adj" fmla="val 12500"/>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059168" y="2660904"/>
            <a:ext cx="2313432" cy="274320"/>
          </a:xfrm>
          <a:prstGeom prst="rect">
            <a:avLst/>
          </a:prstGeom>
          <a:noFill/>
        </p:spPr>
        <p:txBody>
          <a:bodyPr wrap="square" lIns="0" rIns="0" tIns="0" bIns="0" anchor="t">
            <a:noAutofit/>
          </a:bodyPr>
          <a:lstStyle/>
          <a:p>
            <a:pPr algn="l">
              <a:spcAft>
                <a:spcPts val="0"/>
              </a:spcAft>
            </a:pPr>
            <a:r>
              <a:rPr sz="1250" b="1" i="0" lang="es-MX">
                <a:solidFill>
                  <a:srgbClr val="FFFFFF"/>
                </a:solidFill>
                <a:latin typeface="Calibri"/>
              </a:rPr>
              <a:t>OC4IDS</a:t>
            </a:r>
          </a:p>
        </p:txBody>
      </p:sp>
      <p:sp>
        <p:nvSpPr>
          <p:cNvPr id="17" name="TextBox 16"/>
          <p:cNvSpPr txBox="1"/>
          <p:nvPr/>
        </p:nvSpPr>
        <p:spPr>
          <a:xfrm>
            <a:off x="9445752" y="2679192"/>
            <a:ext cx="2075688" cy="256032"/>
          </a:xfrm>
          <a:prstGeom prst="rect">
            <a:avLst/>
          </a:prstGeom>
          <a:noFill/>
        </p:spPr>
        <p:txBody>
          <a:bodyPr wrap="square" lIns="0" rIns="0" tIns="0" bIns="0" anchor="t">
            <a:noAutofit/>
          </a:bodyPr>
          <a:lstStyle/>
          <a:p>
            <a:pPr algn="r">
              <a:spcAft>
                <a:spcPts val="0"/>
              </a:spcAft>
            </a:pPr>
            <a:r>
              <a:rPr sz="900" b="0" i="0" lang="es-MX">
                <a:solidFill>
                  <a:srgbClr val="8E84AB"/>
                </a:solidFill>
                <a:latin typeface="Calibri"/>
              </a:rPr>
              <a:t>Open Contracting Partnership · CoST</a:t>
            </a:r>
          </a:p>
        </p:txBody>
      </p:sp>
      <p:sp>
        <p:nvSpPr>
          <p:cNvPr id="18" name="TextBox 17"/>
          <p:cNvSpPr txBox="1"/>
          <p:nvPr/>
        </p:nvSpPr>
        <p:spPr>
          <a:xfrm>
            <a:off x="7059168" y="2944368"/>
            <a:ext cx="4480560" cy="347472"/>
          </a:xfrm>
          <a:prstGeom prst="rect">
            <a:avLst/>
          </a:prstGeom>
          <a:noFill/>
        </p:spPr>
        <p:txBody>
          <a:bodyPr wrap="square" lIns="0" rIns="0" tIns="0" bIns="0" anchor="t">
            <a:noAutofit/>
          </a:bodyPr>
          <a:lstStyle/>
          <a:p>
            <a:pPr algn="l">
              <a:spcAft>
                <a:spcPts val="0"/>
              </a:spcAft>
            </a:pPr>
            <a:r>
              <a:rPr sz="1100" b="0" i="0" lang="es-MX">
                <a:solidFill>
                  <a:srgbClr val="DDD6EE"/>
                </a:solidFill>
                <a:latin typeface="Calibri"/>
              </a:rPr>
              <a:t>qué publicar — no cómo un municipio pequeño lo produce e historiza</a:t>
            </a:r>
          </a:p>
        </p:txBody>
      </p:sp>
      <p:sp>
        <p:nvSpPr>
          <p:cNvPr id="19" name="Rounded Rectangle 18"/>
          <p:cNvSpPr/>
          <p:nvPr/>
        </p:nvSpPr>
        <p:spPr>
          <a:xfrm>
            <a:off x="6903720" y="3429000"/>
            <a:ext cx="4736592" cy="731520"/>
          </a:xfrm>
          <a:prstGeom prst="roundRect">
            <a:avLst>
              <a:gd name="adj" fmla="val 12500"/>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059168" y="3483864"/>
            <a:ext cx="3730752" cy="274320"/>
          </a:xfrm>
          <a:prstGeom prst="rect">
            <a:avLst/>
          </a:prstGeom>
          <a:noFill/>
        </p:spPr>
        <p:txBody>
          <a:bodyPr wrap="square" lIns="0" rIns="0" tIns="0" bIns="0" anchor="t">
            <a:noAutofit/>
          </a:bodyPr>
          <a:lstStyle/>
          <a:p>
            <a:pPr algn="l">
              <a:spcAft>
                <a:spcPts val="0"/>
              </a:spcAft>
            </a:pPr>
            <a:r>
              <a:rPr sz="1250" b="1" i="0" lang="es-MX">
                <a:solidFill>
                  <a:srgbClr val="FFFFFF"/>
                </a:solidFill>
                <a:latin typeface="Calibri"/>
              </a:rPr>
              <a:t>Lakehouse geoespacial</a:t>
            </a:r>
          </a:p>
        </p:txBody>
      </p:sp>
      <p:sp>
        <p:nvSpPr>
          <p:cNvPr id="21" name="TextBox 20"/>
          <p:cNvSpPr txBox="1"/>
          <p:nvPr/>
        </p:nvSpPr>
        <p:spPr>
          <a:xfrm>
            <a:off x="10863072" y="3502152"/>
            <a:ext cx="658368" cy="256032"/>
          </a:xfrm>
          <a:prstGeom prst="rect">
            <a:avLst/>
          </a:prstGeom>
          <a:noFill/>
        </p:spPr>
        <p:txBody>
          <a:bodyPr wrap="square" lIns="0" rIns="0" tIns="0" bIns="0" anchor="t">
            <a:noAutofit/>
          </a:bodyPr>
          <a:lstStyle/>
          <a:p>
            <a:pPr algn="r">
              <a:spcAft>
                <a:spcPts val="0"/>
              </a:spcAft>
            </a:pPr>
            <a:r>
              <a:rPr sz="900" b="0" i="0" lang="es-MX">
                <a:solidFill>
                  <a:srgbClr val="8E84AB"/>
                </a:solidFill>
                <a:latin typeface="Calibri"/>
              </a:rPr>
              <a:t>Databricks</a:t>
            </a:r>
          </a:p>
        </p:txBody>
      </p:sp>
      <p:sp>
        <p:nvSpPr>
          <p:cNvPr id="22" name="TextBox 21"/>
          <p:cNvSpPr txBox="1"/>
          <p:nvPr/>
        </p:nvSpPr>
        <p:spPr>
          <a:xfrm>
            <a:off x="7059168" y="3767328"/>
            <a:ext cx="4480560" cy="347472"/>
          </a:xfrm>
          <a:prstGeom prst="rect">
            <a:avLst/>
          </a:prstGeom>
          <a:noFill/>
        </p:spPr>
        <p:txBody>
          <a:bodyPr wrap="square" lIns="0" rIns="0" tIns="0" bIns="0" anchor="t">
            <a:noAutofit/>
          </a:bodyPr>
          <a:lstStyle/>
          <a:p>
            <a:pPr algn="l">
              <a:spcAft>
                <a:spcPts val="0"/>
              </a:spcAft>
            </a:pPr>
            <a:r>
              <a:rPr sz="1100" b="0" i="0" lang="es-MX">
                <a:solidFill>
                  <a:srgbClr val="DDD6EE"/>
                </a:solidFill>
                <a:latin typeface="Calibri"/>
              </a:rPr>
              <a:t>escala mucho mayor, con costo de plataforma empresarial</a:t>
            </a:r>
          </a:p>
        </p:txBody>
      </p:sp>
      <p:sp>
        <p:nvSpPr>
          <p:cNvPr id="23" name="Rounded Rectangle 22"/>
          <p:cNvSpPr/>
          <p:nvPr/>
        </p:nvSpPr>
        <p:spPr>
          <a:xfrm>
            <a:off x="6903720" y="4251960"/>
            <a:ext cx="4736592" cy="731520"/>
          </a:xfrm>
          <a:prstGeom prst="roundRect">
            <a:avLst>
              <a:gd name="adj" fmla="val 12500"/>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059168" y="4306824"/>
            <a:ext cx="2766974" cy="274320"/>
          </a:xfrm>
          <a:prstGeom prst="rect">
            <a:avLst/>
          </a:prstGeom>
          <a:noFill/>
        </p:spPr>
        <p:txBody>
          <a:bodyPr wrap="square" lIns="0" rIns="0" tIns="0" bIns="0" anchor="t">
            <a:noAutofit/>
          </a:bodyPr>
          <a:lstStyle/>
          <a:p>
            <a:pPr algn="l">
              <a:spcAft>
                <a:spcPts val="0"/>
              </a:spcAft>
            </a:pPr>
            <a:r>
              <a:rPr sz="1250" b="1" i="0" lang="es-MX">
                <a:solidFill>
                  <a:srgbClr val="FFFFFF"/>
                </a:solidFill>
                <a:latin typeface="Calibri"/>
              </a:rPr>
              <a:t>Portales de datos abiertos</a:t>
            </a:r>
          </a:p>
        </p:txBody>
      </p:sp>
      <p:sp>
        <p:nvSpPr>
          <p:cNvPr id="25" name="TextBox 24"/>
          <p:cNvSpPr txBox="1"/>
          <p:nvPr/>
        </p:nvSpPr>
        <p:spPr>
          <a:xfrm>
            <a:off x="9899294" y="4325112"/>
            <a:ext cx="1622145" cy="256032"/>
          </a:xfrm>
          <a:prstGeom prst="rect">
            <a:avLst/>
          </a:prstGeom>
          <a:noFill/>
        </p:spPr>
        <p:txBody>
          <a:bodyPr wrap="square" lIns="0" rIns="0" tIns="0" bIns="0" anchor="t">
            <a:noAutofit/>
          </a:bodyPr>
          <a:lstStyle/>
          <a:p>
            <a:pPr algn="r">
              <a:spcAft>
                <a:spcPts val="0"/>
              </a:spcAft>
            </a:pPr>
            <a:r>
              <a:rPr sz="900" b="0" i="0" lang="es-MX">
                <a:solidFill>
                  <a:srgbClr val="8E84AB"/>
                </a:solidFill>
                <a:latin typeface="Calibri"/>
              </a:rPr>
              <a:t>municipios latinoamericanos</a:t>
            </a:r>
          </a:p>
        </p:txBody>
      </p:sp>
      <p:sp>
        <p:nvSpPr>
          <p:cNvPr id="26" name="TextBox 25"/>
          <p:cNvSpPr txBox="1"/>
          <p:nvPr/>
        </p:nvSpPr>
        <p:spPr>
          <a:xfrm>
            <a:off x="7059168" y="4590288"/>
            <a:ext cx="4480560" cy="347472"/>
          </a:xfrm>
          <a:prstGeom prst="rect">
            <a:avLst/>
          </a:prstGeom>
          <a:noFill/>
        </p:spPr>
        <p:txBody>
          <a:bodyPr wrap="square" lIns="0" rIns="0" tIns="0" bIns="0" anchor="t">
            <a:noAutofit/>
          </a:bodyPr>
          <a:lstStyle/>
          <a:p>
            <a:pPr algn="l">
              <a:spcAft>
                <a:spcPts val="0"/>
              </a:spcAft>
            </a:pPr>
            <a:r>
              <a:rPr sz="1100" b="0" i="0" lang="es-MX">
                <a:solidFill>
                  <a:srgbClr val="DDD6EE"/>
                </a:solidFill>
                <a:latin typeface="Calibri"/>
              </a:rPr>
              <a:t>documentos referidos por URL, sin ciclo de vida gestionado</a:t>
            </a:r>
          </a:p>
        </p:txBody>
      </p:sp>
      <p:sp>
        <p:nvSpPr>
          <p:cNvPr id="27" name="Rounded Rectangle 26"/>
          <p:cNvSpPr/>
          <p:nvPr/>
        </p:nvSpPr>
        <p:spPr>
          <a:xfrm>
            <a:off x="6903720" y="5074920"/>
            <a:ext cx="4736592" cy="731520"/>
          </a:xfrm>
          <a:prstGeom prst="roundRect">
            <a:avLst>
              <a:gd name="adj" fmla="val 12500"/>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059168" y="5129783"/>
            <a:ext cx="3560673" cy="274320"/>
          </a:xfrm>
          <a:prstGeom prst="rect">
            <a:avLst/>
          </a:prstGeom>
          <a:noFill/>
        </p:spPr>
        <p:txBody>
          <a:bodyPr wrap="square" lIns="0" rIns="0" tIns="0" bIns="0" anchor="t">
            <a:noAutofit/>
          </a:bodyPr>
          <a:lstStyle/>
          <a:p>
            <a:pPr algn="l">
              <a:spcAft>
                <a:spcPts val="0"/>
              </a:spcAft>
            </a:pPr>
            <a:r>
              <a:rPr sz="1250" b="1" i="0" lang="es-MX">
                <a:solidFill>
                  <a:srgbClr val="FFFFFF"/>
                </a:solidFill>
                <a:latin typeface="Calibri"/>
              </a:rPr>
              <a:t>OLAP espacial (SOLAP)</a:t>
            </a:r>
          </a:p>
        </p:txBody>
      </p:sp>
      <p:sp>
        <p:nvSpPr>
          <p:cNvPr id="29" name="TextBox 28"/>
          <p:cNvSpPr txBox="1"/>
          <p:nvPr/>
        </p:nvSpPr>
        <p:spPr>
          <a:xfrm>
            <a:off x="10692993" y="5148072"/>
            <a:ext cx="828446" cy="256032"/>
          </a:xfrm>
          <a:prstGeom prst="rect">
            <a:avLst/>
          </a:prstGeom>
          <a:noFill/>
        </p:spPr>
        <p:txBody>
          <a:bodyPr wrap="square" lIns="0" rIns="0" tIns="0" bIns="0" anchor="t">
            <a:noAutofit/>
          </a:bodyPr>
          <a:lstStyle/>
          <a:p>
            <a:pPr algn="r">
              <a:spcAft>
                <a:spcPts val="0"/>
              </a:spcAft>
            </a:pPr>
            <a:r>
              <a:rPr sz="900" b="0" i="0" lang="es-MX">
                <a:solidFill>
                  <a:srgbClr val="8E84AB"/>
                </a:solidFill>
                <a:latin typeface="Calibri"/>
              </a:rPr>
              <a:t>Rivest et al.</a:t>
            </a:r>
          </a:p>
        </p:txBody>
      </p:sp>
      <p:sp>
        <p:nvSpPr>
          <p:cNvPr id="30" name="TextBox 29"/>
          <p:cNvSpPr txBox="1"/>
          <p:nvPr/>
        </p:nvSpPr>
        <p:spPr>
          <a:xfrm>
            <a:off x="7059168" y="5413248"/>
            <a:ext cx="4480560" cy="347472"/>
          </a:xfrm>
          <a:prstGeom prst="rect">
            <a:avLst/>
          </a:prstGeom>
          <a:noFill/>
        </p:spPr>
        <p:txBody>
          <a:bodyPr wrap="square" lIns="0" rIns="0" tIns="0" bIns="0" anchor="t">
            <a:noAutofit/>
          </a:bodyPr>
          <a:lstStyle/>
          <a:p>
            <a:pPr algn="l">
              <a:spcAft>
                <a:spcPts val="0"/>
              </a:spcAft>
            </a:pPr>
            <a:r>
              <a:rPr sz="1100" b="0" i="0" lang="es-MX">
                <a:solidFill>
                  <a:srgbClr val="DDD6EE"/>
                </a:solidFill>
                <a:latin typeface="Calibri"/>
              </a:rPr>
              <a:t>nuestro mapa es un cliente SOLAP en todo salvo el nombre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s-MX">
                <a:solidFill>
                  <a:srgbClr val="FFFFFF"/>
                </a:solidFill>
                <a:latin typeface="Calibri Light"/>
              </a:rPr>
              <a:t>Arquitectura centrada en el almacén, cuatro capas</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s-MX" spc="250">
                <a:solidFill>
                  <a:srgbClr val="B57BFF"/>
                </a:solidFill>
                <a:latin typeface="Calibri"/>
              </a:rPr>
              <a:t>ARQUITECTURA</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s-MX">
                <a:solidFill>
                  <a:srgbClr val="8E84AB"/>
                </a:solidFill>
                <a:latin typeface="Calibri"/>
              </a:rPr>
              <a:t>5 / 19</a:t>
            </a:r>
          </a:p>
        </p:txBody>
      </p:sp>
      <p:sp>
        <p:nvSpPr>
          <p:cNvPr id="5" name="Rounded Rectangle 4"/>
          <p:cNvSpPr/>
          <p:nvPr/>
        </p:nvSpPr>
        <p:spPr>
          <a:xfrm>
            <a:off x="548640" y="1755648"/>
            <a:ext cx="11091672" cy="822960"/>
          </a:xfrm>
          <a:prstGeom prst="roundRect">
            <a:avLst>
              <a:gd name="adj" fmla="val 11111"/>
            </a:avLst>
          </a:prstGeom>
          <a:solidFill>
            <a:srgbClr val="FFFFFF">
              <a:alpha val="35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1755648"/>
            <a:ext cx="1280160" cy="822960"/>
          </a:xfrm>
          <a:prstGeom prst="rect">
            <a:avLst/>
          </a:prstGeom>
          <a:noFill/>
        </p:spPr>
        <p:txBody>
          <a:bodyPr wrap="square" lIns="0" rIns="0" tIns="0" bIns="0" anchor="ctr">
            <a:noAutofit/>
          </a:bodyPr>
          <a:lstStyle/>
          <a:p>
            <a:pPr algn="l">
              <a:spcAft>
                <a:spcPts val="0"/>
              </a:spcAft>
            </a:pPr>
            <a:r>
              <a:rPr sz="1800" b="1" i="0" lang="es-MX">
                <a:solidFill>
                  <a:srgbClr val="B57BFF"/>
                </a:solidFill>
                <a:latin typeface="Calibri"/>
              </a:rPr>
              <a:t>L1</a:t>
            </a:r>
          </a:p>
          <a:p>
            <a:pPr algn="l">
              <a:spcAft>
                <a:spcPts val="0"/>
              </a:spcAft>
            </a:pPr>
            <a:r>
              <a:rPr sz="1050" b="0" i="0" lang="es-MX">
                <a:solidFill>
                  <a:srgbClr val="DDD6EE"/>
                </a:solidFill>
                <a:latin typeface="Calibri"/>
              </a:rPr>
              <a:t>Ingesta</a:t>
            </a:r>
          </a:p>
        </p:txBody>
      </p:sp>
      <p:sp>
        <p:nvSpPr>
          <p:cNvPr id="7" name="Rounded Rectangle 6"/>
          <p:cNvSpPr/>
          <p:nvPr/>
        </p:nvSpPr>
        <p:spPr>
          <a:xfrm>
            <a:off x="548640" y="2715768"/>
            <a:ext cx="11091672" cy="685800"/>
          </a:xfrm>
          <a:prstGeom prst="roundRect">
            <a:avLst>
              <a:gd name="adj" fmla="val 13333"/>
            </a:avLst>
          </a:prstGeom>
          <a:solidFill>
            <a:srgbClr val="FFFFFF">
              <a:alpha val="35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58368" y="2715768"/>
            <a:ext cx="1280160" cy="685800"/>
          </a:xfrm>
          <a:prstGeom prst="rect">
            <a:avLst/>
          </a:prstGeom>
          <a:noFill/>
        </p:spPr>
        <p:txBody>
          <a:bodyPr wrap="square" lIns="0" rIns="0" tIns="0" bIns="0" anchor="ctr">
            <a:noAutofit/>
          </a:bodyPr>
          <a:lstStyle/>
          <a:p>
            <a:pPr algn="l">
              <a:spcAft>
                <a:spcPts val="0"/>
              </a:spcAft>
            </a:pPr>
            <a:r>
              <a:rPr sz="1800" b="1" i="0" lang="es-MX">
                <a:solidFill>
                  <a:srgbClr val="B57BFF"/>
                </a:solidFill>
                <a:latin typeface="Calibri"/>
              </a:rPr>
              <a:t>L2</a:t>
            </a:r>
          </a:p>
          <a:p>
            <a:pPr algn="l">
              <a:spcAft>
                <a:spcPts val="0"/>
              </a:spcAft>
            </a:pPr>
            <a:r>
              <a:rPr sz="1050" b="0" i="0" lang="es-MX">
                <a:solidFill>
                  <a:srgbClr val="DDD6EE"/>
                </a:solidFill>
                <a:latin typeface="Calibri"/>
              </a:rPr>
              <a:t>REST API</a:t>
            </a:r>
          </a:p>
        </p:txBody>
      </p:sp>
      <p:sp>
        <p:nvSpPr>
          <p:cNvPr id="9" name="Rounded Rectangle 8"/>
          <p:cNvSpPr/>
          <p:nvPr/>
        </p:nvSpPr>
        <p:spPr>
          <a:xfrm>
            <a:off x="548640" y="3538728"/>
            <a:ext cx="11091672" cy="1234440"/>
          </a:xfrm>
          <a:prstGeom prst="roundRect">
            <a:avLst>
              <a:gd name="adj" fmla="val 7407"/>
            </a:avLst>
          </a:prstGeom>
          <a:solidFill>
            <a:srgbClr val="FFFFFF">
              <a:alpha val="35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3538728"/>
            <a:ext cx="1280160" cy="1234440"/>
          </a:xfrm>
          <a:prstGeom prst="rect">
            <a:avLst/>
          </a:prstGeom>
          <a:noFill/>
        </p:spPr>
        <p:txBody>
          <a:bodyPr wrap="square" lIns="0" rIns="0" tIns="0" bIns="0" anchor="ctr">
            <a:noAutofit/>
          </a:bodyPr>
          <a:lstStyle/>
          <a:p>
            <a:pPr algn="l">
              <a:spcAft>
                <a:spcPts val="0"/>
              </a:spcAft>
            </a:pPr>
            <a:r>
              <a:rPr sz="1800" b="1" i="0" lang="es-MX">
                <a:solidFill>
                  <a:srgbClr val="B57BFF"/>
                </a:solidFill>
                <a:latin typeface="Calibri"/>
              </a:rPr>
              <a:t>L3</a:t>
            </a:r>
          </a:p>
          <a:p>
            <a:pPr algn="l">
              <a:spcAft>
                <a:spcPts val="0"/>
              </a:spcAft>
            </a:pPr>
            <a:r>
              <a:rPr sz="1050" b="0" i="0" lang="es-MX">
                <a:solidFill>
                  <a:srgbClr val="DDD6EE"/>
                </a:solidFill>
                <a:latin typeface="Calibri"/>
              </a:rPr>
              <a:t>Almacenamiento</a:t>
            </a:r>
          </a:p>
        </p:txBody>
      </p:sp>
      <p:sp>
        <p:nvSpPr>
          <p:cNvPr id="11" name="Rounded Rectangle 10"/>
          <p:cNvSpPr/>
          <p:nvPr/>
        </p:nvSpPr>
        <p:spPr>
          <a:xfrm>
            <a:off x="548640" y="4910328"/>
            <a:ext cx="11091672" cy="1005840"/>
          </a:xfrm>
          <a:prstGeom prst="roundRect">
            <a:avLst>
              <a:gd name="adj" fmla="val 9090"/>
            </a:avLst>
          </a:prstGeom>
          <a:solidFill>
            <a:srgbClr val="FFFFFF">
              <a:alpha val="35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58368" y="4910328"/>
            <a:ext cx="1280160" cy="1005840"/>
          </a:xfrm>
          <a:prstGeom prst="rect">
            <a:avLst/>
          </a:prstGeom>
          <a:noFill/>
        </p:spPr>
        <p:txBody>
          <a:bodyPr wrap="square" lIns="0" rIns="0" tIns="0" bIns="0" anchor="ctr">
            <a:noAutofit/>
          </a:bodyPr>
          <a:lstStyle/>
          <a:p>
            <a:pPr algn="l">
              <a:spcAft>
                <a:spcPts val="0"/>
              </a:spcAft>
            </a:pPr>
            <a:r>
              <a:rPr sz="1800" b="1" i="0" lang="es-MX">
                <a:solidFill>
                  <a:srgbClr val="B57BFF"/>
                </a:solidFill>
                <a:latin typeface="Calibri"/>
              </a:rPr>
              <a:t>L4</a:t>
            </a:r>
          </a:p>
          <a:p>
            <a:pPr algn="l">
              <a:spcAft>
                <a:spcPts val="0"/>
              </a:spcAft>
            </a:pPr>
            <a:r>
              <a:rPr sz="1050" b="0" i="0" lang="es-MX">
                <a:solidFill>
                  <a:srgbClr val="DDD6EE"/>
                </a:solidFill>
                <a:latin typeface="Calibri"/>
              </a:rPr>
              <a:t>Presentación</a:t>
            </a:r>
          </a:p>
        </p:txBody>
      </p:sp>
      <p:sp>
        <p:nvSpPr>
          <p:cNvPr id="13" name="Rounded Rectangle 12"/>
          <p:cNvSpPr/>
          <p:nvPr/>
        </p:nvSpPr>
        <p:spPr>
          <a:xfrm>
            <a:off x="2057400" y="1874519"/>
            <a:ext cx="3749039" cy="585216"/>
          </a:xfrm>
          <a:prstGeom prst="roundRect">
            <a:avLst>
              <a:gd name="adj" fmla="val 15625"/>
            </a:avLst>
          </a:prstGeom>
          <a:solidFill>
            <a:srgbClr val="FFFFFF">
              <a:alpha val="8000"/>
            </a:srgbClr>
          </a:solidFill>
          <a:ln w="9525">
            <a:solidFill>
              <a:srgbClr val="D9C5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532888" y="1874519"/>
            <a:ext cx="3145535" cy="585216"/>
          </a:xfrm>
          <a:prstGeom prst="rect">
            <a:avLst/>
          </a:prstGeom>
          <a:noFill/>
        </p:spPr>
        <p:txBody>
          <a:bodyPr wrap="square" lIns="0" rIns="0" tIns="0" bIns="0" anchor="ctr">
            <a:noAutofit/>
          </a:bodyPr>
          <a:lstStyle/>
          <a:p>
            <a:pPr algn="l">
              <a:spcAft>
                <a:spcPts val="0"/>
              </a:spcAft>
            </a:pPr>
            <a:r>
              <a:rPr sz="1150" b="0" i="0" lang="es-MX">
                <a:solidFill>
                  <a:srgbClr val="FFFFFF"/>
                </a:solidFill>
                <a:latin typeface="Calibri"/>
              </a:rPr>
              <a:t>Actores: director · supervisor · secretaría · proyectista · ciudadanía</a:t>
            </a:r>
          </a:p>
        </p:txBody>
      </p:sp>
      <p:pic>
        <p:nvPicPr>
          <p:cNvPr id="15" name="Picture 14" descr="users.png"/>
          <p:cNvPicPr>
            <a:picLocks noChangeAspect="1"/>
          </p:cNvPicPr>
          <p:nvPr/>
        </p:nvPicPr>
        <p:blipFill>
          <a:blip r:embed="rId2"/>
          <a:stretch>
            <a:fillRect/>
          </a:stretch>
        </p:blipFill>
        <p:spPr>
          <a:xfrm>
            <a:off x="2185416" y="2029967"/>
            <a:ext cx="274320" cy="274320"/>
          </a:xfrm>
          <a:prstGeom prst="rect">
            <a:avLst/>
          </a:prstGeom>
        </p:spPr>
      </p:pic>
      <p:sp>
        <p:nvSpPr>
          <p:cNvPr id="16" name="Rounded Rectangle 15"/>
          <p:cNvSpPr/>
          <p:nvPr/>
        </p:nvSpPr>
        <p:spPr>
          <a:xfrm>
            <a:off x="6720840" y="1874519"/>
            <a:ext cx="4663440" cy="585216"/>
          </a:xfrm>
          <a:prstGeom prst="roundRect">
            <a:avLst>
              <a:gd name="adj" fmla="val 15625"/>
            </a:avLst>
          </a:prstGeom>
          <a:solidFill>
            <a:srgbClr val="FFFFFF">
              <a:alpha val="8000"/>
            </a:srgbClr>
          </a:solidFill>
          <a:ln w="9525">
            <a:solidFill>
              <a:srgbClr val="D9C5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848855" y="1874519"/>
            <a:ext cx="3712463" cy="585216"/>
          </a:xfrm>
          <a:prstGeom prst="rect">
            <a:avLst/>
          </a:prstGeom>
          <a:noFill/>
        </p:spPr>
        <p:txBody>
          <a:bodyPr wrap="square" lIns="0" rIns="0" tIns="0" bIns="0" anchor="ctr">
            <a:noAutofit/>
          </a:bodyPr>
          <a:lstStyle/>
          <a:p>
            <a:pPr algn="l">
              <a:spcAft>
                <a:spcPts val="0"/>
              </a:spcAft>
            </a:pPr>
            <a:r>
              <a:rPr sz="1150" b="0" i="0" lang="es-MX">
                <a:solidFill>
                  <a:srgbClr val="FFFFFF"/>
                </a:solidFill>
                <a:latin typeface="Calibri"/>
              </a:rPr>
              <a:t>Aplicación web por rol · HTML5 / CSS3 / JS</a:t>
            </a:r>
          </a:p>
        </p:txBody>
      </p:sp>
      <p:pic>
        <p:nvPicPr>
          <p:cNvPr id="18" name="Picture 17" descr="html5.png"/>
          <p:cNvPicPr>
            <a:picLocks noChangeAspect="1"/>
          </p:cNvPicPr>
          <p:nvPr/>
        </p:nvPicPr>
        <p:blipFill>
          <a:blip r:embed="rId3"/>
          <a:stretch>
            <a:fillRect/>
          </a:stretch>
        </p:blipFill>
        <p:spPr>
          <a:xfrm>
            <a:off x="10634472" y="2029967"/>
            <a:ext cx="274320" cy="274320"/>
          </a:xfrm>
          <a:prstGeom prst="rect">
            <a:avLst/>
          </a:prstGeom>
        </p:spPr>
      </p:pic>
      <p:pic>
        <p:nvPicPr>
          <p:cNvPr id="19" name="Picture 18" descr="javascript.png"/>
          <p:cNvPicPr>
            <a:picLocks noChangeAspect="1"/>
          </p:cNvPicPr>
          <p:nvPr/>
        </p:nvPicPr>
        <p:blipFill>
          <a:blip r:embed="rId4"/>
          <a:stretch>
            <a:fillRect/>
          </a:stretch>
        </p:blipFill>
        <p:spPr>
          <a:xfrm>
            <a:off x="10981944" y="2029967"/>
            <a:ext cx="274320" cy="274320"/>
          </a:xfrm>
          <a:prstGeom prst="rect">
            <a:avLst/>
          </a:prstGeom>
        </p:spPr>
      </p:pic>
      <p:cxnSp>
        <p:nvCxnSpPr>
          <p:cNvPr id="20" name="Connector 19"/>
          <p:cNvCxnSpPr/>
          <p:nvPr/>
        </p:nvCxnSpPr>
        <p:spPr>
          <a:xfrm>
            <a:off x="5806440" y="2167128"/>
            <a:ext cx="914400" cy="0"/>
          </a:xfrm>
          <a:prstGeom prst="line">
            <a:avLst/>
          </a:prstGeom>
          <a:ln w="19050">
            <a:solidFill>
              <a:srgbClr val="D9C5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057400" y="2788920"/>
            <a:ext cx="9326880" cy="539496"/>
          </a:xfrm>
          <a:prstGeom prst="roundRect">
            <a:avLst>
              <a:gd name="adj" fmla="val 16949"/>
            </a:avLst>
          </a:prstGeom>
          <a:solidFill>
            <a:srgbClr val="FFFFFF">
              <a:alpha val="8000"/>
            </a:srgbClr>
          </a:solidFill>
          <a:ln w="9525">
            <a:solidFill>
              <a:srgbClr val="D9C5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2880360" y="2788920"/>
            <a:ext cx="8375904" cy="539496"/>
          </a:xfrm>
          <a:prstGeom prst="rect">
            <a:avLst/>
          </a:prstGeom>
          <a:noFill/>
        </p:spPr>
        <p:txBody>
          <a:bodyPr wrap="square" lIns="0" rIns="0" tIns="0" bIns="0" anchor="ctr">
            <a:noAutofit/>
          </a:bodyPr>
          <a:lstStyle/>
          <a:p>
            <a:pPr algn="l">
              <a:spcAft>
                <a:spcPts val="0"/>
              </a:spcAft>
            </a:pPr>
            <a:r>
              <a:rPr sz="1150" b="1" i="0" lang="es-MX">
                <a:solidFill>
                  <a:srgbClr val="FFFFFF"/>
                </a:solidFill>
                <a:latin typeface="Calibri"/>
              </a:rPr>
              <a:t>API REST Flask / Python</a:t>
            </a:r>
            <a:r>
              <a:rPr sz="1150" b="0" i="0" lang="es-MX">
                <a:solidFill>
                  <a:srgbClr val="DDD6EE"/>
                </a:solidFill>
                <a:latin typeface="Calibri"/>
              </a:rPr>
              <a:t>  ·  9 blueprints  ·  56 rutas  ·  11 públicas de solo lectura  ·  verificación de rol + token de sesión firmado</a:t>
            </a:r>
          </a:p>
        </p:txBody>
      </p:sp>
      <p:pic>
        <p:nvPicPr>
          <p:cNvPr id="23" name="Picture 22" descr="flask.png"/>
          <p:cNvPicPr>
            <a:picLocks noChangeAspect="1"/>
          </p:cNvPicPr>
          <p:nvPr/>
        </p:nvPicPr>
        <p:blipFill>
          <a:blip r:embed="rId5"/>
          <a:stretch>
            <a:fillRect/>
          </a:stretch>
        </p:blipFill>
        <p:spPr>
          <a:xfrm>
            <a:off x="2185416" y="2921508"/>
            <a:ext cx="274320" cy="274320"/>
          </a:xfrm>
          <a:prstGeom prst="rect">
            <a:avLst/>
          </a:prstGeom>
        </p:spPr>
      </p:pic>
      <p:pic>
        <p:nvPicPr>
          <p:cNvPr id="24" name="Picture 23" descr="python.png"/>
          <p:cNvPicPr>
            <a:picLocks noChangeAspect="1"/>
          </p:cNvPicPr>
          <p:nvPr/>
        </p:nvPicPr>
        <p:blipFill>
          <a:blip r:embed="rId6"/>
          <a:stretch>
            <a:fillRect/>
          </a:stretch>
        </p:blipFill>
        <p:spPr>
          <a:xfrm>
            <a:off x="2532888" y="2921508"/>
            <a:ext cx="274320" cy="274320"/>
          </a:xfrm>
          <a:prstGeom prst="rect">
            <a:avLst/>
          </a:prstGeom>
        </p:spPr>
      </p:pic>
      <p:cxnSp>
        <p:nvCxnSpPr>
          <p:cNvPr id="25" name="Connector 24"/>
          <p:cNvCxnSpPr/>
          <p:nvPr/>
        </p:nvCxnSpPr>
        <p:spPr>
          <a:xfrm>
            <a:off x="9052560" y="2459736"/>
            <a:ext cx="0" cy="329184"/>
          </a:xfrm>
          <a:prstGeom prst="line">
            <a:avLst/>
          </a:prstGeom>
          <a:ln w="19050">
            <a:solidFill>
              <a:srgbClr val="D9C5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2057400" y="3840480"/>
            <a:ext cx="2194560" cy="594360"/>
          </a:xfrm>
          <a:prstGeom prst="roundRect">
            <a:avLst>
              <a:gd name="adj" fmla="val 15384"/>
            </a:avLst>
          </a:prstGeom>
          <a:solidFill>
            <a:srgbClr val="FFFFFF">
              <a:alpha val="8000"/>
            </a:srgbClr>
          </a:solidFill>
          <a:ln w="9525">
            <a:solidFill>
              <a:srgbClr val="D9C5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2185416" y="3840480"/>
            <a:ext cx="1938528" cy="594360"/>
          </a:xfrm>
          <a:prstGeom prst="rect">
            <a:avLst/>
          </a:prstGeom>
          <a:noFill/>
        </p:spPr>
        <p:txBody>
          <a:bodyPr wrap="square" lIns="0" rIns="0" tIns="0" bIns="0" anchor="ctr">
            <a:noAutofit/>
          </a:bodyPr>
          <a:lstStyle/>
          <a:p>
            <a:pPr algn="l">
              <a:spcAft>
                <a:spcPts val="0"/>
              </a:spcAft>
            </a:pPr>
            <a:r>
              <a:rPr sz="1150" b="0" i="0" lang="es-MX">
                <a:solidFill>
                  <a:srgbClr val="FFFFFF"/>
                </a:solidFill>
                <a:latin typeface="Calibri"/>
              </a:rPr>
              <a:t>Esquema operacional (OLTP)</a:t>
            </a:r>
          </a:p>
        </p:txBody>
      </p:sp>
      <p:sp>
        <p:nvSpPr>
          <p:cNvPr id="28" name="Rounded Rectangle 27"/>
          <p:cNvSpPr/>
          <p:nvPr/>
        </p:nvSpPr>
        <p:spPr>
          <a:xfrm>
            <a:off x="5257800" y="3657600"/>
            <a:ext cx="2697480" cy="987552"/>
          </a:xfrm>
          <a:prstGeom prst="roundRect">
            <a:avLst>
              <a:gd name="adj" fmla="val 9259"/>
            </a:avLst>
          </a:prstGeom>
          <a:solidFill>
            <a:srgbClr val="B57BFF">
              <a:alpha val="20000"/>
            </a:srgbClr>
          </a:solidFill>
          <a:ln w="9525">
            <a:solidFill>
              <a:srgbClr val="B57BFF">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385816" y="3657600"/>
            <a:ext cx="1709928" cy="987552"/>
          </a:xfrm>
          <a:prstGeom prst="rect">
            <a:avLst/>
          </a:prstGeom>
          <a:noFill/>
        </p:spPr>
        <p:txBody>
          <a:bodyPr wrap="square" lIns="0" rIns="0" tIns="0" bIns="0" anchor="ctr">
            <a:noAutofit/>
          </a:bodyPr>
          <a:lstStyle/>
          <a:p>
            <a:pPr algn="l">
              <a:spcAft>
                <a:spcPts val="200"/>
              </a:spcAft>
            </a:pPr>
            <a:r>
              <a:rPr sz="1300" b="1" i="0" lang="es-MX">
                <a:solidFill>
                  <a:srgbClr val="FFFFFF"/>
                </a:solidFill>
                <a:latin typeface="Calibri"/>
              </a:rPr>
              <a:t>Data Warehouse</a:t>
            </a:r>
          </a:p>
          <a:p>
            <a:pPr algn="l">
              <a:spcAft>
                <a:spcPts val="0"/>
              </a:spcAft>
            </a:pPr>
            <a:r>
              <a:rPr sz="1100" b="0" i="0" lang="es-MX">
                <a:solidFill>
                  <a:srgbClr val="DDD6EE"/>
                </a:solidFill>
                <a:latin typeface="Calibri"/>
              </a:rPr>
              <a:t>10 dims · 2 hechos · 6 vistas</a:t>
            </a:r>
          </a:p>
        </p:txBody>
      </p:sp>
      <p:pic>
        <p:nvPicPr>
          <p:cNvPr id="30" name="Picture 29" descr="postgresql.png"/>
          <p:cNvPicPr>
            <a:picLocks noChangeAspect="1"/>
          </p:cNvPicPr>
          <p:nvPr/>
        </p:nvPicPr>
        <p:blipFill>
          <a:blip r:embed="rId7"/>
          <a:stretch>
            <a:fillRect/>
          </a:stretch>
        </p:blipFill>
        <p:spPr>
          <a:xfrm>
            <a:off x="7168895" y="4005072"/>
            <a:ext cx="292608" cy="292608"/>
          </a:xfrm>
          <a:prstGeom prst="rect">
            <a:avLst/>
          </a:prstGeom>
        </p:spPr>
      </p:pic>
      <p:pic>
        <p:nvPicPr>
          <p:cNvPr id="31" name="Picture 30" descr="supabase.png"/>
          <p:cNvPicPr>
            <a:picLocks noChangeAspect="1"/>
          </p:cNvPicPr>
          <p:nvPr/>
        </p:nvPicPr>
        <p:blipFill>
          <a:blip r:embed="rId8"/>
          <a:stretch>
            <a:fillRect/>
          </a:stretch>
        </p:blipFill>
        <p:spPr>
          <a:xfrm>
            <a:off x="7534655" y="4005072"/>
            <a:ext cx="292608" cy="292608"/>
          </a:xfrm>
          <a:prstGeom prst="rect">
            <a:avLst/>
          </a:prstGeom>
        </p:spPr>
      </p:pic>
      <p:sp>
        <p:nvSpPr>
          <p:cNvPr id="32" name="Rounded Rectangle 31"/>
          <p:cNvSpPr/>
          <p:nvPr/>
        </p:nvSpPr>
        <p:spPr>
          <a:xfrm>
            <a:off x="8595360" y="3749039"/>
            <a:ext cx="1847088" cy="777240"/>
          </a:xfrm>
          <a:prstGeom prst="roundRect">
            <a:avLst>
              <a:gd name="adj" fmla="val 11764"/>
            </a:avLst>
          </a:prstGeom>
          <a:solidFill>
            <a:srgbClr val="FBBF24">
              <a:alpha val="10000"/>
            </a:srgbClr>
          </a:solidFill>
          <a:ln w="9525">
            <a:solidFill>
              <a:srgbClr val="FBBF24">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686800" y="3749039"/>
            <a:ext cx="1316736" cy="777240"/>
          </a:xfrm>
          <a:prstGeom prst="rect">
            <a:avLst/>
          </a:prstGeom>
          <a:noFill/>
        </p:spPr>
        <p:txBody>
          <a:bodyPr wrap="square" lIns="0" rIns="0" tIns="0" bIns="0" anchor="ctr">
            <a:noAutofit/>
          </a:bodyPr>
          <a:lstStyle/>
          <a:p>
            <a:pPr algn="l">
              <a:spcAft>
                <a:spcPts val="0"/>
              </a:spcAft>
            </a:pPr>
            <a:r>
              <a:rPr sz="1150" b="1" i="0" lang="es-MX">
                <a:solidFill>
                  <a:srgbClr val="FFFFFF"/>
                </a:solidFill>
                <a:latin typeface="Calibri"/>
              </a:rPr>
              <a:t>Almacén de objetos</a:t>
            </a:r>
          </a:p>
          <a:p>
            <a:pPr algn="l">
              <a:spcAft>
                <a:spcPts val="0"/>
              </a:spcAft>
            </a:pPr>
            <a:r>
              <a:rPr sz="1000" b="0" i="0" lang="es-MX">
                <a:solidFill>
                  <a:srgbClr val="DDD6EE"/>
                </a:solidFill>
                <a:latin typeface="Calibri"/>
              </a:rPr>
              <a:t>Cloudflare R2 · evidencia binaria</a:t>
            </a:r>
          </a:p>
        </p:txBody>
      </p:sp>
      <p:pic>
        <p:nvPicPr>
          <p:cNvPr id="34" name="Picture 33" descr="cloudflare.png"/>
          <p:cNvPicPr>
            <a:picLocks noChangeAspect="1"/>
          </p:cNvPicPr>
          <p:nvPr/>
        </p:nvPicPr>
        <p:blipFill>
          <a:blip r:embed="rId9"/>
          <a:stretch>
            <a:fillRect/>
          </a:stretch>
        </p:blipFill>
        <p:spPr>
          <a:xfrm>
            <a:off x="10076688" y="4000500"/>
            <a:ext cx="274320" cy="274320"/>
          </a:xfrm>
          <a:prstGeom prst="rect">
            <a:avLst/>
          </a:prstGeom>
        </p:spPr>
      </p:pic>
      <p:cxnSp>
        <p:nvCxnSpPr>
          <p:cNvPr id="35" name="Connector 34"/>
          <p:cNvCxnSpPr/>
          <p:nvPr/>
        </p:nvCxnSpPr>
        <p:spPr>
          <a:xfrm>
            <a:off x="3154680" y="3328416"/>
            <a:ext cx="0" cy="512064"/>
          </a:xfrm>
          <a:prstGeom prst="line">
            <a:avLst/>
          </a:prstGeom>
          <a:ln w="19050">
            <a:solidFill>
              <a:srgbClr val="D9C5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246120" y="3401568"/>
            <a:ext cx="1371600" cy="274320"/>
          </a:xfrm>
          <a:prstGeom prst="rect">
            <a:avLst/>
          </a:prstGeom>
          <a:noFill/>
        </p:spPr>
        <p:txBody>
          <a:bodyPr wrap="square" lIns="0" rIns="0" tIns="0" bIns="0" anchor="t">
            <a:noAutofit/>
          </a:bodyPr>
          <a:lstStyle/>
          <a:p>
            <a:pPr algn="l">
              <a:spcAft>
                <a:spcPts val="0"/>
              </a:spcAft>
            </a:pPr>
            <a:r>
              <a:rPr sz="850" b="0" i="0" lang="es-MX">
                <a:solidFill>
                  <a:srgbClr val="ADA3C8"/>
                </a:solidFill>
                <a:latin typeface="Calibri"/>
              </a:rPr>
              <a:t>INSERT / UPDATE</a:t>
            </a:r>
          </a:p>
        </p:txBody>
      </p:sp>
      <p:cxnSp>
        <p:nvCxnSpPr>
          <p:cNvPr id="37" name="Connector 36"/>
          <p:cNvCxnSpPr/>
          <p:nvPr/>
        </p:nvCxnSpPr>
        <p:spPr>
          <a:xfrm>
            <a:off x="9518904" y="3328416"/>
            <a:ext cx="0" cy="420623"/>
          </a:xfrm>
          <a:prstGeom prst="line">
            <a:avLst/>
          </a:prstGeom>
          <a:ln w="19050">
            <a:solidFill>
              <a:srgbClr val="FBBF24"/>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601200" y="3401568"/>
            <a:ext cx="1188720" cy="274320"/>
          </a:xfrm>
          <a:prstGeom prst="rect">
            <a:avLst/>
          </a:prstGeom>
          <a:noFill/>
        </p:spPr>
        <p:txBody>
          <a:bodyPr wrap="square" lIns="0" rIns="0" tIns="0" bIns="0" anchor="t">
            <a:noAutofit/>
          </a:bodyPr>
          <a:lstStyle/>
          <a:p>
            <a:pPr algn="l">
              <a:spcAft>
                <a:spcPts val="0"/>
              </a:spcAft>
            </a:pPr>
            <a:r>
              <a:rPr sz="850" b="0" i="0" lang="es-MX">
                <a:solidFill>
                  <a:srgbClr val="FBBF24"/>
                </a:solidFill>
                <a:latin typeface="Calibri"/>
              </a:rPr>
              <a:t>S3 PutObject</a:t>
            </a:r>
          </a:p>
        </p:txBody>
      </p:sp>
      <p:cxnSp>
        <p:nvCxnSpPr>
          <p:cNvPr id="39" name="Connector 38"/>
          <p:cNvCxnSpPr/>
          <p:nvPr/>
        </p:nvCxnSpPr>
        <p:spPr>
          <a:xfrm>
            <a:off x="4251960" y="4142232"/>
            <a:ext cx="1005840" cy="0"/>
          </a:xfrm>
          <a:prstGeom prst="line">
            <a:avLst/>
          </a:prstGeom>
          <a:ln w="19050">
            <a:solidFill>
              <a:srgbClr val="D9C5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261104" y="3767328"/>
            <a:ext cx="987552" cy="365760"/>
          </a:xfrm>
          <a:prstGeom prst="rect">
            <a:avLst/>
          </a:prstGeom>
          <a:noFill/>
        </p:spPr>
        <p:txBody>
          <a:bodyPr wrap="square" lIns="0" rIns="0" tIns="0" bIns="0" anchor="t">
            <a:noAutofit/>
          </a:bodyPr>
          <a:lstStyle/>
          <a:p>
            <a:pPr algn="ctr">
              <a:lnSpc>
                <a:spcPct val="90000"/>
              </a:lnSpc>
              <a:spcAft>
                <a:spcPts val="0"/>
              </a:spcAft>
            </a:pPr>
            <a:r>
              <a:rPr sz="850" b="0" i="0" lang="es-MX">
                <a:solidFill>
                  <a:srgbClr val="ADA3C8"/>
                </a:solidFill>
                <a:latin typeface="Calibri"/>
              </a:rPr>
              <a:t>triggers</a:t>
            </a:r>
          </a:p>
          <a:p>
            <a:pPr algn="ctr">
              <a:lnSpc>
                <a:spcPct val="90000"/>
              </a:lnSpc>
              <a:spcAft>
                <a:spcPts val="0"/>
              </a:spcAft>
            </a:pPr>
            <a:r>
              <a:rPr sz="850" b="0" i="0" lang="es-MX">
                <a:solidFill>
                  <a:srgbClr val="ADA3C8"/>
                </a:solidFill>
                <a:latin typeface="Calibri"/>
              </a:rPr>
              <a:t>(SCD 2)</a:t>
            </a:r>
          </a:p>
        </p:txBody>
      </p:sp>
      <p:sp>
        <p:nvSpPr>
          <p:cNvPr id="41" name="Rounded Rectangle 40"/>
          <p:cNvSpPr/>
          <p:nvPr/>
        </p:nvSpPr>
        <p:spPr>
          <a:xfrm>
            <a:off x="2057400" y="5074920"/>
            <a:ext cx="2377440" cy="658368"/>
          </a:xfrm>
          <a:prstGeom prst="roundRect">
            <a:avLst>
              <a:gd name="adj" fmla="val 13888"/>
            </a:avLst>
          </a:prstGeom>
          <a:solidFill>
            <a:srgbClr val="FFFFFF">
              <a:alpha val="8000"/>
            </a:srgbClr>
          </a:solidFill>
          <a:ln w="9525">
            <a:solidFill>
              <a:srgbClr val="D9C5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2185416" y="5074920"/>
            <a:ext cx="2121408" cy="658368"/>
          </a:xfrm>
          <a:prstGeom prst="rect">
            <a:avLst/>
          </a:prstGeom>
          <a:noFill/>
        </p:spPr>
        <p:txBody>
          <a:bodyPr wrap="square" lIns="0" rIns="0" tIns="0" bIns="0" anchor="ctr">
            <a:noAutofit/>
          </a:bodyPr>
          <a:lstStyle/>
          <a:p>
            <a:pPr algn="l">
              <a:spcAft>
                <a:spcPts val="0"/>
              </a:spcAft>
            </a:pPr>
            <a:r>
              <a:rPr sz="1150" b="0" i="0" lang="es-MX">
                <a:solidFill>
                  <a:srgbClr val="FFFFFF"/>
                </a:solidFill>
                <a:latin typeface="Calibri"/>
              </a:rPr>
              <a:t>Vistas OLAP · SQL ad hoc</a:t>
            </a:r>
          </a:p>
        </p:txBody>
      </p:sp>
      <p:sp>
        <p:nvSpPr>
          <p:cNvPr id="43" name="Rounded Rectangle 42"/>
          <p:cNvSpPr/>
          <p:nvPr/>
        </p:nvSpPr>
        <p:spPr>
          <a:xfrm>
            <a:off x="4892040" y="5074920"/>
            <a:ext cx="3063240" cy="658368"/>
          </a:xfrm>
          <a:prstGeom prst="roundRect">
            <a:avLst>
              <a:gd name="adj" fmla="val 13888"/>
            </a:avLst>
          </a:prstGeom>
          <a:solidFill>
            <a:srgbClr val="FFFFFF">
              <a:alpha val="8000"/>
            </a:srgbClr>
          </a:solidFill>
          <a:ln w="9525">
            <a:solidFill>
              <a:srgbClr val="D9C5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5020055" y="5074920"/>
            <a:ext cx="2807208" cy="658368"/>
          </a:xfrm>
          <a:prstGeom prst="rect">
            <a:avLst/>
          </a:prstGeom>
          <a:noFill/>
        </p:spPr>
        <p:txBody>
          <a:bodyPr wrap="square" lIns="0" rIns="0" tIns="0" bIns="0" anchor="ctr">
            <a:noAutofit/>
          </a:bodyPr>
          <a:lstStyle/>
          <a:p>
            <a:pPr algn="l">
              <a:spcAft>
                <a:spcPts val="0"/>
              </a:spcAft>
            </a:pPr>
            <a:r>
              <a:rPr sz="1150" b="1" i="0" lang="es-MX">
                <a:solidFill>
                  <a:srgbClr val="FFFFFF"/>
                </a:solidFill>
                <a:latin typeface="Calibri"/>
              </a:rPr>
              <a:t>Módulo de detección</a:t>
            </a:r>
          </a:p>
          <a:p>
            <a:pPr algn="l">
              <a:spcAft>
                <a:spcPts val="0"/>
              </a:spcAft>
            </a:pPr>
            <a:r>
              <a:rPr sz="1000" b="0" i="0" lang="es-MX">
                <a:solidFill>
                  <a:srgbClr val="DDD6EE"/>
                </a:solidFill>
                <a:latin typeface="Calibri"/>
              </a:rPr>
              <a:t>reglas de retraso y alerta · C1–C3</a:t>
            </a:r>
          </a:p>
        </p:txBody>
      </p:sp>
      <p:sp>
        <p:nvSpPr>
          <p:cNvPr id="45" name="Rounded Rectangle 44"/>
          <p:cNvSpPr/>
          <p:nvPr/>
        </p:nvSpPr>
        <p:spPr>
          <a:xfrm>
            <a:off x="8595360" y="5074920"/>
            <a:ext cx="2788920" cy="658368"/>
          </a:xfrm>
          <a:prstGeom prst="roundRect">
            <a:avLst>
              <a:gd name="adj" fmla="val 13888"/>
            </a:avLst>
          </a:prstGeom>
          <a:solidFill>
            <a:srgbClr val="FFFFFF">
              <a:alpha val="8000"/>
            </a:srgbClr>
          </a:solidFill>
          <a:ln w="9525">
            <a:solidFill>
              <a:srgbClr val="D9C5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723376" y="5074920"/>
            <a:ext cx="1837943" cy="658368"/>
          </a:xfrm>
          <a:prstGeom prst="rect">
            <a:avLst/>
          </a:prstGeom>
          <a:noFill/>
        </p:spPr>
        <p:txBody>
          <a:bodyPr wrap="square" lIns="0" rIns="0" tIns="0" bIns="0" anchor="ctr">
            <a:noAutofit/>
          </a:bodyPr>
          <a:lstStyle/>
          <a:p>
            <a:pPr algn="l">
              <a:spcAft>
                <a:spcPts val="0"/>
              </a:spcAft>
            </a:pPr>
            <a:r>
              <a:rPr sz="1150" b="1" i="0" lang="es-MX">
                <a:solidFill>
                  <a:srgbClr val="FFFFFF"/>
                </a:solidFill>
                <a:latin typeface="Calibri"/>
              </a:rPr>
              <a:t>Visor geoespacial</a:t>
            </a:r>
          </a:p>
          <a:p>
            <a:pPr algn="l">
              <a:spcAft>
                <a:spcPts val="0"/>
              </a:spcAft>
            </a:pPr>
            <a:r>
              <a:rPr sz="1000" b="0" i="0" lang="es-MX">
                <a:solidFill>
                  <a:srgbClr val="DDD6EE"/>
                </a:solidFill>
                <a:latin typeface="Calibri"/>
              </a:rPr>
              <a:t>publicado con el artefacto</a:t>
            </a:r>
          </a:p>
        </p:txBody>
      </p:sp>
      <p:pic>
        <p:nvPicPr>
          <p:cNvPr id="47" name="Picture 46" descr="leaflet.png"/>
          <p:cNvPicPr>
            <a:picLocks noChangeAspect="1"/>
          </p:cNvPicPr>
          <p:nvPr/>
        </p:nvPicPr>
        <p:blipFill>
          <a:blip r:embed="rId10"/>
          <a:stretch>
            <a:fillRect/>
          </a:stretch>
        </p:blipFill>
        <p:spPr>
          <a:xfrm>
            <a:off x="10634472" y="5266944"/>
            <a:ext cx="274320" cy="274320"/>
          </a:xfrm>
          <a:prstGeom prst="rect">
            <a:avLst/>
          </a:prstGeom>
        </p:spPr>
      </p:pic>
      <p:pic>
        <p:nvPicPr>
          <p:cNvPr id="48" name="Picture 47" descr="osm.png"/>
          <p:cNvPicPr>
            <a:picLocks noChangeAspect="1"/>
          </p:cNvPicPr>
          <p:nvPr/>
        </p:nvPicPr>
        <p:blipFill>
          <a:blip r:embed="rId11"/>
          <a:stretch>
            <a:fillRect/>
          </a:stretch>
        </p:blipFill>
        <p:spPr>
          <a:xfrm>
            <a:off x="10981944" y="5266944"/>
            <a:ext cx="274320" cy="274320"/>
          </a:xfrm>
          <a:prstGeom prst="rect">
            <a:avLst/>
          </a:prstGeom>
        </p:spPr>
      </p:pic>
      <p:cxnSp>
        <p:nvCxnSpPr>
          <p:cNvPr id="49" name="Connector 48"/>
          <p:cNvCxnSpPr/>
          <p:nvPr/>
        </p:nvCxnSpPr>
        <p:spPr>
          <a:xfrm flipH="1">
            <a:off x="3931920" y="4645152"/>
            <a:ext cx="1554480" cy="429768"/>
          </a:xfrm>
          <a:prstGeom prst="line">
            <a:avLst/>
          </a:prstGeom>
          <a:ln w="19050">
            <a:solidFill>
              <a:srgbClr val="D9C5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419088" y="4645152"/>
            <a:ext cx="0" cy="429768"/>
          </a:xfrm>
          <a:prstGeom prst="line">
            <a:avLst/>
          </a:prstGeom>
          <a:ln w="19050">
            <a:solidFill>
              <a:srgbClr val="D9C5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9518904" y="4526280"/>
            <a:ext cx="0" cy="548640"/>
          </a:xfrm>
          <a:prstGeom prst="line">
            <a:avLst/>
          </a:prstGeom>
          <a:ln w="19050">
            <a:solidFill>
              <a:srgbClr val="FBBF24"/>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9601200" y="4645152"/>
            <a:ext cx="1097280" cy="274320"/>
          </a:xfrm>
          <a:prstGeom prst="rect">
            <a:avLst/>
          </a:prstGeom>
          <a:noFill/>
        </p:spPr>
        <p:txBody>
          <a:bodyPr wrap="square" lIns="0" rIns="0" tIns="0" bIns="0" anchor="t">
            <a:noAutofit/>
          </a:bodyPr>
          <a:lstStyle/>
          <a:p>
            <a:pPr algn="l">
              <a:spcAft>
                <a:spcPts val="0"/>
              </a:spcAft>
            </a:pPr>
            <a:r>
              <a:rPr sz="850" b="0" i="0" lang="es-MX">
                <a:solidFill>
                  <a:srgbClr val="FBBF24"/>
                </a:solidFill>
                <a:latin typeface="Calibri"/>
              </a:rPr>
              <a:t>URL de evidencia</a:t>
            </a:r>
          </a:p>
        </p:txBody>
      </p:sp>
      <p:cxnSp>
        <p:nvCxnSpPr>
          <p:cNvPr id="53" name="Connector 52"/>
          <p:cNvCxnSpPr/>
          <p:nvPr/>
        </p:nvCxnSpPr>
        <p:spPr>
          <a:xfrm>
            <a:off x="11247120" y="3328416"/>
            <a:ext cx="0" cy="1746504"/>
          </a:xfrm>
          <a:prstGeom prst="line">
            <a:avLst/>
          </a:prstGeom>
          <a:ln w="19050">
            <a:solidFill>
              <a:srgbClr val="D9C5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0469880" y="3840480"/>
            <a:ext cx="685800" cy="548640"/>
          </a:xfrm>
          <a:prstGeom prst="rect">
            <a:avLst/>
          </a:prstGeom>
          <a:noFill/>
        </p:spPr>
        <p:txBody>
          <a:bodyPr wrap="square" lIns="0" rIns="0" tIns="0" bIns="0" anchor="t">
            <a:noAutofit/>
          </a:bodyPr>
          <a:lstStyle/>
          <a:p>
            <a:pPr algn="r">
              <a:spcAft>
                <a:spcPts val="0"/>
              </a:spcAft>
            </a:pPr>
            <a:r>
              <a:rPr sz="850" b="0" i="0" lang="es-MX">
                <a:solidFill>
                  <a:srgbClr val="ADA3C8"/>
                </a:solidFill>
                <a:latin typeface="Calibri"/>
              </a:rPr>
              <a:t>lecturas públicas</a:t>
            </a:r>
          </a:p>
        </p:txBody>
      </p:sp>
      <p:cxnSp>
        <p:nvCxnSpPr>
          <p:cNvPr id="55" name="Connector 54"/>
          <p:cNvCxnSpPr/>
          <p:nvPr/>
        </p:nvCxnSpPr>
        <p:spPr>
          <a:xfrm>
            <a:off x="594360" y="6181344"/>
            <a:ext cx="320040" cy="0"/>
          </a:xfrm>
          <a:prstGeom prst="line">
            <a:avLst/>
          </a:prstGeom>
          <a:ln w="19050">
            <a:solidFill>
              <a:srgbClr val="D9C5FF"/>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978408" y="6053328"/>
            <a:ext cx="1463040" cy="256032"/>
          </a:xfrm>
          <a:prstGeom prst="rect">
            <a:avLst/>
          </a:prstGeom>
          <a:noFill/>
        </p:spPr>
        <p:txBody>
          <a:bodyPr wrap="square" lIns="0" rIns="0" tIns="0" bIns="0" anchor="t">
            <a:noAutofit/>
          </a:bodyPr>
          <a:lstStyle/>
          <a:p>
            <a:pPr algn="l">
              <a:spcAft>
                <a:spcPts val="0"/>
              </a:spcAft>
            </a:pPr>
            <a:r>
              <a:rPr sz="950" b="0" i="0" lang="es-MX">
                <a:solidFill>
                  <a:srgbClr val="DDD6EE"/>
                </a:solidFill>
                <a:latin typeface="Calibri"/>
              </a:rPr>
              <a:t>datos estructurados</a:t>
            </a:r>
          </a:p>
        </p:txBody>
      </p:sp>
      <p:cxnSp>
        <p:nvCxnSpPr>
          <p:cNvPr id="57" name="Connector 56"/>
          <p:cNvCxnSpPr/>
          <p:nvPr/>
        </p:nvCxnSpPr>
        <p:spPr>
          <a:xfrm>
            <a:off x="2423160" y="6181344"/>
            <a:ext cx="320040" cy="0"/>
          </a:xfrm>
          <a:prstGeom prst="line">
            <a:avLst/>
          </a:prstGeom>
          <a:ln w="19050">
            <a:solidFill>
              <a:srgbClr val="FBBF24"/>
            </a:solidFill>
            <a:prstDash val="dash"/>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2807208" y="6053328"/>
            <a:ext cx="1554480" cy="256032"/>
          </a:xfrm>
          <a:prstGeom prst="rect">
            <a:avLst/>
          </a:prstGeom>
          <a:noFill/>
        </p:spPr>
        <p:txBody>
          <a:bodyPr wrap="square" lIns="0" rIns="0" tIns="0" bIns="0" anchor="t">
            <a:noAutofit/>
          </a:bodyPr>
          <a:lstStyle/>
          <a:p>
            <a:pPr algn="l">
              <a:spcAft>
                <a:spcPts val="0"/>
              </a:spcAft>
            </a:pPr>
            <a:r>
              <a:rPr sz="950" b="0" i="0" lang="es-MX">
                <a:solidFill>
                  <a:srgbClr val="DDD6EE"/>
                </a:solidFill>
                <a:latin typeface="Calibri"/>
              </a:rPr>
              <a:t>evidencia binaria</a:t>
            </a:r>
          </a:p>
        </p:txBody>
      </p:sp>
      <p:sp>
        <p:nvSpPr>
          <p:cNvPr id="59" name="TextBox 58"/>
          <p:cNvSpPr txBox="1"/>
          <p:nvPr/>
        </p:nvSpPr>
        <p:spPr>
          <a:xfrm>
            <a:off x="7863840" y="6071616"/>
            <a:ext cx="2743200" cy="274320"/>
          </a:xfrm>
          <a:prstGeom prst="rect">
            <a:avLst/>
          </a:prstGeom>
          <a:noFill/>
        </p:spPr>
        <p:txBody>
          <a:bodyPr wrap="square" lIns="0" rIns="0" tIns="0" bIns="0" anchor="t">
            <a:noAutofit/>
          </a:bodyPr>
          <a:lstStyle/>
          <a:p>
            <a:pPr algn="l">
              <a:spcAft>
                <a:spcPts val="0"/>
              </a:spcAft>
            </a:pPr>
            <a:r>
              <a:rPr sz="950" b="0" i="0" lang="es-MX">
                <a:solidFill>
                  <a:srgbClr val="8E84AB"/>
                </a:solidFill>
                <a:latin typeface="Calibri"/>
              </a:rPr>
              <a:t>Redibujado de la Fig. 1 del artículo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s-MX">
                <a:solidFill>
                  <a:srgbClr val="FFFFFF"/>
                </a:solidFill>
                <a:latin typeface="Calibri Light"/>
              </a:rPr>
              <a:t>Esquema en estrella: 2 hechos, 10 dimensiones</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s-MX" spc="250">
                <a:solidFill>
                  <a:srgbClr val="B57BFF"/>
                </a:solidFill>
                <a:latin typeface="Calibri"/>
              </a:rPr>
              <a:t>DATA WAREHOUSE</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s-MX">
                <a:solidFill>
                  <a:srgbClr val="8E84AB"/>
                </a:solidFill>
                <a:latin typeface="Calibri"/>
              </a:rPr>
              <a:t>6 / 19</a:t>
            </a:r>
          </a:p>
        </p:txBody>
      </p:sp>
      <p:cxnSp>
        <p:nvCxnSpPr>
          <p:cNvPr id="5" name="Connector 4"/>
          <p:cNvCxnSpPr/>
          <p:nvPr/>
        </p:nvCxnSpPr>
        <p:spPr>
          <a:xfrm>
            <a:off x="3383280" y="2112264"/>
            <a:ext cx="932688" cy="448056"/>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383280" y="2112264"/>
            <a:ext cx="932688" cy="2345436"/>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7882127" y="2112264"/>
            <a:ext cx="923545" cy="448056"/>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3383280" y="2560320"/>
            <a:ext cx="932688" cy="320040"/>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383280" y="2880360"/>
            <a:ext cx="932688" cy="1577340"/>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7882127" y="2560320"/>
            <a:ext cx="923545" cy="320040"/>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3383280" y="2560320"/>
            <a:ext cx="932688" cy="1088136"/>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383280" y="3648456"/>
            <a:ext cx="932688" cy="809244"/>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7882127" y="2560320"/>
            <a:ext cx="923545" cy="1088136"/>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383280" y="2560320"/>
            <a:ext cx="932688" cy="1856231"/>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383280" y="4416551"/>
            <a:ext cx="932688" cy="41149"/>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7882127" y="2560320"/>
            <a:ext cx="923545" cy="1856231"/>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383280" y="2560320"/>
            <a:ext cx="932688" cy="2624327"/>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383280" y="4457700"/>
            <a:ext cx="932688" cy="726947"/>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7882127" y="2560320"/>
            <a:ext cx="923545" cy="2624327"/>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7882127" y="2112264"/>
            <a:ext cx="923545" cy="2345436"/>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1828800"/>
            <a:ext cx="2834640" cy="566928"/>
          </a:xfrm>
          <a:prstGeom prst="roundRect">
            <a:avLst>
              <a:gd name="adj" fmla="val 16129"/>
            </a:avLst>
          </a:prstGeom>
          <a:solidFill>
            <a:srgbClr val="B57BFF">
              <a:alpha val="16000"/>
            </a:srgbClr>
          </a:solidFill>
          <a:ln w="12700">
            <a:solidFill>
              <a:srgbClr val="B57BFF">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76656" y="1828800"/>
            <a:ext cx="2011680" cy="566928"/>
          </a:xfrm>
          <a:prstGeom prst="rect">
            <a:avLst/>
          </a:prstGeom>
          <a:noFill/>
        </p:spPr>
        <p:txBody>
          <a:bodyPr wrap="square" lIns="0" rIns="0" tIns="0" bIns="0" anchor="ctr">
            <a:noAutofit/>
          </a:bodyPr>
          <a:lstStyle/>
          <a:p>
            <a:pPr algn="l">
              <a:spcAft>
                <a:spcPts val="0"/>
              </a:spcAft>
            </a:pPr>
            <a:r>
              <a:rPr sz="1250" b="0" i="0" lang="es-MX">
                <a:solidFill>
                  <a:srgbClr val="FFFFFF"/>
                </a:solidFill>
                <a:latin typeface="Consolas"/>
              </a:rPr>
              <a:t>dim_obra</a:t>
            </a:r>
          </a:p>
        </p:txBody>
      </p:sp>
      <p:sp>
        <p:nvSpPr>
          <p:cNvPr id="23" name="Rounded Rectangle 22"/>
          <p:cNvSpPr/>
          <p:nvPr/>
        </p:nvSpPr>
        <p:spPr>
          <a:xfrm>
            <a:off x="2651760" y="1975104"/>
            <a:ext cx="603504" cy="274320"/>
          </a:xfrm>
          <a:prstGeom prst="roundRect">
            <a:avLst>
              <a:gd name="adj" fmla="val 50000"/>
            </a:avLst>
          </a:prstGeom>
          <a:solidFill>
            <a:srgbClr val="B57BF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s-MX">
                <a:solidFill>
                  <a:srgbClr val="1B1530"/>
                </a:solidFill>
                <a:latin typeface="Calibri"/>
              </a:rPr>
              <a:t>SCD 2</a:t>
            </a:r>
          </a:p>
        </p:txBody>
      </p:sp>
      <p:sp>
        <p:nvSpPr>
          <p:cNvPr id="24" name="Rounded Rectangle 23"/>
          <p:cNvSpPr/>
          <p:nvPr/>
        </p:nvSpPr>
        <p:spPr>
          <a:xfrm>
            <a:off x="548640" y="2596896"/>
            <a:ext cx="2834640" cy="566928"/>
          </a:xfrm>
          <a:prstGeom prst="roundRect">
            <a:avLst>
              <a:gd name="adj" fmla="val 16129"/>
            </a:avLst>
          </a:prstGeom>
          <a:solidFill>
            <a:srgbClr val="B57BFF">
              <a:alpha val="16000"/>
            </a:srgbClr>
          </a:solidFill>
          <a:ln w="12700">
            <a:solidFill>
              <a:srgbClr val="B57BFF">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76656" y="2596896"/>
            <a:ext cx="2011680" cy="566928"/>
          </a:xfrm>
          <a:prstGeom prst="rect">
            <a:avLst/>
          </a:prstGeom>
          <a:noFill/>
        </p:spPr>
        <p:txBody>
          <a:bodyPr wrap="square" lIns="0" rIns="0" tIns="0" bIns="0" anchor="ctr">
            <a:noAutofit/>
          </a:bodyPr>
          <a:lstStyle/>
          <a:p>
            <a:pPr algn="l">
              <a:spcAft>
                <a:spcPts val="0"/>
              </a:spcAft>
            </a:pPr>
            <a:r>
              <a:rPr sz="1250" b="0" i="0" lang="es-MX">
                <a:solidFill>
                  <a:srgbClr val="FFFFFF"/>
                </a:solidFill>
                <a:latin typeface="Consolas"/>
              </a:rPr>
              <a:t>dim_region</a:t>
            </a:r>
          </a:p>
        </p:txBody>
      </p:sp>
      <p:sp>
        <p:nvSpPr>
          <p:cNvPr id="26" name="Rounded Rectangle 25"/>
          <p:cNvSpPr/>
          <p:nvPr/>
        </p:nvSpPr>
        <p:spPr>
          <a:xfrm>
            <a:off x="2651760" y="2743200"/>
            <a:ext cx="603504" cy="274320"/>
          </a:xfrm>
          <a:prstGeom prst="roundRect">
            <a:avLst>
              <a:gd name="adj" fmla="val 50000"/>
            </a:avLst>
          </a:prstGeom>
          <a:solidFill>
            <a:srgbClr val="B57BF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s-MX">
                <a:solidFill>
                  <a:srgbClr val="1B1530"/>
                </a:solidFill>
                <a:latin typeface="Calibri"/>
              </a:rPr>
              <a:t>SCD 2</a:t>
            </a:r>
          </a:p>
        </p:txBody>
      </p:sp>
      <p:sp>
        <p:nvSpPr>
          <p:cNvPr id="27" name="Rounded Rectangle 26"/>
          <p:cNvSpPr/>
          <p:nvPr/>
        </p:nvSpPr>
        <p:spPr>
          <a:xfrm>
            <a:off x="548640" y="3364991"/>
            <a:ext cx="2834640" cy="566928"/>
          </a:xfrm>
          <a:prstGeom prst="roundRect">
            <a:avLst>
              <a:gd name="adj" fmla="val 16129"/>
            </a:avLst>
          </a:prstGeom>
          <a:solidFill>
            <a:srgbClr val="B57BFF">
              <a:alpha val="16000"/>
            </a:srgbClr>
          </a:solidFill>
          <a:ln w="12700">
            <a:solidFill>
              <a:srgbClr val="B57BFF">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76656" y="3364991"/>
            <a:ext cx="2011680" cy="566928"/>
          </a:xfrm>
          <a:prstGeom prst="rect">
            <a:avLst/>
          </a:prstGeom>
          <a:noFill/>
        </p:spPr>
        <p:txBody>
          <a:bodyPr wrap="square" lIns="0" rIns="0" tIns="0" bIns="0" anchor="ctr">
            <a:noAutofit/>
          </a:bodyPr>
          <a:lstStyle/>
          <a:p>
            <a:pPr algn="l">
              <a:spcAft>
                <a:spcPts val="0"/>
              </a:spcAft>
            </a:pPr>
            <a:r>
              <a:rPr sz="1250" b="0" i="0" lang="es-MX">
                <a:solidFill>
                  <a:srgbClr val="FFFFFF"/>
                </a:solidFill>
                <a:latin typeface="Consolas"/>
              </a:rPr>
              <a:t>dim_constructora</a:t>
            </a:r>
          </a:p>
        </p:txBody>
      </p:sp>
      <p:sp>
        <p:nvSpPr>
          <p:cNvPr id="29" name="Rounded Rectangle 28"/>
          <p:cNvSpPr/>
          <p:nvPr/>
        </p:nvSpPr>
        <p:spPr>
          <a:xfrm>
            <a:off x="2651760" y="3511296"/>
            <a:ext cx="603504" cy="274320"/>
          </a:xfrm>
          <a:prstGeom prst="roundRect">
            <a:avLst>
              <a:gd name="adj" fmla="val 50000"/>
            </a:avLst>
          </a:prstGeom>
          <a:solidFill>
            <a:srgbClr val="B57BF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s-MX">
                <a:solidFill>
                  <a:srgbClr val="1B1530"/>
                </a:solidFill>
                <a:latin typeface="Calibri"/>
              </a:rPr>
              <a:t>SCD 2</a:t>
            </a:r>
          </a:p>
        </p:txBody>
      </p:sp>
      <p:sp>
        <p:nvSpPr>
          <p:cNvPr id="30" name="Rounded Rectangle 29"/>
          <p:cNvSpPr/>
          <p:nvPr/>
        </p:nvSpPr>
        <p:spPr>
          <a:xfrm>
            <a:off x="548640" y="4133087"/>
            <a:ext cx="2834640" cy="566928"/>
          </a:xfrm>
          <a:prstGeom prst="roundRect">
            <a:avLst>
              <a:gd name="adj" fmla="val 16129"/>
            </a:avLst>
          </a:prstGeom>
          <a:solidFill>
            <a:srgbClr val="B57BFF">
              <a:alpha val="16000"/>
            </a:srgbClr>
          </a:solidFill>
          <a:ln w="12700">
            <a:solidFill>
              <a:srgbClr val="B57BFF">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76656" y="4133087"/>
            <a:ext cx="2011680" cy="566928"/>
          </a:xfrm>
          <a:prstGeom prst="rect">
            <a:avLst/>
          </a:prstGeom>
          <a:noFill/>
        </p:spPr>
        <p:txBody>
          <a:bodyPr wrap="square" lIns="0" rIns="0" tIns="0" bIns="0" anchor="ctr">
            <a:noAutofit/>
          </a:bodyPr>
          <a:lstStyle/>
          <a:p>
            <a:pPr algn="l">
              <a:spcAft>
                <a:spcPts val="0"/>
              </a:spcAft>
            </a:pPr>
            <a:r>
              <a:rPr sz="1250" b="0" i="0" lang="es-MX">
                <a:solidFill>
                  <a:srgbClr val="FFFFFF"/>
                </a:solidFill>
                <a:latin typeface="Consolas"/>
              </a:rPr>
              <a:t>dim_personal</a:t>
            </a:r>
          </a:p>
        </p:txBody>
      </p:sp>
      <p:sp>
        <p:nvSpPr>
          <p:cNvPr id="32" name="Rounded Rectangle 31"/>
          <p:cNvSpPr/>
          <p:nvPr/>
        </p:nvSpPr>
        <p:spPr>
          <a:xfrm>
            <a:off x="2651760" y="4279392"/>
            <a:ext cx="603504" cy="274320"/>
          </a:xfrm>
          <a:prstGeom prst="roundRect">
            <a:avLst>
              <a:gd name="adj" fmla="val 50000"/>
            </a:avLst>
          </a:prstGeom>
          <a:solidFill>
            <a:srgbClr val="B57BF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s-MX">
                <a:solidFill>
                  <a:srgbClr val="1B1530"/>
                </a:solidFill>
                <a:latin typeface="Calibri"/>
              </a:rPr>
              <a:t>SCD 2</a:t>
            </a:r>
          </a:p>
        </p:txBody>
      </p:sp>
      <p:sp>
        <p:nvSpPr>
          <p:cNvPr id="33" name="Rounded Rectangle 32"/>
          <p:cNvSpPr/>
          <p:nvPr/>
        </p:nvSpPr>
        <p:spPr>
          <a:xfrm>
            <a:off x="548640" y="4901183"/>
            <a:ext cx="2834640" cy="566928"/>
          </a:xfrm>
          <a:prstGeom prst="roundRect">
            <a:avLst>
              <a:gd name="adj" fmla="val 16129"/>
            </a:avLst>
          </a:prstGeom>
          <a:solidFill>
            <a:srgbClr val="B57BFF">
              <a:alpha val="16000"/>
            </a:srgbClr>
          </a:solidFill>
          <a:ln w="12700">
            <a:solidFill>
              <a:srgbClr val="B57BFF">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76656" y="4901183"/>
            <a:ext cx="2011680" cy="566928"/>
          </a:xfrm>
          <a:prstGeom prst="rect">
            <a:avLst/>
          </a:prstGeom>
          <a:noFill/>
        </p:spPr>
        <p:txBody>
          <a:bodyPr wrap="square" lIns="0" rIns="0" tIns="0" bIns="0" anchor="ctr">
            <a:noAutofit/>
          </a:bodyPr>
          <a:lstStyle/>
          <a:p>
            <a:pPr algn="l">
              <a:spcAft>
                <a:spcPts val="0"/>
              </a:spcAft>
            </a:pPr>
            <a:r>
              <a:rPr sz="1250" b="0" i="0" lang="es-MX">
                <a:solidFill>
                  <a:srgbClr val="FFFFFF"/>
                </a:solidFill>
                <a:latin typeface="Consolas"/>
              </a:rPr>
              <a:t>dim_presupuesto</a:t>
            </a:r>
          </a:p>
        </p:txBody>
      </p:sp>
      <p:sp>
        <p:nvSpPr>
          <p:cNvPr id="35" name="Rounded Rectangle 34"/>
          <p:cNvSpPr/>
          <p:nvPr/>
        </p:nvSpPr>
        <p:spPr>
          <a:xfrm>
            <a:off x="2651760" y="5047488"/>
            <a:ext cx="603504" cy="274320"/>
          </a:xfrm>
          <a:prstGeom prst="roundRect">
            <a:avLst>
              <a:gd name="adj" fmla="val 50000"/>
            </a:avLst>
          </a:prstGeom>
          <a:solidFill>
            <a:srgbClr val="B57BF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s-MX">
                <a:solidFill>
                  <a:srgbClr val="1B1530"/>
                </a:solidFill>
                <a:latin typeface="Calibri"/>
              </a:rPr>
              <a:t>SCD 2</a:t>
            </a:r>
          </a:p>
        </p:txBody>
      </p:sp>
      <p:sp>
        <p:nvSpPr>
          <p:cNvPr id="36" name="Rounded Rectangle 35"/>
          <p:cNvSpPr/>
          <p:nvPr/>
        </p:nvSpPr>
        <p:spPr>
          <a:xfrm>
            <a:off x="8805672" y="1828800"/>
            <a:ext cx="2834640" cy="566928"/>
          </a:xfrm>
          <a:prstGeom prst="roundRect">
            <a:avLst>
              <a:gd name="adj" fmla="val 16129"/>
            </a:avLst>
          </a:prstGeom>
          <a:solidFill>
            <a:srgbClr val="94A3B8">
              <a:alpha val="8000"/>
            </a:srgbClr>
          </a:solidFill>
          <a:ln w="12700">
            <a:solidFill>
              <a:srgbClr val="94A3B8">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933688" y="1828800"/>
            <a:ext cx="2011680" cy="566928"/>
          </a:xfrm>
          <a:prstGeom prst="rect">
            <a:avLst/>
          </a:prstGeom>
          <a:noFill/>
        </p:spPr>
        <p:txBody>
          <a:bodyPr wrap="square" lIns="0" rIns="0" tIns="0" bIns="0" anchor="ctr">
            <a:noAutofit/>
          </a:bodyPr>
          <a:lstStyle/>
          <a:p>
            <a:pPr algn="l">
              <a:spcAft>
                <a:spcPts val="0"/>
              </a:spcAft>
            </a:pPr>
            <a:r>
              <a:rPr sz="1250" b="0" i="0" lang="es-MX">
                <a:solidFill>
                  <a:srgbClr val="FFFFFF"/>
                </a:solidFill>
                <a:latin typeface="Consolas"/>
              </a:rPr>
              <a:t>dim_tiempo</a:t>
            </a:r>
          </a:p>
        </p:txBody>
      </p:sp>
      <p:sp>
        <p:nvSpPr>
          <p:cNvPr id="38" name="Rounded Rectangle 37"/>
          <p:cNvSpPr/>
          <p:nvPr/>
        </p:nvSpPr>
        <p:spPr>
          <a:xfrm>
            <a:off x="10908792" y="1975104"/>
            <a:ext cx="603504" cy="274320"/>
          </a:xfrm>
          <a:prstGeom prst="roundRect">
            <a:avLst>
              <a:gd name="adj" fmla="val 50000"/>
            </a:avLst>
          </a:prstGeom>
          <a:solidFill>
            <a:srgbClr val="94A3B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s-MX">
                <a:solidFill>
                  <a:srgbClr val="1B1530"/>
                </a:solidFill>
                <a:latin typeface="Calibri"/>
              </a:rPr>
              <a:t>SCD 0</a:t>
            </a:r>
          </a:p>
        </p:txBody>
      </p:sp>
      <p:sp>
        <p:nvSpPr>
          <p:cNvPr id="39" name="Rounded Rectangle 38"/>
          <p:cNvSpPr/>
          <p:nvPr/>
        </p:nvSpPr>
        <p:spPr>
          <a:xfrm>
            <a:off x="8805672" y="2596896"/>
            <a:ext cx="2834640" cy="566928"/>
          </a:xfrm>
          <a:prstGeom prst="roundRect">
            <a:avLst>
              <a:gd name="adj" fmla="val 16129"/>
            </a:avLst>
          </a:prstGeom>
          <a:solidFill>
            <a:srgbClr val="94A3B8">
              <a:alpha val="8000"/>
            </a:srgbClr>
          </a:solidFill>
          <a:ln w="12700">
            <a:solidFill>
              <a:srgbClr val="94A3B8">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933688" y="2596896"/>
            <a:ext cx="2011680" cy="566928"/>
          </a:xfrm>
          <a:prstGeom prst="rect">
            <a:avLst/>
          </a:prstGeom>
          <a:noFill/>
        </p:spPr>
        <p:txBody>
          <a:bodyPr wrap="square" lIns="0" rIns="0" tIns="0" bIns="0" anchor="ctr">
            <a:noAutofit/>
          </a:bodyPr>
          <a:lstStyle/>
          <a:p>
            <a:pPr algn="l">
              <a:spcAft>
                <a:spcPts val="0"/>
              </a:spcAft>
            </a:pPr>
            <a:r>
              <a:rPr sz="1250" b="0" i="0" lang="es-MX">
                <a:solidFill>
                  <a:srgbClr val="FFFFFF"/>
                </a:solidFill>
                <a:latin typeface="Consolas"/>
              </a:rPr>
              <a:t>dim_tipo_evento</a:t>
            </a:r>
          </a:p>
        </p:txBody>
      </p:sp>
      <p:sp>
        <p:nvSpPr>
          <p:cNvPr id="41" name="Rounded Rectangle 40"/>
          <p:cNvSpPr/>
          <p:nvPr/>
        </p:nvSpPr>
        <p:spPr>
          <a:xfrm>
            <a:off x="10908792" y="2743200"/>
            <a:ext cx="603504" cy="274320"/>
          </a:xfrm>
          <a:prstGeom prst="roundRect">
            <a:avLst>
              <a:gd name="adj" fmla="val 50000"/>
            </a:avLst>
          </a:prstGeom>
          <a:solidFill>
            <a:srgbClr val="94A3B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s-MX">
                <a:solidFill>
                  <a:srgbClr val="1B1530"/>
                </a:solidFill>
                <a:latin typeface="Calibri"/>
              </a:rPr>
              <a:t>SCD 0</a:t>
            </a:r>
          </a:p>
        </p:txBody>
      </p:sp>
      <p:sp>
        <p:nvSpPr>
          <p:cNvPr id="42" name="Rounded Rectangle 41"/>
          <p:cNvSpPr/>
          <p:nvPr/>
        </p:nvSpPr>
        <p:spPr>
          <a:xfrm>
            <a:off x="8805672" y="3364991"/>
            <a:ext cx="2834640" cy="566928"/>
          </a:xfrm>
          <a:prstGeom prst="roundRect">
            <a:avLst>
              <a:gd name="adj" fmla="val 16129"/>
            </a:avLst>
          </a:prstGeom>
          <a:solidFill>
            <a:srgbClr val="2DD4BF">
              <a:alpha val="8000"/>
            </a:srgbClr>
          </a:solidFill>
          <a:ln w="12700">
            <a:solidFill>
              <a:srgbClr val="2DD4BF">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933688" y="3364991"/>
            <a:ext cx="2011680" cy="566928"/>
          </a:xfrm>
          <a:prstGeom prst="rect">
            <a:avLst/>
          </a:prstGeom>
          <a:noFill/>
        </p:spPr>
        <p:txBody>
          <a:bodyPr wrap="square" lIns="0" rIns="0" tIns="0" bIns="0" anchor="ctr">
            <a:noAutofit/>
          </a:bodyPr>
          <a:lstStyle/>
          <a:p>
            <a:pPr algn="l">
              <a:spcAft>
                <a:spcPts val="0"/>
              </a:spcAft>
            </a:pPr>
            <a:r>
              <a:rPr sz="1250" b="0" i="0" lang="es-MX">
                <a:solidFill>
                  <a:srgbClr val="FFFFFF"/>
                </a:solidFill>
                <a:latin typeface="Consolas"/>
              </a:rPr>
              <a:t>dim_fuente</a:t>
            </a:r>
          </a:p>
        </p:txBody>
      </p:sp>
      <p:sp>
        <p:nvSpPr>
          <p:cNvPr id="44" name="Rounded Rectangle 43"/>
          <p:cNvSpPr/>
          <p:nvPr/>
        </p:nvSpPr>
        <p:spPr>
          <a:xfrm>
            <a:off x="10908792" y="3511296"/>
            <a:ext cx="603504" cy="274320"/>
          </a:xfrm>
          <a:prstGeom prst="roundRect">
            <a:avLst>
              <a:gd name="adj" fmla="val 50000"/>
            </a:avLst>
          </a:prstGeom>
          <a:solidFill>
            <a:srgbClr val="2DD4B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s-MX">
                <a:solidFill>
                  <a:srgbClr val="1B1530"/>
                </a:solidFill>
                <a:latin typeface="Calibri"/>
              </a:rPr>
              <a:t>SCD 1</a:t>
            </a:r>
          </a:p>
        </p:txBody>
      </p:sp>
      <p:sp>
        <p:nvSpPr>
          <p:cNvPr id="45" name="Rounded Rectangle 44"/>
          <p:cNvSpPr/>
          <p:nvPr/>
        </p:nvSpPr>
        <p:spPr>
          <a:xfrm>
            <a:off x="8805672" y="4133087"/>
            <a:ext cx="2834640" cy="566928"/>
          </a:xfrm>
          <a:prstGeom prst="roundRect">
            <a:avLst>
              <a:gd name="adj" fmla="val 16129"/>
            </a:avLst>
          </a:prstGeom>
          <a:solidFill>
            <a:srgbClr val="2DD4BF">
              <a:alpha val="8000"/>
            </a:srgbClr>
          </a:solidFill>
          <a:ln w="12700">
            <a:solidFill>
              <a:srgbClr val="2DD4BF">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933688" y="4133087"/>
            <a:ext cx="2011680" cy="566928"/>
          </a:xfrm>
          <a:prstGeom prst="rect">
            <a:avLst/>
          </a:prstGeom>
          <a:noFill/>
        </p:spPr>
        <p:txBody>
          <a:bodyPr wrap="square" lIns="0" rIns="0" tIns="0" bIns="0" anchor="ctr">
            <a:noAutofit/>
          </a:bodyPr>
          <a:lstStyle/>
          <a:p>
            <a:pPr algn="l">
              <a:spcAft>
                <a:spcPts val="0"/>
              </a:spcAft>
            </a:pPr>
            <a:r>
              <a:rPr sz="1250" b="0" i="0" lang="es-MX">
                <a:solidFill>
                  <a:srgbClr val="FFFFFF"/>
                </a:solidFill>
                <a:latin typeface="Consolas"/>
              </a:rPr>
              <a:t>dim_poblador</a:t>
            </a:r>
          </a:p>
        </p:txBody>
      </p:sp>
      <p:sp>
        <p:nvSpPr>
          <p:cNvPr id="47" name="Rounded Rectangle 46"/>
          <p:cNvSpPr/>
          <p:nvPr/>
        </p:nvSpPr>
        <p:spPr>
          <a:xfrm>
            <a:off x="10908792" y="4279392"/>
            <a:ext cx="603504" cy="274320"/>
          </a:xfrm>
          <a:prstGeom prst="roundRect">
            <a:avLst>
              <a:gd name="adj" fmla="val 50000"/>
            </a:avLst>
          </a:prstGeom>
          <a:solidFill>
            <a:srgbClr val="2DD4B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s-MX">
                <a:solidFill>
                  <a:srgbClr val="1B1530"/>
                </a:solidFill>
                <a:latin typeface="Calibri"/>
              </a:rPr>
              <a:t>SCD 1</a:t>
            </a:r>
          </a:p>
        </p:txBody>
      </p:sp>
      <p:sp>
        <p:nvSpPr>
          <p:cNvPr id="48" name="Rounded Rectangle 47"/>
          <p:cNvSpPr/>
          <p:nvPr/>
        </p:nvSpPr>
        <p:spPr>
          <a:xfrm>
            <a:off x="8805672" y="4901183"/>
            <a:ext cx="2834640" cy="566928"/>
          </a:xfrm>
          <a:prstGeom prst="roundRect">
            <a:avLst>
              <a:gd name="adj" fmla="val 16129"/>
            </a:avLst>
          </a:prstGeom>
          <a:solidFill>
            <a:srgbClr val="2DD4BF">
              <a:alpha val="8000"/>
            </a:srgbClr>
          </a:solidFill>
          <a:ln w="12700">
            <a:solidFill>
              <a:srgbClr val="2DD4BF">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8933688" y="4901183"/>
            <a:ext cx="2011680" cy="566928"/>
          </a:xfrm>
          <a:prstGeom prst="rect">
            <a:avLst/>
          </a:prstGeom>
          <a:noFill/>
        </p:spPr>
        <p:txBody>
          <a:bodyPr wrap="square" lIns="0" rIns="0" tIns="0" bIns="0" anchor="ctr">
            <a:noAutofit/>
          </a:bodyPr>
          <a:lstStyle/>
          <a:p>
            <a:pPr algn="l">
              <a:spcAft>
                <a:spcPts val="0"/>
              </a:spcAft>
            </a:pPr>
            <a:r>
              <a:rPr sz="1250" b="0" i="0" lang="es-MX">
                <a:solidFill>
                  <a:srgbClr val="FFFFFF"/>
                </a:solidFill>
                <a:latin typeface="Consolas"/>
              </a:rPr>
              <a:t>dim_propuesta</a:t>
            </a:r>
          </a:p>
        </p:txBody>
      </p:sp>
      <p:sp>
        <p:nvSpPr>
          <p:cNvPr id="50" name="Rounded Rectangle 49"/>
          <p:cNvSpPr/>
          <p:nvPr/>
        </p:nvSpPr>
        <p:spPr>
          <a:xfrm>
            <a:off x="10908792" y="5047488"/>
            <a:ext cx="603504" cy="274320"/>
          </a:xfrm>
          <a:prstGeom prst="roundRect">
            <a:avLst>
              <a:gd name="adj" fmla="val 50000"/>
            </a:avLst>
          </a:prstGeom>
          <a:solidFill>
            <a:srgbClr val="2DD4B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s-MX">
                <a:solidFill>
                  <a:srgbClr val="1B1530"/>
                </a:solidFill>
                <a:latin typeface="Calibri"/>
              </a:rPr>
              <a:t>SCD 1</a:t>
            </a:r>
          </a:p>
        </p:txBody>
      </p:sp>
      <p:sp>
        <p:nvSpPr>
          <p:cNvPr id="51" name="Rounded Rectangle 50"/>
          <p:cNvSpPr/>
          <p:nvPr/>
        </p:nvSpPr>
        <p:spPr>
          <a:xfrm>
            <a:off x="4315968" y="1874519"/>
            <a:ext cx="3566160" cy="1371600"/>
          </a:xfrm>
          <a:prstGeom prst="roundRect">
            <a:avLst>
              <a:gd name="adj" fmla="val 8000"/>
            </a:avLst>
          </a:prstGeom>
          <a:solidFill>
            <a:srgbClr val="B57BFF">
              <a:alpha val="24000"/>
            </a:srgbClr>
          </a:solidFill>
          <a:ln w="19050">
            <a:solidFill>
              <a:srgbClr val="D9C5FF">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4407407" y="1984248"/>
            <a:ext cx="3383279" cy="1188720"/>
          </a:xfrm>
          <a:prstGeom prst="rect">
            <a:avLst/>
          </a:prstGeom>
          <a:noFill/>
        </p:spPr>
        <p:txBody>
          <a:bodyPr wrap="square" lIns="0" rIns="0" tIns="0" bIns="0" anchor="ctr">
            <a:noAutofit/>
          </a:bodyPr>
          <a:lstStyle/>
          <a:p>
            <a:pPr algn="ctr">
              <a:spcAft>
                <a:spcPts val="400"/>
              </a:spcAft>
            </a:pPr>
            <a:r>
              <a:rPr sz="1400" b="1" i="0" lang="es-MX">
                <a:solidFill>
                  <a:srgbClr val="FFFFFF"/>
                </a:solidFill>
                <a:latin typeface="Consolas"/>
              </a:rPr>
              <a:t>fact_eventos_auditoria</a:t>
            </a:r>
          </a:p>
          <a:p>
            <a:pPr algn="ctr">
              <a:spcAft>
                <a:spcPts val="0"/>
              </a:spcAft>
            </a:pPr>
            <a:r>
              <a:rPr sz="1100" b="0" i="0" lang="es-MX">
                <a:solidFill>
                  <a:srgbClr val="D9C5FF"/>
                </a:solidFill>
                <a:latin typeface="Calibri"/>
              </a:rPr>
              <a:t>grano: un evento de auditoría</a:t>
            </a:r>
          </a:p>
          <a:p>
            <a:pPr algn="ctr">
              <a:spcAft>
                <a:spcPts val="0"/>
              </a:spcAft>
            </a:pPr>
            <a:r>
              <a:rPr sz="1100" b="0" i="0" lang="es-MX">
                <a:solidFill>
                  <a:srgbClr val="DDD6EE"/>
                </a:solidFill>
                <a:latin typeface="Calibri"/>
              </a:rPr>
              <a:t>17 tipos de evento · particionada por año</a:t>
            </a:r>
          </a:p>
        </p:txBody>
      </p:sp>
      <p:sp>
        <p:nvSpPr>
          <p:cNvPr id="53" name="Rounded Rectangle 52"/>
          <p:cNvSpPr/>
          <p:nvPr/>
        </p:nvSpPr>
        <p:spPr>
          <a:xfrm>
            <a:off x="4315968" y="3886200"/>
            <a:ext cx="3566160" cy="1143000"/>
          </a:xfrm>
          <a:prstGeom prst="roundRect">
            <a:avLst>
              <a:gd name="adj" fmla="val 9600"/>
            </a:avLst>
          </a:prstGeom>
          <a:solidFill>
            <a:srgbClr val="B57BFF">
              <a:alpha val="24000"/>
            </a:srgbClr>
          </a:solidFill>
          <a:ln w="19050">
            <a:solidFill>
              <a:srgbClr val="D9C5FF">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4407407" y="3995928"/>
            <a:ext cx="3383279" cy="960120"/>
          </a:xfrm>
          <a:prstGeom prst="rect">
            <a:avLst/>
          </a:prstGeom>
          <a:noFill/>
        </p:spPr>
        <p:txBody>
          <a:bodyPr wrap="square" lIns="0" rIns="0" tIns="0" bIns="0" anchor="ctr">
            <a:noAutofit/>
          </a:bodyPr>
          <a:lstStyle/>
          <a:p>
            <a:pPr algn="ctr">
              <a:spcAft>
                <a:spcPts val="400"/>
              </a:spcAft>
            </a:pPr>
            <a:r>
              <a:rPr sz="1400" b="1" i="0" lang="es-MX">
                <a:solidFill>
                  <a:srgbClr val="FFFFFF"/>
                </a:solidFill>
                <a:latin typeface="Consolas"/>
              </a:rPr>
              <a:t>fact_obra_mensual</a:t>
            </a:r>
          </a:p>
          <a:p>
            <a:pPr algn="ctr">
              <a:spcAft>
                <a:spcPts val="0"/>
              </a:spcAft>
            </a:pPr>
            <a:r>
              <a:rPr sz="1100" b="0" i="0" lang="es-MX">
                <a:solidFill>
                  <a:srgbClr val="D9C5FF"/>
                </a:solidFill>
                <a:latin typeface="Calibri"/>
              </a:rPr>
              <a:t>grano: una obra × mes (snapshot)</a:t>
            </a:r>
          </a:p>
          <a:p>
            <a:pPr algn="ctr">
              <a:spcAft>
                <a:spcPts val="0"/>
              </a:spcAft>
            </a:pPr>
            <a:r>
              <a:rPr sz="1100" b="0" i="0" lang="es-MX">
                <a:solidFill>
                  <a:srgbClr val="DDD6EE"/>
                </a:solidFill>
                <a:latin typeface="Calibri"/>
              </a:rPr>
              <a:t>29,928 filas en el almacén sembrado</a:t>
            </a:r>
          </a:p>
        </p:txBody>
      </p:sp>
      <p:sp>
        <p:nvSpPr>
          <p:cNvPr id="55" name="Rounded Rectangle 54"/>
          <p:cNvSpPr/>
          <p:nvPr/>
        </p:nvSpPr>
        <p:spPr>
          <a:xfrm>
            <a:off x="822960" y="5614416"/>
            <a:ext cx="868680" cy="274320"/>
          </a:xfrm>
          <a:prstGeom prst="roundRect">
            <a:avLst>
              <a:gd name="adj" fmla="val 50000"/>
            </a:avLst>
          </a:prstGeom>
          <a:solidFill>
            <a:srgbClr val="B57BF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s-MX">
                <a:solidFill>
                  <a:srgbClr val="1B1530"/>
                </a:solidFill>
                <a:latin typeface="Calibri"/>
              </a:rPr>
              <a:t>5 × SCD 2</a:t>
            </a:r>
          </a:p>
        </p:txBody>
      </p:sp>
      <p:sp>
        <p:nvSpPr>
          <p:cNvPr id="56" name="TextBox 55"/>
          <p:cNvSpPr txBox="1"/>
          <p:nvPr/>
        </p:nvSpPr>
        <p:spPr>
          <a:xfrm>
            <a:off x="1783080" y="5596128"/>
            <a:ext cx="4023360" cy="310896"/>
          </a:xfrm>
          <a:prstGeom prst="rect">
            <a:avLst/>
          </a:prstGeom>
          <a:noFill/>
        </p:spPr>
        <p:txBody>
          <a:bodyPr wrap="square" lIns="0" rIns="0" tIns="0" bIns="0" anchor="ctr">
            <a:noAutofit/>
          </a:bodyPr>
          <a:lstStyle/>
          <a:p>
            <a:pPr algn="l">
              <a:spcAft>
                <a:spcPts val="0"/>
              </a:spcAft>
            </a:pPr>
            <a:r>
              <a:rPr sz="1100" b="0" i="0" lang="es-MX">
                <a:solidFill>
                  <a:srgbClr val="DDD6EE"/>
                </a:solidFill>
                <a:latin typeface="Calibri"/>
              </a:rPr>
              <a:t>historia completa: vigencia desde / hasta / actual</a:t>
            </a:r>
          </a:p>
        </p:txBody>
      </p:sp>
      <p:sp>
        <p:nvSpPr>
          <p:cNvPr id="57" name="Rounded Rectangle 56"/>
          <p:cNvSpPr/>
          <p:nvPr/>
        </p:nvSpPr>
        <p:spPr>
          <a:xfrm>
            <a:off x="5989320" y="5614416"/>
            <a:ext cx="868680" cy="274320"/>
          </a:xfrm>
          <a:prstGeom prst="roundRect">
            <a:avLst>
              <a:gd name="adj" fmla="val 50000"/>
            </a:avLst>
          </a:prstGeom>
          <a:solidFill>
            <a:srgbClr val="2DD4B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s-MX">
                <a:solidFill>
                  <a:srgbClr val="1B1530"/>
                </a:solidFill>
                <a:latin typeface="Calibri"/>
              </a:rPr>
              <a:t>3 × SCD 1</a:t>
            </a:r>
          </a:p>
        </p:txBody>
      </p:sp>
      <p:sp>
        <p:nvSpPr>
          <p:cNvPr id="58" name="TextBox 57"/>
          <p:cNvSpPr txBox="1"/>
          <p:nvPr/>
        </p:nvSpPr>
        <p:spPr>
          <a:xfrm>
            <a:off x="6949440" y="5596128"/>
            <a:ext cx="1463040" cy="310896"/>
          </a:xfrm>
          <a:prstGeom prst="rect">
            <a:avLst/>
          </a:prstGeom>
          <a:noFill/>
        </p:spPr>
        <p:txBody>
          <a:bodyPr wrap="square" lIns="0" rIns="0" tIns="0" bIns="0" anchor="ctr">
            <a:noAutofit/>
          </a:bodyPr>
          <a:lstStyle/>
          <a:p>
            <a:pPr algn="l">
              <a:spcAft>
                <a:spcPts val="0"/>
              </a:spcAft>
            </a:pPr>
            <a:r>
              <a:rPr sz="1100" b="0" i="0" lang="es-MX">
                <a:solidFill>
                  <a:srgbClr val="DDD6EE"/>
                </a:solidFill>
                <a:latin typeface="Calibri"/>
              </a:rPr>
              <a:t>sobrescritura</a:t>
            </a:r>
          </a:p>
        </p:txBody>
      </p:sp>
      <p:sp>
        <p:nvSpPr>
          <p:cNvPr id="59" name="Rounded Rectangle 58"/>
          <p:cNvSpPr/>
          <p:nvPr/>
        </p:nvSpPr>
        <p:spPr>
          <a:xfrm>
            <a:off x="8549640" y="5614416"/>
            <a:ext cx="868680" cy="274320"/>
          </a:xfrm>
          <a:prstGeom prst="roundRect">
            <a:avLst>
              <a:gd name="adj" fmla="val 50000"/>
            </a:avLst>
          </a:prstGeom>
          <a:solidFill>
            <a:srgbClr val="94A3B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s-MX">
                <a:solidFill>
                  <a:srgbClr val="1B1530"/>
                </a:solidFill>
                <a:latin typeface="Calibri"/>
              </a:rPr>
              <a:t>2 × SCD 0</a:t>
            </a:r>
          </a:p>
        </p:txBody>
      </p:sp>
      <p:sp>
        <p:nvSpPr>
          <p:cNvPr id="60" name="TextBox 59"/>
          <p:cNvSpPr txBox="1"/>
          <p:nvPr/>
        </p:nvSpPr>
        <p:spPr>
          <a:xfrm>
            <a:off x="9509760" y="5596128"/>
            <a:ext cx="2103120" cy="310896"/>
          </a:xfrm>
          <a:prstGeom prst="rect">
            <a:avLst/>
          </a:prstGeom>
          <a:noFill/>
        </p:spPr>
        <p:txBody>
          <a:bodyPr wrap="square" lIns="0" rIns="0" tIns="0" bIns="0" anchor="ctr">
            <a:noAutofit/>
          </a:bodyPr>
          <a:lstStyle/>
          <a:p>
            <a:pPr algn="l">
              <a:spcAft>
                <a:spcPts val="0"/>
              </a:spcAft>
            </a:pPr>
            <a:r>
              <a:rPr sz="1100" b="0" i="0" lang="es-MX">
                <a:solidFill>
                  <a:srgbClr val="DDD6EE"/>
                </a:solidFill>
                <a:latin typeface="Calibri"/>
              </a:rPr>
              <a:t>catálogo fijo</a:t>
            </a:r>
          </a:p>
        </p:txBody>
      </p:sp>
      <p:sp>
        <p:nvSpPr>
          <p:cNvPr id="61" name="TextBox 60"/>
          <p:cNvSpPr txBox="1"/>
          <p:nvPr/>
        </p:nvSpPr>
        <p:spPr>
          <a:xfrm>
            <a:off x="7863840" y="6071616"/>
            <a:ext cx="2743200" cy="274320"/>
          </a:xfrm>
          <a:prstGeom prst="rect">
            <a:avLst/>
          </a:prstGeom>
          <a:noFill/>
        </p:spPr>
        <p:txBody>
          <a:bodyPr wrap="square" lIns="0" rIns="0" tIns="0" bIns="0" anchor="t">
            <a:noAutofit/>
          </a:bodyPr>
          <a:lstStyle/>
          <a:p>
            <a:pPr algn="l">
              <a:spcAft>
                <a:spcPts val="0"/>
              </a:spcAft>
            </a:pPr>
            <a:r>
              <a:rPr sz="950" b="0" i="0" lang="es-MX">
                <a:solidFill>
                  <a:srgbClr val="8E84AB"/>
                </a:solidFill>
                <a:latin typeface="Calibri"/>
              </a:rPr>
              <a:t>Redibujado de la Fig. 2 del artículo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s-MX">
                <a:solidFill>
                  <a:srgbClr val="FFFFFF"/>
                </a:solidFill>
                <a:latin typeface="Calibri Light"/>
              </a:rPr>
              <a:t>SCD tipo 2: el registro tal como era, en cualquier fecha</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s-MX" spc="250">
                <a:solidFill>
                  <a:srgbClr val="B57BFF"/>
                </a:solidFill>
                <a:latin typeface="Calibri"/>
              </a:rPr>
              <a:t>DIMENSIONES LENTAMENTE CAMBIANTES</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s-MX">
                <a:solidFill>
                  <a:srgbClr val="8E84AB"/>
                </a:solidFill>
                <a:latin typeface="Calibri"/>
              </a:rPr>
              <a:t>7 / 19</a:t>
            </a:r>
          </a:p>
        </p:txBody>
      </p:sp>
      <p:sp>
        <p:nvSpPr>
          <p:cNvPr id="5" name="TextBox 4"/>
          <p:cNvSpPr txBox="1"/>
          <p:nvPr/>
        </p:nvSpPr>
        <p:spPr>
          <a:xfrm>
            <a:off x="548640" y="1755648"/>
            <a:ext cx="6309360" cy="685800"/>
          </a:xfrm>
          <a:prstGeom prst="rect">
            <a:avLst/>
          </a:prstGeom>
          <a:noFill/>
        </p:spPr>
        <p:txBody>
          <a:bodyPr wrap="square" lIns="0" rIns="0" tIns="0" bIns="0" anchor="t">
            <a:noAutofit/>
          </a:bodyPr>
          <a:lstStyle/>
          <a:p>
            <a:pPr algn="l">
              <a:spcAft>
                <a:spcPts val="0"/>
              </a:spcAft>
            </a:pPr>
            <a:r>
              <a:rPr sz="1900" b="0" i="1" lang="es-MX">
                <a:solidFill>
                  <a:srgbClr val="D9C5FF"/>
                </a:solidFill>
                <a:latin typeface="Calibri Light"/>
              </a:rPr>
              <a:t>“¿Cómo era este registro el día en que se modificó el presupuesto?”</a:t>
            </a:r>
          </a:p>
        </p:txBody>
      </p:sp>
      <p:graphicFrame>
        <p:nvGraphicFramePr>
          <p:cNvPr id="6" name="Table 5"/>
          <p:cNvGraphicFramePr>
            <a:graphicFrameLocks noGrp="1"/>
          </p:cNvGraphicFramePr>
          <p:nvPr/>
        </p:nvGraphicFramePr>
        <p:xfrm>
          <a:off x="548640" y="2651760"/>
          <a:ext cx="6126480" cy="1097280"/>
        </p:xfrm>
        <a:graphic>
          <a:graphicData uri="http://schemas.openxmlformats.org/drawingml/2006/table">
            <a:tbl>
              <a:tblPr firstRow="0" bandRow="0">
                <a:tableStyleId>{5C22544A-7EE6-4342-B048-85BDC9FD1C3A}</a:tableStyleId>
              </a:tblPr>
              <a:tblGrid>
                <a:gridCol w="548640"/>
                <a:gridCol w="868680"/>
                <a:gridCol w="1097280"/>
                <a:gridCol w="1234440"/>
                <a:gridCol w="1417320"/>
                <a:gridCol w="960120"/>
              </a:tblGrid>
              <a:tr h="365760">
                <a:tc>
                  <a:txBody>
                    <a:bodyPr wrap="square" lIns="36576" rIns="36576" tIns="36576" bIns="36576" anchor="ctr">
                      <a:noAutofit/>
                    </a:bodyPr>
                    <a:lstStyle/>
                    <a:p>
                      <a:pPr algn="l">
                        <a:spcAft>
                          <a:spcPts val="0"/>
                        </a:spcAft>
                      </a:pPr>
                      <a:r>
                        <a:rPr sz="1100" b="1" i="0" lang="es-MX">
                          <a:solidFill>
                            <a:srgbClr val="B57BFF"/>
                          </a:solidFill>
                          <a:latin typeface="Consolas"/>
                        </a:rPr>
                        <a:t>key</a:t>
                      </a:r>
                    </a:p>
                  </a:txBody>
                  <a:tcPr marL="73152" marR="73152" anchor="ctr">
                    <a:solidFill>
                      <a:srgbClr val="3A2A5E"/>
                    </a:solidFill>
                  </a:tcPr>
                </a:tc>
                <a:tc>
                  <a:txBody>
                    <a:bodyPr wrap="square" lIns="36576" rIns="36576" tIns="36576" bIns="36576" anchor="ctr">
                      <a:noAutofit/>
                    </a:bodyPr>
                    <a:lstStyle/>
                    <a:p>
                      <a:pPr algn="l">
                        <a:spcAft>
                          <a:spcPts val="0"/>
                        </a:spcAft>
                      </a:pPr>
                      <a:r>
                        <a:rPr sz="1100" b="1" i="0" lang="es-MX">
                          <a:solidFill>
                            <a:srgbClr val="B57BFF"/>
                          </a:solidFill>
                          <a:latin typeface="Consolas"/>
                        </a:rPr>
                        <a:t>obra</a:t>
                      </a:r>
                    </a:p>
                  </a:txBody>
                  <a:tcPr marL="73152" marR="73152" anchor="ctr">
                    <a:solidFill>
                      <a:srgbClr val="3A2A5E"/>
                    </a:solidFill>
                  </a:tcPr>
                </a:tc>
                <a:tc>
                  <a:txBody>
                    <a:bodyPr wrap="square" lIns="36576" rIns="36576" tIns="36576" bIns="36576" anchor="ctr">
                      <a:noAutofit/>
                    </a:bodyPr>
                    <a:lstStyle/>
                    <a:p>
                      <a:pPr algn="l">
                        <a:spcAft>
                          <a:spcPts val="0"/>
                        </a:spcAft>
                      </a:pPr>
                      <a:r>
                        <a:rPr sz="1100" b="1" i="0" lang="es-MX">
                          <a:solidFill>
                            <a:srgbClr val="B57BFF"/>
                          </a:solidFill>
                          <a:latin typeface="Consolas"/>
                        </a:rPr>
                        <a:t>monto</a:t>
                      </a:r>
                    </a:p>
                  </a:txBody>
                  <a:tcPr marL="73152" marR="73152" anchor="ctr">
                    <a:solidFill>
                      <a:srgbClr val="3A2A5E"/>
                    </a:solidFill>
                  </a:tcPr>
                </a:tc>
                <a:tc>
                  <a:txBody>
                    <a:bodyPr wrap="square" lIns="36576" rIns="36576" tIns="36576" bIns="36576" anchor="ctr">
                      <a:noAutofit/>
                    </a:bodyPr>
                    <a:lstStyle/>
                    <a:p>
                      <a:pPr algn="l">
                        <a:spcAft>
                          <a:spcPts val="0"/>
                        </a:spcAft>
                      </a:pPr>
                      <a:r>
                        <a:rPr sz="1100" b="1" i="0" lang="es-MX">
                          <a:solidFill>
                            <a:srgbClr val="B57BFF"/>
                          </a:solidFill>
                          <a:latin typeface="Consolas"/>
                        </a:rPr>
                        <a:t>fecha_efectiva</a:t>
                      </a:r>
                    </a:p>
                  </a:txBody>
                  <a:tcPr marL="73152" marR="73152" anchor="ctr">
                    <a:solidFill>
                      <a:srgbClr val="3A2A5E"/>
                    </a:solidFill>
                  </a:tcPr>
                </a:tc>
                <a:tc>
                  <a:txBody>
                    <a:bodyPr wrap="square" lIns="36576" rIns="36576" tIns="36576" bIns="36576" anchor="ctr">
                      <a:noAutofit/>
                    </a:bodyPr>
                    <a:lstStyle/>
                    <a:p>
                      <a:pPr algn="l">
                        <a:spcAft>
                          <a:spcPts val="0"/>
                        </a:spcAft>
                      </a:pPr>
                      <a:r>
                        <a:rPr sz="1100" b="1" i="0" lang="es-MX">
                          <a:solidFill>
                            <a:srgbClr val="B57BFF"/>
                          </a:solidFill>
                          <a:latin typeface="Consolas"/>
                        </a:rPr>
                        <a:t>fecha_expiracion</a:t>
                      </a:r>
                    </a:p>
                  </a:txBody>
                  <a:tcPr marL="73152" marR="73152" anchor="ctr">
                    <a:solidFill>
                      <a:srgbClr val="3A2A5E"/>
                    </a:solidFill>
                  </a:tcPr>
                </a:tc>
                <a:tc>
                  <a:txBody>
                    <a:bodyPr wrap="square" lIns="36576" rIns="36576" tIns="36576" bIns="36576" anchor="ctr">
                      <a:noAutofit/>
                    </a:bodyPr>
                    <a:lstStyle/>
                    <a:p>
                      <a:pPr algn="l">
                        <a:spcAft>
                          <a:spcPts val="0"/>
                        </a:spcAft>
                      </a:pPr>
                      <a:r>
                        <a:rPr sz="1100" b="1" i="0" lang="es-MX">
                          <a:solidFill>
                            <a:srgbClr val="B57BFF"/>
                          </a:solidFill>
                          <a:latin typeface="Consolas"/>
                        </a:rPr>
                        <a:t>es_actual</a:t>
                      </a:r>
                    </a:p>
                  </a:txBody>
                  <a:tcPr marL="73152" marR="73152" anchor="ctr">
                    <a:solidFill>
                      <a:srgbClr val="3A2A5E"/>
                    </a:solidFill>
                  </a:tcPr>
                </a:tc>
              </a:tr>
              <a:tr h="365760">
                <a:tc>
                  <a:txBody>
                    <a:bodyPr wrap="square" lIns="36576" rIns="36576" tIns="36576" bIns="36576" anchor="ctr">
                      <a:noAutofit/>
                    </a:bodyPr>
                    <a:lstStyle/>
                    <a:p>
                      <a:pPr algn="l">
                        <a:spcAft>
                          <a:spcPts val="0"/>
                        </a:spcAft>
                      </a:pPr>
                      <a:r>
                        <a:rPr sz="1100" b="0" i="0" lang="es-MX">
                          <a:solidFill>
                            <a:srgbClr val="FFFFFF"/>
                          </a:solidFill>
                          <a:latin typeface="Consolas"/>
                        </a:rPr>
                        <a:t>101</a:t>
                      </a:r>
                    </a:p>
                  </a:txBody>
                  <a:tcPr marL="73152" marR="73152" anchor="ctr">
                    <a:solidFill>
                      <a:srgbClr val="2B2344"/>
                    </a:solidFill>
                  </a:tcPr>
                </a:tc>
                <a:tc>
                  <a:txBody>
                    <a:bodyPr wrap="square" lIns="36576" rIns="36576" tIns="36576" bIns="36576" anchor="ctr">
                      <a:noAutofit/>
                    </a:bodyPr>
                    <a:lstStyle/>
                    <a:p>
                      <a:pPr algn="l">
                        <a:spcAft>
                          <a:spcPts val="0"/>
                        </a:spcAft>
                      </a:pPr>
                      <a:r>
                        <a:rPr sz="1100" b="0" i="0" lang="es-MX">
                          <a:solidFill>
                            <a:srgbClr val="FFFFFF"/>
                          </a:solidFill>
                          <a:latin typeface="Consolas"/>
                        </a:rPr>
                        <a:t>OBR-001</a:t>
                      </a:r>
                    </a:p>
                  </a:txBody>
                  <a:tcPr marL="73152" marR="73152" anchor="ctr">
                    <a:solidFill>
                      <a:srgbClr val="2B2344"/>
                    </a:solidFill>
                  </a:tcPr>
                </a:tc>
                <a:tc>
                  <a:txBody>
                    <a:bodyPr wrap="square" lIns="36576" rIns="36576" tIns="36576" bIns="36576" anchor="ctr">
                      <a:noAutofit/>
                    </a:bodyPr>
                    <a:lstStyle/>
                    <a:p>
                      <a:pPr algn="l">
                        <a:spcAft>
                          <a:spcPts val="0"/>
                        </a:spcAft>
                      </a:pPr>
                      <a:r>
                        <a:rPr sz="1100" b="0" i="0" lang="es-MX">
                          <a:solidFill>
                            <a:srgbClr val="FFFFFF"/>
                          </a:solidFill>
                          <a:latin typeface="Consolas"/>
                        </a:rPr>
                        <a:t>$4,250,000</a:t>
                      </a:r>
                    </a:p>
                  </a:txBody>
                  <a:tcPr marL="73152" marR="73152" anchor="ctr">
                    <a:solidFill>
                      <a:srgbClr val="2B2344"/>
                    </a:solidFill>
                  </a:tcPr>
                </a:tc>
                <a:tc>
                  <a:txBody>
                    <a:bodyPr wrap="square" lIns="36576" rIns="36576" tIns="36576" bIns="36576" anchor="ctr">
                      <a:noAutofit/>
                    </a:bodyPr>
                    <a:lstStyle/>
                    <a:p>
                      <a:pPr algn="l">
                        <a:spcAft>
                          <a:spcPts val="0"/>
                        </a:spcAft>
                      </a:pPr>
                      <a:r>
                        <a:rPr sz="1100" b="0" i="0" lang="es-MX">
                          <a:solidFill>
                            <a:srgbClr val="FFFFFF"/>
                          </a:solidFill>
                          <a:latin typeface="Consolas"/>
                        </a:rPr>
                        <a:t>2025-02-03</a:t>
                      </a:r>
                    </a:p>
                  </a:txBody>
                  <a:tcPr marL="73152" marR="73152" anchor="ctr">
                    <a:solidFill>
                      <a:srgbClr val="2B2344"/>
                    </a:solidFill>
                  </a:tcPr>
                </a:tc>
                <a:tc>
                  <a:txBody>
                    <a:bodyPr wrap="square" lIns="36576" rIns="36576" tIns="36576" bIns="36576" anchor="ctr">
                      <a:noAutofit/>
                    </a:bodyPr>
                    <a:lstStyle/>
                    <a:p>
                      <a:pPr algn="l">
                        <a:spcAft>
                          <a:spcPts val="0"/>
                        </a:spcAft>
                      </a:pPr>
                      <a:r>
                        <a:rPr sz="1100" b="0" i="0" lang="es-MX">
                          <a:solidFill>
                            <a:srgbClr val="FFFFFF"/>
                          </a:solidFill>
                          <a:latin typeface="Consolas"/>
                        </a:rPr>
                        <a:t>2025-06-14</a:t>
                      </a:r>
                    </a:p>
                  </a:txBody>
                  <a:tcPr marL="73152" marR="73152" anchor="ctr">
                    <a:solidFill>
                      <a:srgbClr val="2B2344"/>
                    </a:solidFill>
                  </a:tcPr>
                </a:tc>
                <a:tc>
                  <a:txBody>
                    <a:bodyPr wrap="square" lIns="36576" rIns="36576" tIns="36576" bIns="36576" anchor="ctr">
                      <a:noAutofit/>
                    </a:bodyPr>
                    <a:lstStyle/>
                    <a:p>
                      <a:pPr algn="l">
                        <a:spcAft>
                          <a:spcPts val="0"/>
                        </a:spcAft>
                      </a:pPr>
                      <a:r>
                        <a:rPr sz="1100" b="0" i="0" lang="es-MX">
                          <a:solidFill>
                            <a:srgbClr val="F87171"/>
                          </a:solidFill>
                          <a:latin typeface="Consolas"/>
                        </a:rPr>
                        <a:t>false</a:t>
                      </a:r>
                    </a:p>
                  </a:txBody>
                  <a:tcPr marL="73152" marR="73152" anchor="ctr">
                    <a:solidFill>
                      <a:srgbClr val="2B2344"/>
                    </a:solidFill>
                  </a:tcPr>
                </a:tc>
              </a:tr>
              <a:tr h="365760">
                <a:tc>
                  <a:txBody>
                    <a:bodyPr wrap="square" lIns="36576" rIns="36576" tIns="36576" bIns="36576" anchor="ctr">
                      <a:noAutofit/>
                    </a:bodyPr>
                    <a:lstStyle/>
                    <a:p>
                      <a:pPr algn="l">
                        <a:spcAft>
                          <a:spcPts val="0"/>
                        </a:spcAft>
                      </a:pPr>
                      <a:r>
                        <a:rPr sz="1100" b="0" i="0" lang="es-MX">
                          <a:solidFill>
                            <a:srgbClr val="FFFFFF"/>
                          </a:solidFill>
                          <a:latin typeface="Consolas"/>
                        </a:rPr>
                        <a:t>187</a:t>
                      </a:r>
                    </a:p>
                  </a:txBody>
                  <a:tcPr marL="73152" marR="73152" anchor="ctr">
                    <a:solidFill>
                      <a:srgbClr val="32285A"/>
                    </a:solidFill>
                  </a:tcPr>
                </a:tc>
                <a:tc>
                  <a:txBody>
                    <a:bodyPr wrap="square" lIns="36576" rIns="36576" tIns="36576" bIns="36576" anchor="ctr">
                      <a:noAutofit/>
                    </a:bodyPr>
                    <a:lstStyle/>
                    <a:p>
                      <a:pPr algn="l">
                        <a:spcAft>
                          <a:spcPts val="0"/>
                        </a:spcAft>
                      </a:pPr>
                      <a:r>
                        <a:rPr sz="1100" b="0" i="0" lang="es-MX">
                          <a:solidFill>
                            <a:srgbClr val="FFFFFF"/>
                          </a:solidFill>
                          <a:latin typeface="Consolas"/>
                        </a:rPr>
                        <a:t>OBR-001</a:t>
                      </a:r>
                    </a:p>
                  </a:txBody>
                  <a:tcPr marL="73152" marR="73152" anchor="ctr">
                    <a:solidFill>
                      <a:srgbClr val="32285A"/>
                    </a:solidFill>
                  </a:tcPr>
                </a:tc>
                <a:tc>
                  <a:txBody>
                    <a:bodyPr wrap="square" lIns="36576" rIns="36576" tIns="36576" bIns="36576" anchor="ctr">
                      <a:noAutofit/>
                    </a:bodyPr>
                    <a:lstStyle/>
                    <a:p>
                      <a:pPr algn="l">
                        <a:spcAft>
                          <a:spcPts val="0"/>
                        </a:spcAft>
                      </a:pPr>
                      <a:r>
                        <a:rPr sz="1100" b="0" i="0" lang="es-MX">
                          <a:solidFill>
                            <a:srgbClr val="FFFFFF"/>
                          </a:solidFill>
                          <a:latin typeface="Consolas"/>
                        </a:rPr>
                        <a:t>$4,600,000</a:t>
                      </a:r>
                    </a:p>
                  </a:txBody>
                  <a:tcPr marL="73152" marR="73152" anchor="ctr">
                    <a:solidFill>
                      <a:srgbClr val="32285A"/>
                    </a:solidFill>
                  </a:tcPr>
                </a:tc>
                <a:tc>
                  <a:txBody>
                    <a:bodyPr wrap="square" lIns="36576" rIns="36576" tIns="36576" bIns="36576" anchor="ctr">
                      <a:noAutofit/>
                    </a:bodyPr>
                    <a:lstStyle/>
                    <a:p>
                      <a:pPr algn="l">
                        <a:spcAft>
                          <a:spcPts val="0"/>
                        </a:spcAft>
                      </a:pPr>
                      <a:r>
                        <a:rPr sz="1100" b="0" i="0" lang="es-MX">
                          <a:solidFill>
                            <a:srgbClr val="FFFFFF"/>
                          </a:solidFill>
                          <a:latin typeface="Consolas"/>
                        </a:rPr>
                        <a:t>2025-06-15</a:t>
                      </a:r>
                    </a:p>
                  </a:txBody>
                  <a:tcPr marL="73152" marR="73152" anchor="ctr">
                    <a:solidFill>
                      <a:srgbClr val="32285A"/>
                    </a:solidFill>
                  </a:tcPr>
                </a:tc>
                <a:tc>
                  <a:txBody>
                    <a:bodyPr wrap="square" lIns="36576" rIns="36576" tIns="36576" bIns="36576" anchor="ctr">
                      <a:noAutofit/>
                    </a:bodyPr>
                    <a:lstStyle/>
                    <a:p>
                      <a:pPr algn="l">
                        <a:spcAft>
                          <a:spcPts val="0"/>
                        </a:spcAft>
                      </a:pPr>
                      <a:r>
                        <a:rPr sz="1100" b="0" i="0" lang="es-MX">
                          <a:solidFill>
                            <a:srgbClr val="FFFFFF"/>
                          </a:solidFill>
                          <a:latin typeface="Consolas"/>
                        </a:rPr>
                        <a:t>9999-12-31</a:t>
                      </a:r>
                    </a:p>
                  </a:txBody>
                  <a:tcPr marL="73152" marR="73152" anchor="ctr">
                    <a:solidFill>
                      <a:srgbClr val="32285A"/>
                    </a:solidFill>
                  </a:tcPr>
                </a:tc>
                <a:tc>
                  <a:txBody>
                    <a:bodyPr wrap="square" lIns="36576" rIns="36576" tIns="36576" bIns="36576" anchor="ctr">
                      <a:noAutofit/>
                    </a:bodyPr>
                    <a:lstStyle/>
                    <a:p>
                      <a:pPr algn="l">
                        <a:spcAft>
                          <a:spcPts val="0"/>
                        </a:spcAft>
                      </a:pPr>
                      <a:r>
                        <a:rPr sz="1100" b="1" i="0" lang="es-MX">
                          <a:solidFill>
                            <a:srgbClr val="34D399"/>
                          </a:solidFill>
                          <a:latin typeface="Consolas"/>
                        </a:rPr>
                        <a:t>true</a:t>
                      </a:r>
                    </a:p>
                  </a:txBody>
                  <a:tcPr marL="73152" marR="73152" anchor="ctr">
                    <a:solidFill>
                      <a:srgbClr val="32285A"/>
                    </a:solidFill>
                  </a:tcPr>
                </a:tc>
              </a:tr>
            </a:tbl>
          </a:graphicData>
        </a:graphic>
      </p:graphicFrame>
      <p:sp>
        <p:nvSpPr>
          <p:cNvPr id="7" name="TextBox 6"/>
          <p:cNvSpPr txBox="1"/>
          <p:nvPr/>
        </p:nvSpPr>
        <p:spPr>
          <a:xfrm>
            <a:off x="548640" y="3785615"/>
            <a:ext cx="6126480" cy="274320"/>
          </a:xfrm>
          <a:prstGeom prst="rect">
            <a:avLst/>
          </a:prstGeom>
          <a:noFill/>
        </p:spPr>
        <p:txBody>
          <a:bodyPr wrap="square" lIns="0" rIns="0" tIns="0" bIns="0" anchor="t">
            <a:noAutofit/>
          </a:bodyPr>
          <a:lstStyle/>
          <a:p>
            <a:pPr algn="l">
              <a:spcAft>
                <a:spcPts val="0"/>
              </a:spcAft>
            </a:pPr>
            <a:r>
              <a:rPr sz="950" b="0" i="0" lang="es-MX">
                <a:solidFill>
                  <a:srgbClr val="8E84AB"/>
                </a:solidFill>
                <a:latin typeface="Calibri"/>
              </a:rPr>
              <a:t>dim_presupuesto · valores ilustrativos</a:t>
            </a:r>
          </a:p>
        </p:txBody>
      </p:sp>
      <p:cxnSp>
        <p:nvCxnSpPr>
          <p:cNvPr id="8" name="Connector 7"/>
          <p:cNvCxnSpPr/>
          <p:nvPr/>
        </p:nvCxnSpPr>
        <p:spPr>
          <a:xfrm>
            <a:off x="822960" y="5285232"/>
            <a:ext cx="5760719" cy="0"/>
          </a:xfrm>
          <a:prstGeom prst="line">
            <a:avLst/>
          </a:prstGeom>
          <a:ln w="12700">
            <a:solidFill>
              <a:srgbClr val="ADA3C8">
                <a:alpha val="70000"/>
              </a:srgbClr>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70007" y="4956048"/>
            <a:ext cx="3081641" cy="237744"/>
          </a:xfrm>
          <a:prstGeom prst="roundRect">
            <a:avLst>
              <a:gd name="adj" fmla="val 19230"/>
            </a:avLst>
          </a:prstGeom>
          <a:solidFill>
            <a:srgbClr val="B57BFF">
              <a:alpha val="35000"/>
            </a:srgbClr>
          </a:solidFill>
          <a:ln w="9525">
            <a:solidFill>
              <a:srgbClr val="B57BFF">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3975173" y="4956048"/>
            <a:ext cx="2517066" cy="237744"/>
          </a:xfrm>
          <a:prstGeom prst="roundRect">
            <a:avLst>
              <a:gd name="adj" fmla="val 19230"/>
            </a:avLst>
          </a:prstGeom>
          <a:solidFill>
            <a:srgbClr val="B5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70007" y="4956048"/>
            <a:ext cx="3081641" cy="237744"/>
          </a:xfrm>
          <a:prstGeom prst="rect">
            <a:avLst/>
          </a:prstGeom>
          <a:noFill/>
        </p:spPr>
        <p:txBody>
          <a:bodyPr wrap="square" lIns="0" rIns="0" tIns="0" bIns="0" anchor="ctr">
            <a:noAutofit/>
          </a:bodyPr>
          <a:lstStyle/>
          <a:p>
            <a:pPr algn="ctr">
              <a:spcAft>
                <a:spcPts val="0"/>
              </a:spcAft>
            </a:pPr>
            <a:r>
              <a:rPr sz="1000" b="1" i="0" lang="es-MX">
                <a:solidFill>
                  <a:srgbClr val="FFFFFF"/>
                </a:solidFill>
                <a:latin typeface="Calibri"/>
              </a:rPr>
              <a:t>v1 · $4.25 M</a:t>
            </a:r>
          </a:p>
        </p:txBody>
      </p:sp>
      <p:sp>
        <p:nvSpPr>
          <p:cNvPr id="12" name="TextBox 11"/>
          <p:cNvSpPr txBox="1"/>
          <p:nvPr/>
        </p:nvSpPr>
        <p:spPr>
          <a:xfrm>
            <a:off x="3975173" y="4956048"/>
            <a:ext cx="2517066" cy="237744"/>
          </a:xfrm>
          <a:prstGeom prst="rect">
            <a:avLst/>
          </a:prstGeom>
          <a:noFill/>
        </p:spPr>
        <p:txBody>
          <a:bodyPr wrap="square" lIns="0" rIns="0" tIns="0" bIns="0" anchor="ctr">
            <a:noAutofit/>
          </a:bodyPr>
          <a:lstStyle/>
          <a:p>
            <a:pPr algn="ctr">
              <a:spcAft>
                <a:spcPts val="0"/>
              </a:spcAft>
            </a:pPr>
            <a:r>
              <a:rPr sz="1000" b="1" i="0" lang="es-MX">
                <a:solidFill>
                  <a:srgbClr val="1B1530"/>
                </a:solidFill>
                <a:latin typeface="Calibri"/>
              </a:rPr>
              <a:t>v2 · $4.60 M (vigente)</a:t>
            </a:r>
          </a:p>
        </p:txBody>
      </p:sp>
      <p:cxnSp>
        <p:nvCxnSpPr>
          <p:cNvPr id="13" name="Connector 12"/>
          <p:cNvCxnSpPr/>
          <p:nvPr/>
        </p:nvCxnSpPr>
        <p:spPr>
          <a:xfrm>
            <a:off x="822960" y="5248656"/>
            <a:ext cx="0" cy="91440"/>
          </a:xfrm>
          <a:prstGeom prst="line">
            <a:avLst/>
          </a:prstGeom>
          <a:ln w="12700">
            <a:solidFill>
              <a:srgbClr val="ADA3C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8640" y="5358384"/>
            <a:ext cx="548640" cy="228600"/>
          </a:xfrm>
          <a:prstGeom prst="rect">
            <a:avLst/>
          </a:prstGeom>
          <a:noFill/>
        </p:spPr>
        <p:txBody>
          <a:bodyPr wrap="square" lIns="0" rIns="0" tIns="0" bIns="0" anchor="t">
            <a:noAutofit/>
          </a:bodyPr>
          <a:lstStyle/>
          <a:p>
            <a:pPr algn="ctr">
              <a:spcAft>
                <a:spcPts val="0"/>
              </a:spcAft>
            </a:pPr>
            <a:r>
              <a:rPr sz="950" b="0" i="0" lang="es-MX">
                <a:solidFill>
                  <a:srgbClr val="ADA3C8"/>
                </a:solidFill>
                <a:latin typeface="Calibri"/>
              </a:rPr>
              <a:t>feb</a:t>
            </a:r>
          </a:p>
        </p:txBody>
      </p:sp>
      <p:cxnSp>
        <p:nvCxnSpPr>
          <p:cNvPr id="15" name="Connector 14"/>
          <p:cNvCxnSpPr/>
          <p:nvPr/>
        </p:nvCxnSpPr>
        <p:spPr>
          <a:xfrm>
            <a:off x="1481631" y="5248656"/>
            <a:ext cx="0" cy="91440"/>
          </a:xfrm>
          <a:prstGeom prst="line">
            <a:avLst/>
          </a:prstGeom>
          <a:ln w="12700">
            <a:solidFill>
              <a:srgbClr val="ADA3C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207311" y="5358384"/>
            <a:ext cx="548640" cy="228600"/>
          </a:xfrm>
          <a:prstGeom prst="rect">
            <a:avLst/>
          </a:prstGeom>
          <a:noFill/>
        </p:spPr>
        <p:txBody>
          <a:bodyPr wrap="square" lIns="0" rIns="0" tIns="0" bIns="0" anchor="t">
            <a:noAutofit/>
          </a:bodyPr>
          <a:lstStyle/>
          <a:p>
            <a:pPr algn="ctr">
              <a:spcAft>
                <a:spcPts val="0"/>
              </a:spcAft>
            </a:pPr>
            <a:r>
              <a:rPr sz="950" b="0" i="0" lang="es-MX">
                <a:solidFill>
                  <a:srgbClr val="ADA3C8"/>
                </a:solidFill>
                <a:latin typeface="Calibri"/>
              </a:rPr>
              <a:t>mar</a:t>
            </a:r>
          </a:p>
        </p:txBody>
      </p:sp>
      <p:cxnSp>
        <p:nvCxnSpPr>
          <p:cNvPr id="17" name="Connector 16"/>
          <p:cNvCxnSpPr/>
          <p:nvPr/>
        </p:nvCxnSpPr>
        <p:spPr>
          <a:xfrm>
            <a:off x="2210875" y="5248656"/>
            <a:ext cx="0" cy="91440"/>
          </a:xfrm>
          <a:prstGeom prst="line">
            <a:avLst/>
          </a:prstGeom>
          <a:ln w="12700">
            <a:solidFill>
              <a:srgbClr val="ADA3C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936555" y="5358384"/>
            <a:ext cx="548640" cy="228600"/>
          </a:xfrm>
          <a:prstGeom prst="rect">
            <a:avLst/>
          </a:prstGeom>
          <a:noFill/>
        </p:spPr>
        <p:txBody>
          <a:bodyPr wrap="square" lIns="0" rIns="0" tIns="0" bIns="0" anchor="t">
            <a:noAutofit/>
          </a:bodyPr>
          <a:lstStyle/>
          <a:p>
            <a:pPr algn="ctr">
              <a:spcAft>
                <a:spcPts val="0"/>
              </a:spcAft>
            </a:pPr>
            <a:r>
              <a:rPr sz="950" b="0" i="0" lang="es-MX">
                <a:solidFill>
                  <a:srgbClr val="ADA3C8"/>
                </a:solidFill>
                <a:latin typeface="Calibri"/>
              </a:rPr>
              <a:t>abr</a:t>
            </a:r>
          </a:p>
        </p:txBody>
      </p:sp>
      <p:cxnSp>
        <p:nvCxnSpPr>
          <p:cNvPr id="19" name="Connector 18"/>
          <p:cNvCxnSpPr/>
          <p:nvPr/>
        </p:nvCxnSpPr>
        <p:spPr>
          <a:xfrm>
            <a:off x="2916594" y="5248656"/>
            <a:ext cx="0" cy="91440"/>
          </a:xfrm>
          <a:prstGeom prst="line">
            <a:avLst/>
          </a:prstGeom>
          <a:ln w="12700">
            <a:solidFill>
              <a:srgbClr val="ADA3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642274" y="5358384"/>
            <a:ext cx="548640" cy="228600"/>
          </a:xfrm>
          <a:prstGeom prst="rect">
            <a:avLst/>
          </a:prstGeom>
          <a:noFill/>
        </p:spPr>
        <p:txBody>
          <a:bodyPr wrap="square" lIns="0" rIns="0" tIns="0" bIns="0" anchor="t">
            <a:noAutofit/>
          </a:bodyPr>
          <a:lstStyle/>
          <a:p>
            <a:pPr algn="ctr">
              <a:spcAft>
                <a:spcPts val="0"/>
              </a:spcAft>
            </a:pPr>
            <a:r>
              <a:rPr sz="950" b="0" i="0" lang="es-MX">
                <a:solidFill>
                  <a:srgbClr val="ADA3C8"/>
                </a:solidFill>
                <a:latin typeface="Calibri"/>
              </a:rPr>
              <a:t>may</a:t>
            </a:r>
          </a:p>
        </p:txBody>
      </p:sp>
      <p:cxnSp>
        <p:nvCxnSpPr>
          <p:cNvPr id="21" name="Connector 20"/>
          <p:cNvCxnSpPr/>
          <p:nvPr/>
        </p:nvCxnSpPr>
        <p:spPr>
          <a:xfrm>
            <a:off x="3645838" y="5248656"/>
            <a:ext cx="0" cy="91440"/>
          </a:xfrm>
          <a:prstGeom prst="line">
            <a:avLst/>
          </a:prstGeom>
          <a:ln w="12700">
            <a:solidFill>
              <a:srgbClr val="ADA3C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371518" y="5358384"/>
            <a:ext cx="548640" cy="228600"/>
          </a:xfrm>
          <a:prstGeom prst="rect">
            <a:avLst/>
          </a:prstGeom>
          <a:noFill/>
        </p:spPr>
        <p:txBody>
          <a:bodyPr wrap="square" lIns="0" rIns="0" tIns="0" bIns="0" anchor="t">
            <a:noAutofit/>
          </a:bodyPr>
          <a:lstStyle/>
          <a:p>
            <a:pPr algn="ctr">
              <a:spcAft>
                <a:spcPts val="0"/>
              </a:spcAft>
            </a:pPr>
            <a:r>
              <a:rPr sz="950" b="0" i="0" lang="es-MX">
                <a:solidFill>
                  <a:srgbClr val="ADA3C8"/>
                </a:solidFill>
                <a:latin typeface="Calibri"/>
              </a:rPr>
              <a:t>jun</a:t>
            </a:r>
          </a:p>
        </p:txBody>
      </p:sp>
      <p:cxnSp>
        <p:nvCxnSpPr>
          <p:cNvPr id="23" name="Connector 22"/>
          <p:cNvCxnSpPr/>
          <p:nvPr/>
        </p:nvCxnSpPr>
        <p:spPr>
          <a:xfrm>
            <a:off x="4351557" y="5248656"/>
            <a:ext cx="0" cy="91440"/>
          </a:xfrm>
          <a:prstGeom prst="line">
            <a:avLst/>
          </a:prstGeom>
          <a:ln w="12700">
            <a:solidFill>
              <a:srgbClr val="ADA3C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077237" y="5358384"/>
            <a:ext cx="548640" cy="228600"/>
          </a:xfrm>
          <a:prstGeom prst="rect">
            <a:avLst/>
          </a:prstGeom>
          <a:noFill/>
        </p:spPr>
        <p:txBody>
          <a:bodyPr wrap="square" lIns="0" rIns="0" tIns="0" bIns="0" anchor="t">
            <a:noAutofit/>
          </a:bodyPr>
          <a:lstStyle/>
          <a:p>
            <a:pPr algn="ctr">
              <a:spcAft>
                <a:spcPts val="0"/>
              </a:spcAft>
            </a:pPr>
            <a:r>
              <a:rPr sz="950" b="0" i="0" lang="es-MX">
                <a:solidFill>
                  <a:srgbClr val="ADA3C8"/>
                </a:solidFill>
                <a:latin typeface="Calibri"/>
              </a:rPr>
              <a:t>jul</a:t>
            </a:r>
          </a:p>
        </p:txBody>
      </p:sp>
      <p:cxnSp>
        <p:nvCxnSpPr>
          <p:cNvPr id="25" name="Connector 24"/>
          <p:cNvCxnSpPr/>
          <p:nvPr/>
        </p:nvCxnSpPr>
        <p:spPr>
          <a:xfrm>
            <a:off x="5080800" y="5248656"/>
            <a:ext cx="0" cy="91440"/>
          </a:xfrm>
          <a:prstGeom prst="line">
            <a:avLst/>
          </a:prstGeom>
          <a:ln w="12700">
            <a:solidFill>
              <a:srgbClr val="ADA3C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806480" y="5358384"/>
            <a:ext cx="548640" cy="228600"/>
          </a:xfrm>
          <a:prstGeom prst="rect">
            <a:avLst/>
          </a:prstGeom>
          <a:noFill/>
        </p:spPr>
        <p:txBody>
          <a:bodyPr wrap="square" lIns="0" rIns="0" tIns="0" bIns="0" anchor="t">
            <a:noAutofit/>
          </a:bodyPr>
          <a:lstStyle/>
          <a:p>
            <a:pPr algn="ctr">
              <a:spcAft>
                <a:spcPts val="0"/>
              </a:spcAft>
            </a:pPr>
            <a:r>
              <a:rPr sz="950" b="0" i="0" lang="es-MX">
                <a:solidFill>
                  <a:srgbClr val="ADA3C8"/>
                </a:solidFill>
                <a:latin typeface="Calibri"/>
              </a:rPr>
              <a:t>ago</a:t>
            </a:r>
          </a:p>
        </p:txBody>
      </p:sp>
      <p:cxnSp>
        <p:nvCxnSpPr>
          <p:cNvPr id="27" name="Connector 26"/>
          <p:cNvCxnSpPr/>
          <p:nvPr/>
        </p:nvCxnSpPr>
        <p:spPr>
          <a:xfrm>
            <a:off x="5810044" y="5248656"/>
            <a:ext cx="0" cy="91440"/>
          </a:xfrm>
          <a:prstGeom prst="line">
            <a:avLst/>
          </a:prstGeom>
          <a:ln w="12700">
            <a:solidFill>
              <a:srgbClr val="ADA3C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535724" y="5358384"/>
            <a:ext cx="548640" cy="228600"/>
          </a:xfrm>
          <a:prstGeom prst="rect">
            <a:avLst/>
          </a:prstGeom>
          <a:noFill/>
        </p:spPr>
        <p:txBody>
          <a:bodyPr wrap="square" lIns="0" rIns="0" tIns="0" bIns="0" anchor="t">
            <a:noAutofit/>
          </a:bodyPr>
          <a:lstStyle/>
          <a:p>
            <a:pPr algn="ctr">
              <a:spcAft>
                <a:spcPts val="0"/>
              </a:spcAft>
            </a:pPr>
            <a:r>
              <a:rPr sz="950" b="0" i="0" lang="es-MX">
                <a:solidFill>
                  <a:srgbClr val="ADA3C8"/>
                </a:solidFill>
                <a:latin typeface="Calibri"/>
              </a:rPr>
              <a:t>sep</a:t>
            </a:r>
          </a:p>
        </p:txBody>
      </p:sp>
      <p:sp>
        <p:nvSpPr>
          <p:cNvPr id="29" name="TextBox 28"/>
          <p:cNvSpPr txBox="1"/>
          <p:nvPr/>
        </p:nvSpPr>
        <p:spPr>
          <a:xfrm>
            <a:off x="5943600" y="5559552"/>
            <a:ext cx="731520" cy="228600"/>
          </a:xfrm>
          <a:prstGeom prst="rect">
            <a:avLst/>
          </a:prstGeom>
          <a:noFill/>
        </p:spPr>
        <p:txBody>
          <a:bodyPr wrap="square" lIns="0" rIns="0" tIns="0" bIns="0" anchor="t">
            <a:noAutofit/>
          </a:bodyPr>
          <a:lstStyle/>
          <a:p>
            <a:pPr algn="r">
              <a:spcAft>
                <a:spcPts val="0"/>
              </a:spcAft>
            </a:pPr>
            <a:r>
              <a:rPr sz="950" b="0" i="0" lang="es-MX">
                <a:solidFill>
                  <a:srgbClr val="8E84AB"/>
                </a:solidFill>
                <a:latin typeface="Calibri"/>
              </a:rPr>
              <a:t>2025</a:t>
            </a:r>
          </a:p>
        </p:txBody>
      </p:sp>
      <p:sp>
        <p:nvSpPr>
          <p:cNvPr id="30" name="Diamond 29"/>
          <p:cNvSpPr/>
          <p:nvPr/>
        </p:nvSpPr>
        <p:spPr>
          <a:xfrm>
            <a:off x="3262966" y="4489704"/>
            <a:ext cx="201168" cy="201168"/>
          </a:xfrm>
          <a:prstGeom prst="diamond">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1" name="Connector 30"/>
          <p:cNvCxnSpPr/>
          <p:nvPr/>
        </p:nvCxnSpPr>
        <p:spPr>
          <a:xfrm>
            <a:off x="3363550" y="4690872"/>
            <a:ext cx="0" cy="246888"/>
          </a:xfrm>
          <a:prstGeom prst="line">
            <a:avLst/>
          </a:prstGeom>
          <a:ln w="15875">
            <a:solidFill>
              <a:srgbClr val="FBBF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22960" y="4187952"/>
            <a:ext cx="4232230" cy="274320"/>
          </a:xfrm>
          <a:prstGeom prst="rect">
            <a:avLst/>
          </a:prstGeom>
          <a:noFill/>
        </p:spPr>
        <p:txBody>
          <a:bodyPr wrap="square" lIns="0" rIns="0" tIns="0" bIns="0" anchor="t">
            <a:noAutofit/>
          </a:bodyPr>
          <a:lstStyle/>
          <a:p>
            <a:pPr algn="l">
              <a:spcAft>
                <a:spcPts val="0"/>
              </a:spcAft>
            </a:pPr>
            <a:r>
              <a:rPr sz="1100" b="1" i="0" lang="es-MX">
                <a:solidFill>
                  <a:srgbClr val="FBBF24"/>
                </a:solidFill>
                <a:latin typeface="Calibri"/>
              </a:rPr>
              <a:t>pago autorizado el 20 de mayo</a:t>
            </a:r>
            <a:r>
              <a:rPr sz="1100" b="0" i="0" lang="es-MX">
                <a:solidFill>
                  <a:srgbClr val="DDD6EE"/>
                </a:solidFill>
                <a:latin typeface="Calibri"/>
              </a:rPr>
              <a:t>  → se une a v1 ($4.25 M)</a:t>
            </a:r>
          </a:p>
        </p:txBody>
      </p:sp>
      <p:sp>
        <p:nvSpPr>
          <p:cNvPr id="33" name="TextBox 32"/>
          <p:cNvSpPr txBox="1"/>
          <p:nvPr/>
        </p:nvSpPr>
        <p:spPr>
          <a:xfrm>
            <a:off x="548640" y="5733288"/>
            <a:ext cx="3840480" cy="365760"/>
          </a:xfrm>
          <a:prstGeom prst="rect">
            <a:avLst/>
          </a:prstGeom>
          <a:noFill/>
        </p:spPr>
        <p:txBody>
          <a:bodyPr wrap="square" lIns="0" rIns="0" tIns="0" bIns="0" anchor="t">
            <a:noAutofit/>
          </a:bodyPr>
          <a:lstStyle/>
          <a:p>
            <a:pPr algn="l">
              <a:spcAft>
                <a:spcPts val="0"/>
              </a:spcAft>
            </a:pPr>
            <a:r>
              <a:rPr sz="1050" b="0" i="1" lang="es-MX">
                <a:solidFill>
                  <a:srgbClr val="ADA3C8"/>
                </a:solidFill>
                <a:latin typeface="Calibri"/>
              </a:rPr>
              <a:t>Cerrar v1 y abrir v2 lo hace un trigger, no la aplicación.</a:t>
            </a:r>
          </a:p>
        </p:txBody>
      </p:sp>
      <p:sp>
        <p:nvSpPr>
          <p:cNvPr id="34" name="TextBox 33"/>
          <p:cNvSpPr txBox="1"/>
          <p:nvPr/>
        </p:nvSpPr>
        <p:spPr>
          <a:xfrm>
            <a:off x="7178040" y="1783080"/>
            <a:ext cx="4480560" cy="320040"/>
          </a:xfrm>
          <a:prstGeom prst="rect">
            <a:avLst/>
          </a:prstGeom>
          <a:noFill/>
        </p:spPr>
        <p:txBody>
          <a:bodyPr wrap="square" lIns="0" rIns="0" tIns="0" bIns="0" anchor="t">
            <a:noAutofit/>
          </a:bodyPr>
          <a:lstStyle/>
          <a:p>
            <a:pPr algn="l">
              <a:spcAft>
                <a:spcPts val="0"/>
              </a:spcAft>
            </a:pPr>
            <a:r>
              <a:rPr sz="1400" b="1" i="0" lang="es-MX">
                <a:solidFill>
                  <a:srgbClr val="D9C5FF"/>
                </a:solidFill>
                <a:latin typeface="Calibri"/>
              </a:rPr>
              <a:t>Por qué tipo 2 en cinco entidades</a:t>
            </a:r>
          </a:p>
        </p:txBody>
      </p:sp>
      <p:sp>
        <p:nvSpPr>
          <p:cNvPr id="35" name="Oval 34"/>
          <p:cNvSpPr/>
          <p:nvPr/>
        </p:nvSpPr>
        <p:spPr>
          <a:xfrm>
            <a:off x="7196328" y="2258568"/>
            <a:ext cx="548640" cy="548640"/>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banknote.png"/>
          <p:cNvPicPr>
            <a:picLocks noChangeAspect="1"/>
          </p:cNvPicPr>
          <p:nvPr/>
        </p:nvPicPr>
        <p:blipFill>
          <a:blip r:embed="rId2"/>
          <a:stretch>
            <a:fillRect/>
          </a:stretch>
        </p:blipFill>
        <p:spPr>
          <a:xfrm>
            <a:off x="7328001" y="2390241"/>
            <a:ext cx="285292" cy="285292"/>
          </a:xfrm>
          <a:prstGeom prst="rect">
            <a:avLst/>
          </a:prstGeom>
        </p:spPr>
      </p:pic>
      <p:sp>
        <p:nvSpPr>
          <p:cNvPr id="37" name="TextBox 36"/>
          <p:cNvSpPr txBox="1"/>
          <p:nvPr/>
        </p:nvSpPr>
        <p:spPr>
          <a:xfrm>
            <a:off x="7909560" y="2240280"/>
            <a:ext cx="3749039" cy="731520"/>
          </a:xfrm>
          <a:prstGeom prst="rect">
            <a:avLst/>
          </a:prstGeom>
          <a:noFill/>
        </p:spPr>
        <p:txBody>
          <a:bodyPr wrap="square" lIns="0" rIns="0" tIns="0" bIns="0" anchor="ctr">
            <a:noAutofit/>
          </a:bodyPr>
          <a:lstStyle/>
          <a:p>
            <a:pPr algn="l">
              <a:spcAft>
                <a:spcPts val="100"/>
              </a:spcAft>
            </a:pPr>
            <a:r>
              <a:rPr sz="1250" b="1" i="0" lang="es-MX">
                <a:solidFill>
                  <a:srgbClr val="FFFFFF"/>
                </a:solidFill>
                <a:latin typeface="Calibri"/>
              </a:rPr>
              <a:t>Auditoría de modificación presupuestal</a:t>
            </a:r>
          </a:p>
          <a:p>
            <a:pPr algn="l">
              <a:spcAft>
                <a:spcPts val="0"/>
              </a:spcAft>
            </a:pPr>
            <a:r>
              <a:rPr sz="1100" b="0" i="0" lang="es-MX">
                <a:solidFill>
                  <a:srgbClr val="DDD6EE"/>
                </a:solidFill>
                <a:latin typeface="Calibri"/>
              </a:rPr>
              <a:t>qué monto estaba vigente al autorizar un pago</a:t>
            </a:r>
          </a:p>
        </p:txBody>
      </p:sp>
      <p:sp>
        <p:nvSpPr>
          <p:cNvPr id="38" name="Oval 37"/>
          <p:cNvSpPr/>
          <p:nvPr/>
        </p:nvSpPr>
        <p:spPr>
          <a:xfrm>
            <a:off x="7196328" y="3081528"/>
            <a:ext cx="548640" cy="548640"/>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hardhat.png"/>
          <p:cNvPicPr>
            <a:picLocks noChangeAspect="1"/>
          </p:cNvPicPr>
          <p:nvPr/>
        </p:nvPicPr>
        <p:blipFill>
          <a:blip r:embed="rId3"/>
          <a:stretch>
            <a:fillRect/>
          </a:stretch>
        </p:blipFill>
        <p:spPr>
          <a:xfrm>
            <a:off x="7328001" y="3213201"/>
            <a:ext cx="285292" cy="285292"/>
          </a:xfrm>
          <a:prstGeom prst="rect">
            <a:avLst/>
          </a:prstGeom>
        </p:spPr>
      </p:pic>
      <p:sp>
        <p:nvSpPr>
          <p:cNvPr id="40" name="TextBox 39"/>
          <p:cNvSpPr txBox="1"/>
          <p:nvPr/>
        </p:nvSpPr>
        <p:spPr>
          <a:xfrm>
            <a:off x="7909560" y="3063240"/>
            <a:ext cx="3749039" cy="731520"/>
          </a:xfrm>
          <a:prstGeom prst="rect">
            <a:avLst/>
          </a:prstGeom>
          <a:noFill/>
        </p:spPr>
        <p:txBody>
          <a:bodyPr wrap="square" lIns="0" rIns="0" tIns="0" bIns="0" anchor="ctr">
            <a:noAutofit/>
          </a:bodyPr>
          <a:lstStyle/>
          <a:p>
            <a:pPr algn="l">
              <a:spcAft>
                <a:spcPts val="100"/>
              </a:spcAft>
            </a:pPr>
            <a:r>
              <a:rPr sz="1250" b="1" i="0" lang="es-MX">
                <a:solidFill>
                  <a:srgbClr val="FFFFFF"/>
                </a:solidFill>
                <a:latin typeface="Calibri"/>
              </a:rPr>
              <a:t>Reasignación de constructora</a:t>
            </a:r>
          </a:p>
          <a:p>
            <a:pPr algn="l">
              <a:spcAft>
                <a:spcPts val="0"/>
              </a:spcAft>
            </a:pPr>
            <a:r>
              <a:rPr sz="1100" b="0" i="0" lang="es-MX">
                <a:solidFill>
                  <a:srgbClr val="DDD6EE"/>
                </a:solidFill>
                <a:latin typeface="Calibri"/>
              </a:rPr>
              <a:t>el avance previo sigue atribuido a la constructora original</a:t>
            </a:r>
          </a:p>
        </p:txBody>
      </p:sp>
      <p:sp>
        <p:nvSpPr>
          <p:cNvPr id="41" name="Oval 40"/>
          <p:cNvSpPr/>
          <p:nvPr/>
        </p:nvSpPr>
        <p:spPr>
          <a:xfrm>
            <a:off x="7196328" y="3904488"/>
            <a:ext cx="548640" cy="548640"/>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map.png"/>
          <p:cNvPicPr>
            <a:picLocks noChangeAspect="1"/>
          </p:cNvPicPr>
          <p:nvPr/>
        </p:nvPicPr>
        <p:blipFill>
          <a:blip r:embed="rId4"/>
          <a:stretch>
            <a:fillRect/>
          </a:stretch>
        </p:blipFill>
        <p:spPr>
          <a:xfrm>
            <a:off x="7328001" y="4036161"/>
            <a:ext cx="285292" cy="285292"/>
          </a:xfrm>
          <a:prstGeom prst="rect">
            <a:avLst/>
          </a:prstGeom>
        </p:spPr>
      </p:pic>
      <p:sp>
        <p:nvSpPr>
          <p:cNvPr id="43" name="TextBox 42"/>
          <p:cNvSpPr txBox="1"/>
          <p:nvPr/>
        </p:nvSpPr>
        <p:spPr>
          <a:xfrm>
            <a:off x="7909560" y="3886200"/>
            <a:ext cx="3749039" cy="731520"/>
          </a:xfrm>
          <a:prstGeom prst="rect">
            <a:avLst/>
          </a:prstGeom>
          <a:noFill/>
        </p:spPr>
        <p:txBody>
          <a:bodyPr wrap="square" lIns="0" rIns="0" tIns="0" bIns="0" anchor="ctr">
            <a:noAutofit/>
          </a:bodyPr>
          <a:lstStyle/>
          <a:p>
            <a:pPr algn="l">
              <a:spcAft>
                <a:spcPts val="100"/>
              </a:spcAft>
            </a:pPr>
            <a:r>
              <a:rPr sz="1250" b="1" i="0" lang="es-MX">
                <a:solidFill>
                  <a:srgbClr val="FFFFFF"/>
                </a:solidFill>
                <a:latin typeface="Calibri"/>
              </a:rPr>
              <a:t>Reorganización territorial</a:t>
            </a:r>
          </a:p>
          <a:p>
            <a:pPr algn="l">
              <a:spcAft>
                <a:spcPts val="0"/>
              </a:spcAft>
            </a:pPr>
            <a:r>
              <a:rPr sz="1100" b="0" i="0" lang="es-MX">
                <a:solidFill>
                  <a:srgbClr val="DDD6EE"/>
                </a:solidFill>
                <a:latin typeface="Calibri"/>
              </a:rPr>
              <a:t>comunidades fusionadas o renombradas no reescriben la inversión histórica</a:t>
            </a:r>
          </a:p>
        </p:txBody>
      </p:sp>
      <p:sp>
        <p:nvSpPr>
          <p:cNvPr id="44" name="Rounded Rectangle 43"/>
          <p:cNvSpPr/>
          <p:nvPr/>
        </p:nvSpPr>
        <p:spPr>
          <a:xfrm>
            <a:off x="7178040" y="4754880"/>
            <a:ext cx="4462272" cy="896112"/>
          </a:xfrm>
          <a:prstGeom prst="roundRect">
            <a:avLst>
              <a:gd name="adj" fmla="val 12244"/>
            </a:avLst>
          </a:prstGeom>
          <a:solidFill>
            <a:srgbClr val="2DD4BF">
              <a:alpha val="8000"/>
            </a:srgbClr>
          </a:solidFill>
          <a:ln w="9525">
            <a:solidFill>
              <a:srgbClr val="2DD4BF">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7269479" y="4974336"/>
            <a:ext cx="457200" cy="457200"/>
          </a:xfrm>
          <a:prstGeom prst="ellipse">
            <a:avLst/>
          </a:prstGeom>
          <a:solidFill>
            <a:srgbClr val="2DD4BF">
              <a:alpha val="18000"/>
            </a:srgbClr>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shield.png"/>
          <p:cNvPicPr>
            <a:picLocks noChangeAspect="1"/>
          </p:cNvPicPr>
          <p:nvPr/>
        </p:nvPicPr>
        <p:blipFill>
          <a:blip r:embed="rId5"/>
          <a:stretch>
            <a:fillRect/>
          </a:stretch>
        </p:blipFill>
        <p:spPr>
          <a:xfrm>
            <a:off x="7379207" y="5084064"/>
            <a:ext cx="237744" cy="237744"/>
          </a:xfrm>
          <a:prstGeom prst="rect">
            <a:avLst/>
          </a:prstGeom>
        </p:spPr>
      </p:pic>
      <p:sp>
        <p:nvSpPr>
          <p:cNvPr id="47" name="TextBox 46"/>
          <p:cNvSpPr txBox="1"/>
          <p:nvPr/>
        </p:nvSpPr>
        <p:spPr>
          <a:xfrm>
            <a:off x="7863840" y="4773168"/>
            <a:ext cx="3703320" cy="859536"/>
          </a:xfrm>
          <a:prstGeom prst="rect">
            <a:avLst/>
          </a:prstGeom>
          <a:noFill/>
        </p:spPr>
        <p:txBody>
          <a:bodyPr wrap="square" lIns="0" rIns="0" tIns="0" bIns="0" anchor="ctr">
            <a:noAutofit/>
          </a:bodyPr>
          <a:lstStyle/>
          <a:p>
            <a:pPr algn="l">
              <a:spcAft>
                <a:spcPts val="0"/>
              </a:spcAft>
            </a:pPr>
            <a:r>
              <a:rPr sz="1100" b="1" i="0" lang="es-MX">
                <a:solidFill>
                  <a:srgbClr val="2DD4BF"/>
                </a:solidFill>
                <a:latin typeface="Calibri"/>
              </a:rPr>
              <a:t>Tipo 1 a propósito: </a:t>
            </a:r>
            <a:r>
              <a:rPr sz="1100" b="0" i="0" lang="es-MX">
                <a:solidFill>
                  <a:srgbClr val="FFFFFF"/>
                </a:solidFill>
                <a:latin typeface="Calibri"/>
              </a:rPr>
              <a:t>pobladores y propuestas — conservar nombres y CURP anteriores sería un pasivo de datos personales.</a:t>
            </a:r>
          </a:p>
        </p:txBody>
      </p:sp>
      <p:sp>
        <p:nvSpPr>
          <p:cNvPr id="48" name="TextBox 47"/>
          <p:cNvSpPr txBox="1"/>
          <p:nvPr/>
        </p:nvSpPr>
        <p:spPr>
          <a:xfrm>
            <a:off x="7178040" y="5742432"/>
            <a:ext cx="4480560" cy="274320"/>
          </a:xfrm>
          <a:prstGeom prst="rect">
            <a:avLst/>
          </a:prstGeom>
          <a:noFill/>
        </p:spPr>
        <p:txBody>
          <a:bodyPr wrap="square" lIns="0" rIns="0" tIns="0" bIns="0" anchor="t">
            <a:noAutofit/>
          </a:bodyPr>
          <a:lstStyle/>
          <a:p>
            <a:pPr algn="l">
              <a:spcAft>
                <a:spcPts val="0"/>
              </a:spcAft>
            </a:pPr>
            <a:r>
              <a:rPr sz="950" b="0" i="0" lang="es-MX">
                <a:solidFill>
                  <a:srgbClr val="ADA3C8"/>
                </a:solidFill>
                <a:latin typeface="Consolas"/>
              </a:rPr>
              <a:t>scripts/verificar_scd.py</a:t>
            </a:r>
            <a:r>
              <a:rPr sz="950" b="0" i="0" lang="es-MX">
                <a:solidFill>
                  <a:srgbClr val="ADA3C8"/>
                </a:solidFill>
                <a:latin typeface="Calibri"/>
              </a:rPr>
              <a:t> verifica el esquema contra los tipos declarados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s-MX">
                <a:solidFill>
                  <a:srgbClr val="FFFFFF"/>
                </a:solidFill>
                <a:latin typeface="Calibri Light"/>
              </a:rPr>
              <a:t>Los triggers alimentan el almacén</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s-MX" spc="250">
                <a:solidFill>
                  <a:srgbClr val="B57BFF"/>
                </a:solidFill>
                <a:latin typeface="Calibri"/>
              </a:rPr>
              <a:t>FLUJO DE DATOS</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s-MX">
                <a:solidFill>
                  <a:srgbClr val="8E84AB"/>
                </a:solidFill>
                <a:latin typeface="Calibri"/>
              </a:rPr>
              <a:t>8 / 19</a:t>
            </a:r>
          </a:p>
        </p:txBody>
      </p:sp>
      <p:sp>
        <p:nvSpPr>
          <p:cNvPr id="5" name="Rounded Rectangle 4"/>
          <p:cNvSpPr/>
          <p:nvPr/>
        </p:nvSpPr>
        <p:spPr>
          <a:xfrm>
            <a:off x="548640" y="1810512"/>
            <a:ext cx="2011680" cy="1463040"/>
          </a:xfrm>
          <a:prstGeom prst="roundRect">
            <a:avLst>
              <a:gd name="adj" fmla="val 7500"/>
            </a:avLst>
          </a:prstGeom>
          <a:solidFill>
            <a:srgbClr val="FFFFFF">
              <a:alpha val="7000"/>
            </a:srgbClr>
          </a:solidFill>
          <a:ln w="9525">
            <a:solidFill>
              <a:srgbClr val="D9C5F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298448" y="1956815"/>
            <a:ext cx="512064" cy="512064"/>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file.png"/>
          <p:cNvPicPr>
            <a:picLocks noChangeAspect="1"/>
          </p:cNvPicPr>
          <p:nvPr/>
        </p:nvPicPr>
        <p:blipFill>
          <a:blip r:embed="rId2"/>
          <a:stretch>
            <a:fillRect/>
          </a:stretch>
        </p:blipFill>
        <p:spPr>
          <a:xfrm>
            <a:off x="1421343" y="2079711"/>
            <a:ext cx="266273" cy="266273"/>
          </a:xfrm>
          <a:prstGeom prst="rect">
            <a:avLst/>
          </a:prstGeom>
        </p:spPr>
      </p:pic>
      <p:sp>
        <p:nvSpPr>
          <p:cNvPr id="8" name="TextBox 7"/>
          <p:cNvSpPr txBox="1"/>
          <p:nvPr/>
        </p:nvSpPr>
        <p:spPr>
          <a:xfrm>
            <a:off x="640080" y="2542032"/>
            <a:ext cx="1828800" cy="310896"/>
          </a:xfrm>
          <a:prstGeom prst="rect">
            <a:avLst/>
          </a:prstGeom>
          <a:noFill/>
        </p:spPr>
        <p:txBody>
          <a:bodyPr wrap="square" lIns="0" rIns="0" tIns="0" bIns="0" anchor="t">
            <a:noAutofit/>
          </a:bodyPr>
          <a:lstStyle/>
          <a:p>
            <a:pPr algn="ctr">
              <a:spcAft>
                <a:spcPts val="0"/>
              </a:spcAft>
            </a:pPr>
            <a:r>
              <a:rPr sz="1250" b="1" i="0" lang="es-MX">
                <a:solidFill>
                  <a:srgbClr val="FFFFFF"/>
                </a:solidFill>
                <a:latin typeface="Calibri"/>
              </a:rPr>
              <a:t>Escritura operacional</a:t>
            </a:r>
          </a:p>
        </p:txBody>
      </p:sp>
      <p:sp>
        <p:nvSpPr>
          <p:cNvPr id="9" name="TextBox 8"/>
          <p:cNvSpPr txBox="1"/>
          <p:nvPr/>
        </p:nvSpPr>
        <p:spPr>
          <a:xfrm>
            <a:off x="658368" y="2834640"/>
            <a:ext cx="1792224" cy="420624"/>
          </a:xfrm>
          <a:prstGeom prst="rect">
            <a:avLst/>
          </a:prstGeom>
          <a:noFill/>
        </p:spPr>
        <p:txBody>
          <a:bodyPr wrap="square" lIns="0" rIns="0" tIns="0" bIns="0" anchor="t">
            <a:noAutofit/>
          </a:bodyPr>
          <a:lstStyle/>
          <a:p>
            <a:pPr algn="ctr">
              <a:spcAft>
                <a:spcPts val="0"/>
              </a:spcAft>
            </a:pPr>
            <a:r>
              <a:rPr sz="1000" b="0" i="0" lang="es-MX">
                <a:solidFill>
                  <a:srgbClr val="DDD6EE"/>
                </a:solidFill>
                <a:latin typeface="Calibri"/>
              </a:rPr>
              <a:t>informe de avance · costo · imagen · voto</a:t>
            </a:r>
          </a:p>
        </p:txBody>
      </p:sp>
      <p:cxnSp>
        <p:nvCxnSpPr>
          <p:cNvPr id="10" name="Connector 9"/>
          <p:cNvCxnSpPr/>
          <p:nvPr/>
        </p:nvCxnSpPr>
        <p:spPr>
          <a:xfrm>
            <a:off x="2578608" y="2542032"/>
            <a:ext cx="219456" cy="0"/>
          </a:xfrm>
          <a:prstGeom prst="line">
            <a:avLst/>
          </a:prstGeom>
          <a:ln w="19050">
            <a:solidFill>
              <a:srgbClr val="D9C5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16352" y="1810512"/>
            <a:ext cx="2011680" cy="1463040"/>
          </a:xfrm>
          <a:prstGeom prst="roundRect">
            <a:avLst>
              <a:gd name="adj" fmla="val 7500"/>
            </a:avLst>
          </a:prstGeom>
          <a:solidFill>
            <a:srgbClr val="B57BFF">
              <a:alpha val="16000"/>
            </a:srgbClr>
          </a:solidFill>
          <a:ln w="9525">
            <a:solidFill>
              <a:srgbClr val="B57BFF">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3566159" y="1956815"/>
            <a:ext cx="512064" cy="512064"/>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zap.png"/>
          <p:cNvPicPr>
            <a:picLocks noChangeAspect="1"/>
          </p:cNvPicPr>
          <p:nvPr/>
        </p:nvPicPr>
        <p:blipFill>
          <a:blip r:embed="rId3"/>
          <a:stretch>
            <a:fillRect/>
          </a:stretch>
        </p:blipFill>
        <p:spPr>
          <a:xfrm>
            <a:off x="3689055" y="2079711"/>
            <a:ext cx="266273" cy="266273"/>
          </a:xfrm>
          <a:prstGeom prst="rect">
            <a:avLst/>
          </a:prstGeom>
        </p:spPr>
      </p:pic>
      <p:sp>
        <p:nvSpPr>
          <p:cNvPr id="14" name="TextBox 13"/>
          <p:cNvSpPr txBox="1"/>
          <p:nvPr/>
        </p:nvSpPr>
        <p:spPr>
          <a:xfrm>
            <a:off x="2907792" y="2542032"/>
            <a:ext cx="1828800" cy="310896"/>
          </a:xfrm>
          <a:prstGeom prst="rect">
            <a:avLst/>
          </a:prstGeom>
          <a:noFill/>
        </p:spPr>
        <p:txBody>
          <a:bodyPr wrap="square" lIns="0" rIns="0" tIns="0" bIns="0" anchor="t">
            <a:noAutofit/>
          </a:bodyPr>
          <a:lstStyle/>
          <a:p>
            <a:pPr algn="ctr">
              <a:spcAft>
                <a:spcPts val="0"/>
              </a:spcAft>
            </a:pPr>
            <a:r>
              <a:rPr sz="1250" b="1" i="0" lang="es-MX">
                <a:solidFill>
                  <a:srgbClr val="FFFFFF"/>
                </a:solidFill>
                <a:latin typeface="Calibri"/>
              </a:rPr>
              <a:t>12 triggers de BD</a:t>
            </a:r>
          </a:p>
        </p:txBody>
      </p:sp>
      <p:sp>
        <p:nvSpPr>
          <p:cNvPr id="15" name="TextBox 14"/>
          <p:cNvSpPr txBox="1"/>
          <p:nvPr/>
        </p:nvSpPr>
        <p:spPr>
          <a:xfrm>
            <a:off x="2926080" y="2834640"/>
            <a:ext cx="1792224" cy="420624"/>
          </a:xfrm>
          <a:prstGeom prst="rect">
            <a:avLst/>
          </a:prstGeom>
          <a:noFill/>
        </p:spPr>
        <p:txBody>
          <a:bodyPr wrap="square" lIns="0" rIns="0" tIns="0" bIns="0" anchor="t">
            <a:noAutofit/>
          </a:bodyPr>
          <a:lstStyle/>
          <a:p>
            <a:pPr algn="ctr">
              <a:spcAft>
                <a:spcPts val="0"/>
              </a:spcAft>
            </a:pPr>
            <a:r>
              <a:rPr sz="1000" b="0" i="0" lang="es-MX">
                <a:solidFill>
                  <a:srgbClr val="DDD6EE"/>
                </a:solidFill>
                <a:latin typeface="Calibri"/>
              </a:rPr>
              <a:t>8 sincronizan dimensiones (SCD 2) · 4 emiten auditoría</a:t>
            </a:r>
          </a:p>
        </p:txBody>
      </p:sp>
      <p:cxnSp>
        <p:nvCxnSpPr>
          <p:cNvPr id="16" name="Connector 15"/>
          <p:cNvCxnSpPr/>
          <p:nvPr/>
        </p:nvCxnSpPr>
        <p:spPr>
          <a:xfrm>
            <a:off x="4846320" y="2542032"/>
            <a:ext cx="219456" cy="0"/>
          </a:xfrm>
          <a:prstGeom prst="line">
            <a:avLst/>
          </a:prstGeom>
          <a:ln w="19050">
            <a:solidFill>
              <a:srgbClr val="D9C5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084064" y="1810512"/>
            <a:ext cx="2011680" cy="1463040"/>
          </a:xfrm>
          <a:prstGeom prst="roundRect">
            <a:avLst>
              <a:gd name="adj" fmla="val 7500"/>
            </a:avLst>
          </a:prstGeom>
          <a:solidFill>
            <a:srgbClr val="FFFFFF">
              <a:alpha val="7000"/>
            </a:srgbClr>
          </a:solidFill>
          <a:ln w="9525">
            <a:solidFill>
              <a:srgbClr val="D9C5F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833872" y="1956815"/>
            <a:ext cx="512064" cy="512064"/>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database.png"/>
          <p:cNvPicPr>
            <a:picLocks noChangeAspect="1"/>
          </p:cNvPicPr>
          <p:nvPr/>
        </p:nvPicPr>
        <p:blipFill>
          <a:blip r:embed="rId4"/>
          <a:stretch>
            <a:fillRect/>
          </a:stretch>
        </p:blipFill>
        <p:spPr>
          <a:xfrm>
            <a:off x="5956767" y="2079711"/>
            <a:ext cx="266273" cy="266273"/>
          </a:xfrm>
          <a:prstGeom prst="rect">
            <a:avLst/>
          </a:prstGeom>
        </p:spPr>
      </p:pic>
      <p:sp>
        <p:nvSpPr>
          <p:cNvPr id="20" name="TextBox 19"/>
          <p:cNvSpPr txBox="1"/>
          <p:nvPr/>
        </p:nvSpPr>
        <p:spPr>
          <a:xfrm>
            <a:off x="5175503" y="2542032"/>
            <a:ext cx="1828800" cy="310896"/>
          </a:xfrm>
          <a:prstGeom prst="rect">
            <a:avLst/>
          </a:prstGeom>
          <a:noFill/>
        </p:spPr>
        <p:txBody>
          <a:bodyPr wrap="square" lIns="0" rIns="0" tIns="0" bIns="0" anchor="t">
            <a:noAutofit/>
          </a:bodyPr>
          <a:lstStyle/>
          <a:p>
            <a:pPr algn="ctr">
              <a:spcAft>
                <a:spcPts val="0"/>
              </a:spcAft>
            </a:pPr>
            <a:r>
              <a:rPr sz="1250" b="1" i="0" lang="es-MX">
                <a:solidFill>
                  <a:srgbClr val="FFFFFF"/>
                </a:solidFill>
                <a:latin typeface="Calibri"/>
              </a:rPr>
              <a:t>Dos tablas de hechos</a:t>
            </a:r>
          </a:p>
        </p:txBody>
      </p:sp>
      <p:sp>
        <p:nvSpPr>
          <p:cNvPr id="21" name="TextBox 20"/>
          <p:cNvSpPr txBox="1"/>
          <p:nvPr/>
        </p:nvSpPr>
        <p:spPr>
          <a:xfrm>
            <a:off x="5193792" y="2834640"/>
            <a:ext cx="1792224" cy="420624"/>
          </a:xfrm>
          <a:prstGeom prst="rect">
            <a:avLst/>
          </a:prstGeom>
          <a:noFill/>
        </p:spPr>
        <p:txBody>
          <a:bodyPr wrap="square" lIns="0" rIns="0" tIns="0" bIns="0" anchor="t">
            <a:noAutofit/>
          </a:bodyPr>
          <a:lstStyle/>
          <a:p>
            <a:pPr algn="ctr">
              <a:spcAft>
                <a:spcPts val="0"/>
              </a:spcAft>
            </a:pPr>
            <a:r>
              <a:rPr sz="1000" b="0" i="0" lang="es-MX">
                <a:solidFill>
                  <a:srgbClr val="DDD6EE"/>
                </a:solidFill>
                <a:latin typeface="Calibri"/>
              </a:rPr>
              <a:t>eventos de auditoría (por año) · obra × mes</a:t>
            </a:r>
          </a:p>
        </p:txBody>
      </p:sp>
      <p:cxnSp>
        <p:nvCxnSpPr>
          <p:cNvPr id="22" name="Connector 21"/>
          <p:cNvCxnSpPr/>
          <p:nvPr/>
        </p:nvCxnSpPr>
        <p:spPr>
          <a:xfrm>
            <a:off x="7114031" y="2542032"/>
            <a:ext cx="219457" cy="0"/>
          </a:xfrm>
          <a:prstGeom prst="line">
            <a:avLst/>
          </a:prstGeom>
          <a:ln w="19050">
            <a:solidFill>
              <a:srgbClr val="D9C5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351775" y="1810512"/>
            <a:ext cx="2011680" cy="1463040"/>
          </a:xfrm>
          <a:prstGeom prst="roundRect">
            <a:avLst>
              <a:gd name="adj" fmla="val 7500"/>
            </a:avLst>
          </a:prstGeom>
          <a:solidFill>
            <a:srgbClr val="B57BFF">
              <a:alpha val="16000"/>
            </a:srgbClr>
          </a:solidFill>
          <a:ln w="9525">
            <a:solidFill>
              <a:srgbClr val="B57BFF">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8101583" y="1956815"/>
            <a:ext cx="512064" cy="512064"/>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eye.png"/>
          <p:cNvPicPr>
            <a:picLocks noChangeAspect="1"/>
          </p:cNvPicPr>
          <p:nvPr/>
        </p:nvPicPr>
        <p:blipFill>
          <a:blip r:embed="rId5"/>
          <a:stretch>
            <a:fillRect/>
          </a:stretch>
        </p:blipFill>
        <p:spPr>
          <a:xfrm>
            <a:off x="8224479" y="2079711"/>
            <a:ext cx="266273" cy="266273"/>
          </a:xfrm>
          <a:prstGeom prst="rect">
            <a:avLst/>
          </a:prstGeom>
        </p:spPr>
      </p:pic>
      <p:sp>
        <p:nvSpPr>
          <p:cNvPr id="26" name="TextBox 25"/>
          <p:cNvSpPr txBox="1"/>
          <p:nvPr/>
        </p:nvSpPr>
        <p:spPr>
          <a:xfrm>
            <a:off x="7443215" y="2542032"/>
            <a:ext cx="1828800" cy="310896"/>
          </a:xfrm>
          <a:prstGeom prst="rect">
            <a:avLst/>
          </a:prstGeom>
          <a:noFill/>
        </p:spPr>
        <p:txBody>
          <a:bodyPr wrap="square" lIns="0" rIns="0" tIns="0" bIns="0" anchor="t">
            <a:noAutofit/>
          </a:bodyPr>
          <a:lstStyle/>
          <a:p>
            <a:pPr algn="ctr">
              <a:spcAft>
                <a:spcPts val="0"/>
              </a:spcAft>
            </a:pPr>
            <a:r>
              <a:rPr sz="1250" b="1" i="0" lang="es-MX">
                <a:solidFill>
                  <a:srgbClr val="FFFFFF"/>
                </a:solidFill>
                <a:latin typeface="Calibri"/>
              </a:rPr>
              <a:t>6 vistas SQL en vivo</a:t>
            </a:r>
          </a:p>
        </p:txBody>
      </p:sp>
      <p:sp>
        <p:nvSpPr>
          <p:cNvPr id="27" name="TextBox 26"/>
          <p:cNvSpPr txBox="1"/>
          <p:nvPr/>
        </p:nvSpPr>
        <p:spPr>
          <a:xfrm>
            <a:off x="7461503" y="2834640"/>
            <a:ext cx="1792224" cy="420624"/>
          </a:xfrm>
          <a:prstGeom prst="rect">
            <a:avLst/>
          </a:prstGeom>
          <a:noFill/>
        </p:spPr>
        <p:txBody>
          <a:bodyPr wrap="square" lIns="0" rIns="0" tIns="0" bIns="0" anchor="t">
            <a:noAutofit/>
          </a:bodyPr>
          <a:lstStyle/>
          <a:p>
            <a:pPr algn="ctr">
              <a:spcAft>
                <a:spcPts val="0"/>
              </a:spcAft>
            </a:pPr>
            <a:r>
              <a:rPr sz="1000" b="0" i="0" lang="es-MX">
                <a:solidFill>
                  <a:srgbClr val="DDD6EE"/>
                </a:solidFill>
                <a:latin typeface="Calibri"/>
              </a:rPr>
              <a:t>vistas estándar, sin tarea de refresco</a:t>
            </a:r>
          </a:p>
        </p:txBody>
      </p:sp>
      <p:cxnSp>
        <p:nvCxnSpPr>
          <p:cNvPr id="28" name="Connector 27"/>
          <p:cNvCxnSpPr/>
          <p:nvPr/>
        </p:nvCxnSpPr>
        <p:spPr>
          <a:xfrm>
            <a:off x="9381744" y="2542032"/>
            <a:ext cx="219456" cy="0"/>
          </a:xfrm>
          <a:prstGeom prst="line">
            <a:avLst/>
          </a:prstGeom>
          <a:ln w="19050">
            <a:solidFill>
              <a:srgbClr val="D9C5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619488" y="1810512"/>
            <a:ext cx="2011680" cy="1463040"/>
          </a:xfrm>
          <a:prstGeom prst="roundRect">
            <a:avLst>
              <a:gd name="adj" fmla="val 7500"/>
            </a:avLst>
          </a:prstGeom>
          <a:solidFill>
            <a:srgbClr val="FFFFFF">
              <a:alpha val="7000"/>
            </a:srgbClr>
          </a:solidFill>
          <a:ln w="9525">
            <a:solidFill>
              <a:srgbClr val="D9C5F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0369296" y="1956815"/>
            <a:ext cx="512064" cy="512064"/>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globe.png"/>
          <p:cNvPicPr>
            <a:picLocks noChangeAspect="1"/>
          </p:cNvPicPr>
          <p:nvPr/>
        </p:nvPicPr>
        <p:blipFill>
          <a:blip r:embed="rId6"/>
          <a:stretch>
            <a:fillRect/>
          </a:stretch>
        </p:blipFill>
        <p:spPr>
          <a:xfrm>
            <a:off x="10492191" y="2079711"/>
            <a:ext cx="266273" cy="266273"/>
          </a:xfrm>
          <a:prstGeom prst="rect">
            <a:avLst/>
          </a:prstGeom>
        </p:spPr>
      </p:pic>
      <p:sp>
        <p:nvSpPr>
          <p:cNvPr id="32" name="TextBox 31"/>
          <p:cNvSpPr txBox="1"/>
          <p:nvPr/>
        </p:nvSpPr>
        <p:spPr>
          <a:xfrm>
            <a:off x="9710928" y="2542032"/>
            <a:ext cx="1828800" cy="310896"/>
          </a:xfrm>
          <a:prstGeom prst="rect">
            <a:avLst/>
          </a:prstGeom>
          <a:noFill/>
        </p:spPr>
        <p:txBody>
          <a:bodyPr wrap="square" lIns="0" rIns="0" tIns="0" bIns="0" anchor="t">
            <a:noAutofit/>
          </a:bodyPr>
          <a:lstStyle/>
          <a:p>
            <a:pPr algn="ctr">
              <a:spcAft>
                <a:spcPts val="0"/>
              </a:spcAft>
            </a:pPr>
            <a:r>
              <a:rPr sz="1250" b="1" i="0" lang="es-MX">
                <a:solidFill>
                  <a:srgbClr val="FFFFFF"/>
                </a:solidFill>
                <a:latin typeface="Consolas"/>
              </a:rPr>
              <a:t>/api/analitica</a:t>
            </a:r>
          </a:p>
        </p:txBody>
      </p:sp>
      <p:sp>
        <p:nvSpPr>
          <p:cNvPr id="33" name="TextBox 32"/>
          <p:cNvSpPr txBox="1"/>
          <p:nvPr/>
        </p:nvSpPr>
        <p:spPr>
          <a:xfrm>
            <a:off x="9729215" y="2834640"/>
            <a:ext cx="1792224" cy="420624"/>
          </a:xfrm>
          <a:prstGeom prst="rect">
            <a:avLst/>
          </a:prstGeom>
          <a:noFill/>
        </p:spPr>
        <p:txBody>
          <a:bodyPr wrap="square" lIns="0" rIns="0" tIns="0" bIns="0" anchor="t">
            <a:noAutofit/>
          </a:bodyPr>
          <a:lstStyle/>
          <a:p>
            <a:pPr algn="ctr">
              <a:spcAft>
                <a:spcPts val="0"/>
              </a:spcAft>
            </a:pPr>
            <a:r>
              <a:rPr sz="1000" b="0" i="0" lang="es-MX">
                <a:solidFill>
                  <a:srgbClr val="DDD6EE"/>
                </a:solidFill>
                <a:latin typeface="Calibri"/>
              </a:rPr>
              <a:t>solo lectura, pública por diseño</a:t>
            </a:r>
          </a:p>
        </p:txBody>
      </p:sp>
      <p:sp>
        <p:nvSpPr>
          <p:cNvPr id="34" name="TextBox 33"/>
          <p:cNvSpPr txBox="1"/>
          <p:nvPr/>
        </p:nvSpPr>
        <p:spPr>
          <a:xfrm>
            <a:off x="548640" y="3566160"/>
            <a:ext cx="6217920" cy="320040"/>
          </a:xfrm>
          <a:prstGeom prst="rect">
            <a:avLst/>
          </a:prstGeom>
          <a:noFill/>
        </p:spPr>
        <p:txBody>
          <a:bodyPr wrap="square" lIns="0" rIns="0" tIns="0" bIns="0" anchor="t">
            <a:noAutofit/>
          </a:bodyPr>
          <a:lstStyle/>
          <a:p>
            <a:pPr algn="l">
              <a:spcAft>
                <a:spcPts val="0"/>
              </a:spcAft>
            </a:pPr>
            <a:r>
              <a:rPr sz="1350" b="1" i="0" lang="es-MX">
                <a:solidFill>
                  <a:srgbClr val="D9C5FF"/>
                </a:solidFill>
                <a:latin typeface="Calibri"/>
              </a:rPr>
              <a:t>Las seis vistas analíticas</a:t>
            </a:r>
          </a:p>
        </p:txBody>
      </p:sp>
      <p:sp>
        <p:nvSpPr>
          <p:cNvPr id="35" name="Rounded Rectangle 34"/>
          <p:cNvSpPr/>
          <p:nvPr/>
        </p:nvSpPr>
        <p:spPr>
          <a:xfrm>
            <a:off x="548640" y="3950208"/>
            <a:ext cx="3090672" cy="585216"/>
          </a:xfrm>
          <a:prstGeom prst="roundRect">
            <a:avLst>
              <a:gd name="adj" fmla="val 12500"/>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58368" y="3986784"/>
            <a:ext cx="2926080" cy="274320"/>
          </a:xfrm>
          <a:prstGeom prst="rect">
            <a:avLst/>
          </a:prstGeom>
          <a:noFill/>
        </p:spPr>
        <p:txBody>
          <a:bodyPr wrap="square" lIns="0" rIns="0" tIns="0" bIns="0" anchor="t">
            <a:noAutofit/>
          </a:bodyPr>
          <a:lstStyle/>
          <a:p>
            <a:pPr algn="l">
              <a:spcAft>
                <a:spcPts val="0"/>
              </a:spcAft>
            </a:pPr>
            <a:r>
              <a:rPr sz="1100" b="1" i="0" lang="es-MX">
                <a:solidFill>
                  <a:srgbClr val="D9C5FF"/>
                </a:solidFill>
                <a:latin typeface="Consolas"/>
              </a:rPr>
              <a:t>v_obras_retraso</a:t>
            </a:r>
          </a:p>
        </p:txBody>
      </p:sp>
      <p:sp>
        <p:nvSpPr>
          <p:cNvPr id="37" name="TextBox 36"/>
          <p:cNvSpPr txBox="1"/>
          <p:nvPr/>
        </p:nvSpPr>
        <p:spPr>
          <a:xfrm>
            <a:off x="658368" y="4233672"/>
            <a:ext cx="2926080" cy="292608"/>
          </a:xfrm>
          <a:prstGeom prst="rect">
            <a:avLst/>
          </a:prstGeom>
          <a:noFill/>
        </p:spPr>
        <p:txBody>
          <a:bodyPr wrap="square" lIns="0" rIns="0" tIns="0" bIns="0" anchor="t">
            <a:noAutofit/>
          </a:bodyPr>
          <a:lstStyle/>
          <a:p>
            <a:pPr algn="l">
              <a:spcAft>
                <a:spcPts val="0"/>
              </a:spcAft>
            </a:pPr>
            <a:r>
              <a:rPr sz="1050" b="0" i="0" lang="es-MX">
                <a:solidFill>
                  <a:srgbClr val="DDD6EE"/>
                </a:solidFill>
                <a:latin typeface="Calibri"/>
              </a:rPr>
              <a:t>obras con desfase y días de atraso</a:t>
            </a:r>
          </a:p>
        </p:txBody>
      </p:sp>
      <p:sp>
        <p:nvSpPr>
          <p:cNvPr id="38" name="Rounded Rectangle 37"/>
          <p:cNvSpPr/>
          <p:nvPr/>
        </p:nvSpPr>
        <p:spPr>
          <a:xfrm>
            <a:off x="3749039" y="3950208"/>
            <a:ext cx="3090672" cy="585216"/>
          </a:xfrm>
          <a:prstGeom prst="roundRect">
            <a:avLst>
              <a:gd name="adj" fmla="val 12500"/>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3858768" y="3986784"/>
            <a:ext cx="2926080" cy="274320"/>
          </a:xfrm>
          <a:prstGeom prst="rect">
            <a:avLst/>
          </a:prstGeom>
          <a:noFill/>
        </p:spPr>
        <p:txBody>
          <a:bodyPr wrap="square" lIns="0" rIns="0" tIns="0" bIns="0" anchor="t">
            <a:noAutofit/>
          </a:bodyPr>
          <a:lstStyle/>
          <a:p>
            <a:pPr algn="l">
              <a:spcAft>
                <a:spcPts val="0"/>
              </a:spcAft>
            </a:pPr>
            <a:r>
              <a:rPr sz="1100" b="1" i="0" lang="es-MX">
                <a:solidFill>
                  <a:srgbClr val="D9C5FF"/>
                </a:solidFill>
                <a:latin typeface="Consolas"/>
              </a:rPr>
              <a:t>v_alertas_auditoria</a:t>
            </a:r>
          </a:p>
        </p:txBody>
      </p:sp>
      <p:sp>
        <p:nvSpPr>
          <p:cNvPr id="40" name="TextBox 39"/>
          <p:cNvSpPr txBox="1"/>
          <p:nvPr/>
        </p:nvSpPr>
        <p:spPr>
          <a:xfrm>
            <a:off x="3858768" y="4233672"/>
            <a:ext cx="2926080" cy="292608"/>
          </a:xfrm>
          <a:prstGeom prst="rect">
            <a:avLst/>
          </a:prstGeom>
          <a:noFill/>
        </p:spPr>
        <p:txBody>
          <a:bodyPr wrap="square" lIns="0" rIns="0" tIns="0" bIns="0" anchor="t">
            <a:noAutofit/>
          </a:bodyPr>
          <a:lstStyle/>
          <a:p>
            <a:pPr algn="l">
              <a:spcAft>
                <a:spcPts val="0"/>
              </a:spcAft>
            </a:pPr>
            <a:r>
              <a:rPr sz="950" b="0" i="0" lang="es-MX">
                <a:solidFill>
                  <a:srgbClr val="DDD6EE"/>
                </a:solidFill>
                <a:latin typeface="Calibri"/>
              </a:rPr>
              <a:t>ALTO_MONTO · OBRA_CANCELADA · CAMBIO_PRESUPUESTAL · EVENTO_TARDIO · REVISAR</a:t>
            </a:r>
          </a:p>
        </p:txBody>
      </p:sp>
      <p:sp>
        <p:nvSpPr>
          <p:cNvPr id="41" name="Rounded Rectangle 40"/>
          <p:cNvSpPr/>
          <p:nvPr/>
        </p:nvSpPr>
        <p:spPr>
          <a:xfrm>
            <a:off x="548640" y="4608576"/>
            <a:ext cx="3090672" cy="585216"/>
          </a:xfrm>
          <a:prstGeom prst="roundRect">
            <a:avLst>
              <a:gd name="adj" fmla="val 12500"/>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58368" y="4645152"/>
            <a:ext cx="2926080" cy="274320"/>
          </a:xfrm>
          <a:prstGeom prst="rect">
            <a:avLst/>
          </a:prstGeom>
          <a:noFill/>
        </p:spPr>
        <p:txBody>
          <a:bodyPr wrap="square" lIns="0" rIns="0" tIns="0" bIns="0" anchor="t">
            <a:noAutofit/>
          </a:bodyPr>
          <a:lstStyle/>
          <a:p>
            <a:pPr algn="l">
              <a:spcAft>
                <a:spcPts val="0"/>
              </a:spcAft>
            </a:pPr>
            <a:r>
              <a:rPr sz="1100" b="1" i="0" lang="es-MX">
                <a:solidFill>
                  <a:srgbClr val="D9C5FF"/>
                </a:solidFill>
                <a:latin typeface="Consolas"/>
              </a:rPr>
              <a:t>v_trazabilidad_obra</a:t>
            </a:r>
          </a:p>
        </p:txBody>
      </p:sp>
      <p:sp>
        <p:nvSpPr>
          <p:cNvPr id="43" name="TextBox 42"/>
          <p:cNvSpPr txBox="1"/>
          <p:nvPr/>
        </p:nvSpPr>
        <p:spPr>
          <a:xfrm>
            <a:off x="658368" y="4892040"/>
            <a:ext cx="2926080" cy="292608"/>
          </a:xfrm>
          <a:prstGeom prst="rect">
            <a:avLst/>
          </a:prstGeom>
          <a:noFill/>
        </p:spPr>
        <p:txBody>
          <a:bodyPr wrap="square" lIns="0" rIns="0" tIns="0" bIns="0" anchor="t">
            <a:noAutofit/>
          </a:bodyPr>
          <a:lstStyle/>
          <a:p>
            <a:pPr algn="l">
              <a:spcAft>
                <a:spcPts val="0"/>
              </a:spcAft>
            </a:pPr>
            <a:r>
              <a:rPr sz="1050" b="0" i="0" lang="es-MX">
                <a:solidFill>
                  <a:srgbClr val="DDD6EE"/>
                </a:solidFill>
                <a:latin typeface="Calibri"/>
              </a:rPr>
              <a:t>historial completo SCD 2 de una obra</a:t>
            </a:r>
          </a:p>
        </p:txBody>
      </p:sp>
      <p:sp>
        <p:nvSpPr>
          <p:cNvPr id="44" name="Rounded Rectangle 43"/>
          <p:cNvSpPr/>
          <p:nvPr/>
        </p:nvSpPr>
        <p:spPr>
          <a:xfrm>
            <a:off x="3749039" y="4608576"/>
            <a:ext cx="3090672" cy="585216"/>
          </a:xfrm>
          <a:prstGeom prst="roundRect">
            <a:avLst>
              <a:gd name="adj" fmla="val 12500"/>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3858768" y="4645152"/>
            <a:ext cx="2926080" cy="274320"/>
          </a:xfrm>
          <a:prstGeom prst="rect">
            <a:avLst/>
          </a:prstGeom>
          <a:noFill/>
        </p:spPr>
        <p:txBody>
          <a:bodyPr wrap="square" lIns="0" rIns="0" tIns="0" bIns="0" anchor="t">
            <a:noAutofit/>
          </a:bodyPr>
          <a:lstStyle/>
          <a:p>
            <a:pPr algn="l">
              <a:spcAft>
                <a:spcPts val="0"/>
              </a:spcAft>
            </a:pPr>
            <a:r>
              <a:rPr sz="1100" b="1" i="0" lang="es-MX">
                <a:solidFill>
                  <a:srgbClr val="D9C5FF"/>
                </a:solidFill>
                <a:latin typeface="Consolas"/>
              </a:rPr>
              <a:t>v_participacion_ciudadana</a:t>
            </a:r>
          </a:p>
        </p:txBody>
      </p:sp>
      <p:sp>
        <p:nvSpPr>
          <p:cNvPr id="46" name="TextBox 45"/>
          <p:cNvSpPr txBox="1"/>
          <p:nvPr/>
        </p:nvSpPr>
        <p:spPr>
          <a:xfrm>
            <a:off x="3858768" y="4892040"/>
            <a:ext cx="2926080" cy="292608"/>
          </a:xfrm>
          <a:prstGeom prst="rect">
            <a:avLst/>
          </a:prstGeom>
          <a:noFill/>
        </p:spPr>
        <p:txBody>
          <a:bodyPr wrap="square" lIns="0" rIns="0" tIns="0" bIns="0" anchor="t">
            <a:noAutofit/>
          </a:bodyPr>
          <a:lstStyle/>
          <a:p>
            <a:pPr algn="l">
              <a:spcAft>
                <a:spcPts val="0"/>
              </a:spcAft>
            </a:pPr>
            <a:r>
              <a:rPr sz="1050" b="0" i="0" lang="es-MX">
                <a:solidFill>
                  <a:srgbClr val="DDD6EE"/>
                </a:solidFill>
                <a:latin typeface="Calibri"/>
              </a:rPr>
              <a:t>votos y propuestas por región</a:t>
            </a:r>
          </a:p>
        </p:txBody>
      </p:sp>
      <p:sp>
        <p:nvSpPr>
          <p:cNvPr id="47" name="Rounded Rectangle 46"/>
          <p:cNvSpPr/>
          <p:nvPr/>
        </p:nvSpPr>
        <p:spPr>
          <a:xfrm>
            <a:off x="548640" y="5266944"/>
            <a:ext cx="3090672" cy="585216"/>
          </a:xfrm>
          <a:prstGeom prst="roundRect">
            <a:avLst>
              <a:gd name="adj" fmla="val 12500"/>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58368" y="5303520"/>
            <a:ext cx="2926080" cy="274320"/>
          </a:xfrm>
          <a:prstGeom prst="rect">
            <a:avLst/>
          </a:prstGeom>
          <a:noFill/>
        </p:spPr>
        <p:txBody>
          <a:bodyPr wrap="square" lIns="0" rIns="0" tIns="0" bIns="0" anchor="t">
            <a:noAutofit/>
          </a:bodyPr>
          <a:lstStyle/>
          <a:p>
            <a:pPr algn="l">
              <a:spcAft>
                <a:spcPts val="0"/>
              </a:spcAft>
            </a:pPr>
            <a:r>
              <a:rPr sz="1100" b="1" i="0" lang="es-MX">
                <a:solidFill>
                  <a:srgbClr val="D9C5FF"/>
                </a:solidFill>
                <a:latin typeface="Consolas"/>
              </a:rPr>
              <a:t>v_ejercicio_presupuestario</a:t>
            </a:r>
          </a:p>
        </p:txBody>
      </p:sp>
      <p:sp>
        <p:nvSpPr>
          <p:cNvPr id="49" name="TextBox 48"/>
          <p:cNvSpPr txBox="1"/>
          <p:nvPr/>
        </p:nvSpPr>
        <p:spPr>
          <a:xfrm>
            <a:off x="658368" y="5550407"/>
            <a:ext cx="2926080" cy="292608"/>
          </a:xfrm>
          <a:prstGeom prst="rect">
            <a:avLst/>
          </a:prstGeom>
          <a:noFill/>
        </p:spPr>
        <p:txBody>
          <a:bodyPr wrap="square" lIns="0" rIns="0" tIns="0" bIns="0" anchor="t">
            <a:noAutofit/>
          </a:bodyPr>
          <a:lstStyle/>
          <a:p>
            <a:pPr algn="l">
              <a:spcAft>
                <a:spcPts val="0"/>
              </a:spcAft>
            </a:pPr>
            <a:r>
              <a:rPr sz="1050" b="0" i="0" lang="es-MX">
                <a:solidFill>
                  <a:srgbClr val="DDD6EE"/>
                </a:solidFill>
                <a:latin typeface="Calibri"/>
              </a:rPr>
              <a:t>ejercicio por fuente de financiamiento</a:t>
            </a:r>
          </a:p>
        </p:txBody>
      </p:sp>
      <p:sp>
        <p:nvSpPr>
          <p:cNvPr id="50" name="Rounded Rectangle 49"/>
          <p:cNvSpPr/>
          <p:nvPr/>
        </p:nvSpPr>
        <p:spPr>
          <a:xfrm>
            <a:off x="3749039" y="5266944"/>
            <a:ext cx="3090672" cy="585216"/>
          </a:xfrm>
          <a:prstGeom prst="roundRect">
            <a:avLst>
              <a:gd name="adj" fmla="val 12500"/>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3858768" y="5303520"/>
            <a:ext cx="2926080" cy="274320"/>
          </a:xfrm>
          <a:prstGeom prst="rect">
            <a:avLst/>
          </a:prstGeom>
          <a:noFill/>
        </p:spPr>
        <p:txBody>
          <a:bodyPr wrap="square" lIns="0" rIns="0" tIns="0" bIns="0" anchor="t">
            <a:noAutofit/>
          </a:bodyPr>
          <a:lstStyle/>
          <a:p>
            <a:pPr algn="l">
              <a:spcAft>
                <a:spcPts val="0"/>
              </a:spcAft>
            </a:pPr>
            <a:r>
              <a:rPr sz="1100" b="1" i="0" lang="es-MX">
                <a:solidFill>
                  <a:srgbClr val="D9C5FF"/>
                </a:solidFill>
                <a:latin typeface="Consolas"/>
              </a:rPr>
              <a:t>v_anomalias_deteccion</a:t>
            </a:r>
          </a:p>
        </p:txBody>
      </p:sp>
      <p:sp>
        <p:nvSpPr>
          <p:cNvPr id="52" name="TextBox 51"/>
          <p:cNvSpPr txBox="1"/>
          <p:nvPr/>
        </p:nvSpPr>
        <p:spPr>
          <a:xfrm>
            <a:off x="3858768" y="5550407"/>
            <a:ext cx="2926080" cy="292608"/>
          </a:xfrm>
          <a:prstGeom prst="rect">
            <a:avLst/>
          </a:prstGeom>
          <a:noFill/>
        </p:spPr>
        <p:txBody>
          <a:bodyPr wrap="square" lIns="0" rIns="0" tIns="0" bIns="0" anchor="t">
            <a:noAutofit/>
          </a:bodyPr>
          <a:lstStyle/>
          <a:p>
            <a:pPr algn="l">
              <a:spcAft>
                <a:spcPts val="0"/>
              </a:spcAft>
            </a:pPr>
            <a:r>
              <a:rPr sz="1050" b="0" i="0" lang="es-MX">
                <a:solidFill>
                  <a:srgbClr val="DDD6EE"/>
                </a:solidFill>
                <a:latin typeface="Calibri"/>
              </a:rPr>
              <a:t>C1–C3 por obra y mes</a:t>
            </a:r>
          </a:p>
        </p:txBody>
      </p:sp>
      <p:sp>
        <p:nvSpPr>
          <p:cNvPr id="53" name="Rounded Rectangle 52"/>
          <p:cNvSpPr/>
          <p:nvPr/>
        </p:nvSpPr>
        <p:spPr>
          <a:xfrm>
            <a:off x="7178040" y="3611880"/>
            <a:ext cx="4462272" cy="2286000"/>
          </a:xfrm>
          <a:prstGeom prst="roundRect">
            <a:avLst>
              <a:gd name="adj" fmla="val 4800"/>
            </a:avLst>
          </a:prstGeom>
          <a:solidFill>
            <a:srgbClr val="B57BFF">
              <a:alpha val="10000"/>
            </a:srgbClr>
          </a:solidFill>
          <a:ln w="9525">
            <a:solidFill>
              <a:srgbClr val="B57BFF">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7406640" y="3703320"/>
            <a:ext cx="4114800" cy="365760"/>
          </a:xfrm>
          <a:prstGeom prst="rect">
            <a:avLst/>
          </a:prstGeom>
          <a:noFill/>
        </p:spPr>
        <p:txBody>
          <a:bodyPr wrap="square" lIns="0" rIns="0" tIns="0" bIns="0" anchor="t">
            <a:noAutofit/>
          </a:bodyPr>
          <a:lstStyle/>
          <a:p>
            <a:pPr algn="l">
              <a:spcAft>
                <a:spcPts val="0"/>
              </a:spcAft>
            </a:pPr>
            <a:r>
              <a:rPr sz="1350" b="1" i="0" lang="es-MX">
                <a:solidFill>
                  <a:srgbClr val="FFFFFF"/>
                </a:solidFill>
                <a:latin typeface="Calibri"/>
              </a:rPr>
              <a:t>¿Por qué vistas estándar y no materializadas?</a:t>
            </a:r>
          </a:p>
        </p:txBody>
      </p:sp>
      <p:sp>
        <p:nvSpPr>
          <p:cNvPr id="55" name="TextBox 54"/>
          <p:cNvSpPr txBox="1"/>
          <p:nvPr/>
        </p:nvSpPr>
        <p:spPr>
          <a:xfrm>
            <a:off x="7406640" y="4114800"/>
            <a:ext cx="4114800" cy="1188720"/>
          </a:xfrm>
          <a:prstGeom prst="rect">
            <a:avLst/>
          </a:prstGeom>
          <a:noFill/>
        </p:spPr>
        <p:txBody>
          <a:bodyPr wrap="square" lIns="0" rIns="0" tIns="0" bIns="0" anchor="t">
            <a:noAutofit/>
          </a:bodyPr>
          <a:lstStyle/>
          <a:p>
            <a:pPr algn="l" marL="201168" indent="-201168">
              <a:spcAft>
                <a:spcPts val="300"/>
              </a:spcAft>
              <a:buClr>
                <a:srgbClr val="B57BFF"/>
              </a:buClr>
              <a:buFont typeface="Arial"/>
              <a:buChar char="•"/>
            </a:pPr>
            <a:r>
              <a:rPr sz="1150" b="0" i="0" lang="es-MX">
                <a:solidFill>
                  <a:srgbClr val="DDD6EE"/>
                </a:solidFill>
                <a:latin typeface="Calibri"/>
              </a:rPr>
              <a:t>~10⁴ filas de hechos → las vistas corren en milisegundos</a:t>
            </a:r>
          </a:p>
          <a:p>
            <a:pPr algn="l" marL="201168" indent="-201168">
              <a:spcAft>
                <a:spcPts val="300"/>
              </a:spcAft>
              <a:buClr>
                <a:srgbClr val="B57BFF"/>
              </a:buClr>
              <a:buFont typeface="Arial"/>
              <a:buChar char="•"/>
            </a:pPr>
            <a:r>
              <a:rPr sz="1150" b="0" i="0" lang="es-MX">
                <a:solidFill>
                  <a:srgbClr val="DDD6EE"/>
                </a:solidFill>
                <a:latin typeface="Calibri"/>
              </a:rPr>
              <a:t>las alertas deben servir en cuanto se sube un informe</a:t>
            </a:r>
          </a:p>
          <a:p>
            <a:pPr algn="l" marL="201168" indent="-201168">
              <a:spcAft>
                <a:spcPts val="0"/>
              </a:spcAft>
              <a:buClr>
                <a:srgbClr val="B57BFF"/>
              </a:buClr>
              <a:buFont typeface="Arial"/>
              <a:buChar char="•"/>
            </a:pPr>
            <a:r>
              <a:rPr sz="1150" b="0" i="0" lang="es-MX">
                <a:solidFill>
                  <a:srgbClr val="DDD6EE"/>
                </a:solidFill>
                <a:latin typeface="Calibri"/>
              </a:rPr>
              <a:t>ninguna tarea de refresco que programar — ni que falle</a:t>
            </a:r>
          </a:p>
        </p:txBody>
      </p:sp>
      <p:sp>
        <p:nvSpPr>
          <p:cNvPr id="56" name="TextBox 55"/>
          <p:cNvSpPr txBox="1"/>
          <p:nvPr/>
        </p:nvSpPr>
        <p:spPr>
          <a:xfrm>
            <a:off x="7406640" y="5230368"/>
            <a:ext cx="4114800" cy="621792"/>
          </a:xfrm>
          <a:prstGeom prst="rect">
            <a:avLst/>
          </a:prstGeom>
          <a:noFill/>
        </p:spPr>
        <p:txBody>
          <a:bodyPr wrap="square" lIns="0" rIns="0" tIns="0" bIns="0" anchor="t">
            <a:noAutofit/>
          </a:bodyPr>
          <a:lstStyle/>
          <a:p>
            <a:pPr algn="l">
              <a:spcAft>
                <a:spcPts val="0"/>
              </a:spcAft>
            </a:pPr>
            <a:r>
              <a:rPr sz="1050" b="1" i="0" lang="es-MX">
                <a:solidFill>
                  <a:srgbClr val="FBBF24"/>
                </a:solidFill>
                <a:latin typeface="Calibri"/>
              </a:rPr>
              <a:t>Para escalar: </a:t>
            </a:r>
            <a:r>
              <a:rPr sz="950" b="0" i="0" lang="es-MX">
                <a:solidFill>
                  <a:srgbClr val="DDD6EE"/>
                </a:solidFill>
                <a:latin typeface="Consolas"/>
              </a:rPr>
              <a:t>REFRESH MATERIALIZED VIEW CONCURRENTLY</a:t>
            </a:r>
            <a:r>
              <a:rPr sz="1050" b="0" i="0" lang="es-MX">
                <a:solidFill>
                  <a:srgbClr val="DDD6EE"/>
                </a:solidFill>
                <a:latin typeface="Calibri"/>
              </a:rPr>
              <a:t> en las vistas de presupuesto y participación; las de alerta siguen en vivo.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s-MX">
                <a:solidFill>
                  <a:srgbClr val="FFFFFF"/>
                </a:solidFill>
                <a:latin typeface="Calibri Light"/>
              </a:rPr>
              <a:t>Evidencia en R2, vinculada en ambos sentidos</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s-MX" spc="250">
                <a:solidFill>
                  <a:srgbClr val="B57BFF"/>
                </a:solidFill>
                <a:latin typeface="Calibri"/>
              </a:rPr>
              <a:t>CAPA DE EVIDENCIA</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s-MX">
                <a:solidFill>
                  <a:srgbClr val="8E84AB"/>
                </a:solidFill>
                <a:latin typeface="Calibri"/>
              </a:rPr>
              <a:t>9 / 19</a:t>
            </a:r>
          </a:p>
        </p:txBody>
      </p:sp>
      <p:pic>
        <p:nvPicPr>
          <p:cNvPr id="100" name="Picture 100" descr="Embedded illustration or system screenshot"/>
          <p:cNvPicPr>
            <a:picLocks noChangeAspect="1"/>
          </p:cNvPicPr>
          <p:nvPr/>
        </p:nvPicPr>
        <p:blipFill>
          <a:blip r:embed="rId10"/>
          <a:srcRect l="11858" r="13043" t="6250" b="6944"/>
          <a:stretch>
            <a:fillRect/>
          </a:stretch>
        </p:blipFill>
        <p:spPr>
          <a:xfrm>
            <a:off x="552450" y="1762125"/>
            <a:ext cx="6248400" cy="4114800"/>
          </a:xfrm>
          <a:prstGeom prst="rect">
            <a:avLst/>
          </a:prstGeom>
        </p:spPr>
      </p:pic>
      <p:sp>
        <p:nvSpPr>
          <p:cNvPr id="101" name="Visual Galería publicada. Datos ">
            <a:extLst>
              <a:ext uri="{FF2B5EF4-FFF2-40B4-BE49-F238E27FC236}">
                <a16:creationId xmlns:a16="http://schemas.microsoft.com/office/drawing/2014/main" id="{23320FA8-530E-4CF9-8805-7B1C35E181B8}"/>
              </a:ext>
            </a:extLst>
          </p:cNvPr>
          <p:cNvSpPr>
            <a:spLocks noGrp="1"/>
          </p:cNvSpPr>
          <p:nvPr/>
        </p:nvSpPr>
        <p:spPr>
          <a:xfrm>
            <a:off x="552450" y="5905500"/>
            <a:ext cx="6381750" cy="171450"/>
          </a:xfrm>
          <a:prstGeom prst="rect">
            <a:avLst/>
          </a:prstGeom>
          <a:noFill/>
          <a:ln w="0">
            <a:noFill/>
          </a:ln>
        </p:spPr>
        <p:txBody>
          <a:bodyPr anchor="t">
            <a:noAutofit/>
          </a:bodyPr>
          <a:lstStyle/>
          <a:p>
            <a:pPr algn="l">
              <a:defRPr sz="900" b="0">
                <a:solidFill>
                  <a:srgbClr val="CEC4DF"/>
                </a:solidFill>
                <a:latin typeface="Calibri"/>
                <a:ea typeface="Calibri"/>
                <a:cs typeface="Calibri"/>
              </a:defRPr>
            </a:pPr>
            <a:r>
              <a:rPr sz="900" b="0">
                <a:solidFill>
                  <a:srgbClr val="CEC4DF"/>
                </a:solidFill>
                <a:latin typeface="Calibri"/>
                <a:ea typeface="Calibri"/>
                <a:cs typeface="Calibri"/>
              </a:rPr>
              <a:t>Galería publicada. Datos sintéticos e imágenes marcadas ILUSTRATIVO.</a:t>
            </a:r>
          </a:p>
        </p:txBody>
      </p:sp>
      <p:sp>
        <p:nvSpPr>
          <p:cNvPr id="102" name="Visual 01">
            <a:extLst>
              <a:ext uri="{FF2B5EF4-FFF2-40B4-BE49-F238E27FC236}">
                <a16:creationId xmlns:a16="http://schemas.microsoft.com/office/drawing/2014/main" id="{D80DEDE4-F4FD-4973-9AB2-A6C1B533F8C9}"/>
              </a:ext>
            </a:extLst>
          </p:cNvPr>
          <p:cNvSpPr>
            <a:spLocks noGrp="1"/>
          </p:cNvSpPr>
          <p:nvPr/>
        </p:nvSpPr>
        <p:spPr>
          <a:xfrm>
            <a:off x="7239000" y="1809750"/>
            <a:ext cx="457200" cy="342900"/>
          </a:xfrm>
          <a:prstGeom prst="rect">
            <a:avLst/>
          </a:prstGeom>
          <a:noFill/>
          <a:ln w="0">
            <a:noFill/>
          </a:ln>
        </p:spPr>
        <p:txBody>
          <a:bodyPr anchor="t">
            <a:noAutofit/>
          </a:bodyPr>
          <a:lstStyle/>
          <a:p>
            <a:pPr algn="l">
              <a:defRPr sz="1950" b="1">
                <a:solidFill>
                  <a:srgbClr val="BD8CFF"/>
                </a:solidFill>
                <a:latin typeface="Calibri"/>
                <a:ea typeface="Calibri"/>
                <a:cs typeface="Calibri"/>
              </a:defRPr>
            </a:pPr>
            <a:r>
              <a:rPr sz="1950" b="1">
                <a:solidFill>
                  <a:srgbClr val="BD8CFF"/>
                </a:solidFill>
                <a:latin typeface="Calibri"/>
                <a:ea typeface="Calibri"/>
                <a:cs typeface="Calibri"/>
              </a:rPr>
              <a:t>01</a:t>
            </a:r>
          </a:p>
        </p:txBody>
      </p:sp>
      <p:sp>
        <p:nvSpPr>
          <p:cNvPr id="103" name="Visual El supervisor adjunta fot">
            <a:extLst>
              <a:ext uri="{FF2B5EF4-FFF2-40B4-BE49-F238E27FC236}">
                <a16:creationId xmlns:a16="http://schemas.microsoft.com/office/drawing/2014/main" id="{47C66DA2-2479-4718-AE30-60C47F9A6750}"/>
              </a:ext>
            </a:extLst>
          </p:cNvPr>
          <p:cNvSpPr>
            <a:spLocks noGrp="1"/>
          </p:cNvSpPr>
          <p:nvPr/>
        </p:nvSpPr>
        <p:spPr>
          <a:xfrm>
            <a:off x="7762875" y="1847850"/>
            <a:ext cx="3810000" cy="466725"/>
          </a:xfrm>
          <a:prstGeom prst="rect">
            <a:avLst/>
          </a:prstGeom>
          <a:noFill/>
          <a:ln w="0">
            <a:noFill/>
          </a:ln>
        </p:spPr>
        <p:txBody>
          <a:bodyPr anchor="t">
            <a:noAutofit/>
          </a:bodyPr>
          <a:lstStyle/>
          <a:p>
            <a:pPr algn="l">
              <a:defRPr sz="1575" b="0">
                <a:solidFill>
                  <a:srgbClr val="F7F4FF"/>
                </a:solidFill>
                <a:latin typeface="Calibri"/>
                <a:ea typeface="Calibri"/>
                <a:cs typeface="Calibri"/>
              </a:defRPr>
            </a:pPr>
            <a:r>
              <a:rPr sz="1575" b="0">
                <a:solidFill>
                  <a:srgbClr val="F7F4FF"/>
                </a:solidFill>
                <a:latin typeface="Calibri"/>
                <a:ea typeface="Calibri"/>
                <a:cs typeface="Calibri"/>
              </a:rPr>
              <a:t>El supervisor adjunta fotos o PDF.</a:t>
            </a:r>
          </a:p>
        </p:txBody>
      </p:sp>
      <p:sp>
        <p:nvSpPr>
          <p:cNvPr id="104" name="Visual 02">
            <a:extLst>
              <a:ext uri="{FF2B5EF4-FFF2-40B4-BE49-F238E27FC236}">
                <a16:creationId xmlns:a16="http://schemas.microsoft.com/office/drawing/2014/main" id="{EDB2A024-4404-4F6D-B339-730DDB421DCC}"/>
              </a:ext>
            </a:extLst>
          </p:cNvPr>
          <p:cNvSpPr>
            <a:spLocks noGrp="1"/>
          </p:cNvSpPr>
          <p:nvPr/>
        </p:nvSpPr>
        <p:spPr>
          <a:xfrm>
            <a:off x="7239000" y="2314575"/>
            <a:ext cx="457200" cy="342900"/>
          </a:xfrm>
          <a:prstGeom prst="rect">
            <a:avLst/>
          </a:prstGeom>
          <a:noFill/>
          <a:ln w="0">
            <a:noFill/>
          </a:ln>
        </p:spPr>
        <p:txBody>
          <a:bodyPr anchor="t">
            <a:noAutofit/>
          </a:bodyPr>
          <a:lstStyle/>
          <a:p>
            <a:pPr algn="l">
              <a:defRPr sz="1950" b="1">
                <a:solidFill>
                  <a:srgbClr val="BD8CFF"/>
                </a:solidFill>
                <a:latin typeface="Calibri"/>
                <a:ea typeface="Calibri"/>
                <a:cs typeface="Calibri"/>
              </a:defRPr>
            </a:pPr>
            <a:r>
              <a:rPr sz="1950" b="1">
                <a:solidFill>
                  <a:srgbClr val="BD8CFF"/>
                </a:solidFill>
                <a:latin typeface="Calibri"/>
                <a:ea typeface="Calibri"/>
                <a:cs typeface="Calibri"/>
              </a:rPr>
              <a:t>02</a:t>
            </a:r>
          </a:p>
        </p:txBody>
      </p:sp>
      <p:sp>
        <p:nvSpPr>
          <p:cNvPr id="105" name="Visual La API calcula la clave d">
            <a:extLst>
              <a:ext uri="{FF2B5EF4-FFF2-40B4-BE49-F238E27FC236}">
                <a16:creationId xmlns:a16="http://schemas.microsoft.com/office/drawing/2014/main" id="{61214073-D8B1-4CD8-88F6-481B8483EA73}"/>
              </a:ext>
            </a:extLst>
          </p:cNvPr>
          <p:cNvSpPr>
            <a:spLocks noGrp="1"/>
          </p:cNvSpPr>
          <p:nvPr/>
        </p:nvSpPr>
        <p:spPr>
          <a:xfrm>
            <a:off x="7762875" y="2352675"/>
            <a:ext cx="3810000" cy="466725"/>
          </a:xfrm>
          <a:prstGeom prst="rect">
            <a:avLst/>
          </a:prstGeom>
          <a:noFill/>
          <a:ln w="0">
            <a:noFill/>
          </a:ln>
        </p:spPr>
        <p:txBody>
          <a:bodyPr anchor="t">
            <a:noAutofit/>
          </a:bodyPr>
          <a:lstStyle/>
          <a:p>
            <a:pPr algn="l">
              <a:defRPr sz="1575" b="0">
                <a:solidFill>
                  <a:srgbClr val="F7F4FF"/>
                </a:solidFill>
                <a:latin typeface="Calibri"/>
                <a:ea typeface="Calibri"/>
                <a:cs typeface="Calibri"/>
              </a:defRPr>
            </a:pPr>
            <a:r>
              <a:rPr sz="1575" b="0">
                <a:solidFill>
                  <a:srgbClr val="F7F4FF"/>
                </a:solidFill>
                <a:latin typeface="Calibri"/>
                <a:ea typeface="Calibri"/>
                <a:cs typeface="Calibri"/>
              </a:rPr>
              <a:t>La API calcula la clave del objeto.</a:t>
            </a:r>
          </a:p>
        </p:txBody>
      </p:sp>
      <p:sp>
        <p:nvSpPr>
          <p:cNvPr id="106" name="Visual 03">
            <a:extLst>
              <a:ext uri="{FF2B5EF4-FFF2-40B4-BE49-F238E27FC236}">
                <a16:creationId xmlns:a16="http://schemas.microsoft.com/office/drawing/2014/main" id="{1E186877-6A89-4CE7-87EF-BEA139A4A308}"/>
              </a:ext>
            </a:extLst>
          </p:cNvPr>
          <p:cNvSpPr>
            <a:spLocks noGrp="1"/>
          </p:cNvSpPr>
          <p:nvPr/>
        </p:nvSpPr>
        <p:spPr>
          <a:xfrm>
            <a:off x="7239000" y="2819400"/>
            <a:ext cx="457200" cy="342900"/>
          </a:xfrm>
          <a:prstGeom prst="rect">
            <a:avLst/>
          </a:prstGeom>
          <a:noFill/>
          <a:ln w="0">
            <a:noFill/>
          </a:ln>
        </p:spPr>
        <p:txBody>
          <a:bodyPr anchor="t">
            <a:noAutofit/>
          </a:bodyPr>
          <a:lstStyle/>
          <a:p>
            <a:pPr algn="l">
              <a:defRPr sz="1950" b="1">
                <a:solidFill>
                  <a:srgbClr val="BD8CFF"/>
                </a:solidFill>
                <a:latin typeface="Calibri"/>
                <a:ea typeface="Calibri"/>
                <a:cs typeface="Calibri"/>
              </a:defRPr>
            </a:pPr>
            <a:r>
              <a:rPr sz="1950" b="1">
                <a:solidFill>
                  <a:srgbClr val="BD8CFF"/>
                </a:solidFill>
                <a:latin typeface="Calibri"/>
                <a:ea typeface="Calibri"/>
                <a:cs typeface="Calibri"/>
              </a:rPr>
              <a:t>03</a:t>
            </a:r>
          </a:p>
        </p:txBody>
      </p:sp>
      <p:sp>
        <p:nvSpPr>
          <p:cNvPr id="107" name="Visual R2 conserva el archivo bi">
            <a:extLst>
              <a:ext uri="{FF2B5EF4-FFF2-40B4-BE49-F238E27FC236}">
                <a16:creationId xmlns:a16="http://schemas.microsoft.com/office/drawing/2014/main" id="{52A77BB7-7BA0-4AA5-BD4E-AF7FE3CF6C45}"/>
              </a:ext>
            </a:extLst>
          </p:cNvPr>
          <p:cNvSpPr>
            <a:spLocks noGrp="1"/>
          </p:cNvSpPr>
          <p:nvPr/>
        </p:nvSpPr>
        <p:spPr>
          <a:xfrm>
            <a:off x="7762875" y="2857500"/>
            <a:ext cx="3810000" cy="466725"/>
          </a:xfrm>
          <a:prstGeom prst="rect">
            <a:avLst/>
          </a:prstGeom>
          <a:noFill/>
          <a:ln w="0">
            <a:noFill/>
          </a:ln>
        </p:spPr>
        <p:txBody>
          <a:bodyPr anchor="t">
            <a:noAutofit/>
          </a:bodyPr>
          <a:lstStyle/>
          <a:p>
            <a:pPr algn="l">
              <a:defRPr sz="1575" b="0">
                <a:solidFill>
                  <a:srgbClr val="F7F4FF"/>
                </a:solidFill>
                <a:latin typeface="Calibri"/>
                <a:ea typeface="Calibri"/>
                <a:cs typeface="Calibri"/>
              </a:defRPr>
            </a:pPr>
            <a:r>
              <a:rPr sz="1575" b="0">
                <a:solidFill>
                  <a:srgbClr val="F7F4FF"/>
                </a:solidFill>
                <a:latin typeface="Calibri"/>
                <a:ea typeface="Calibri"/>
                <a:cs typeface="Calibri"/>
              </a:rPr>
              <a:t>R2 conserva el archivo binario.</a:t>
            </a:r>
          </a:p>
        </p:txBody>
      </p:sp>
      <p:sp>
        <p:nvSpPr>
          <p:cNvPr id="108" name="Visual 04">
            <a:extLst>
              <a:ext uri="{FF2B5EF4-FFF2-40B4-BE49-F238E27FC236}">
                <a16:creationId xmlns:a16="http://schemas.microsoft.com/office/drawing/2014/main" id="{2A49F2CF-EDD3-4315-8268-4AD417C87090}"/>
              </a:ext>
            </a:extLst>
          </p:cNvPr>
          <p:cNvSpPr>
            <a:spLocks noGrp="1"/>
          </p:cNvSpPr>
          <p:nvPr/>
        </p:nvSpPr>
        <p:spPr>
          <a:xfrm>
            <a:off x="7239000" y="3324225"/>
            <a:ext cx="457200" cy="342900"/>
          </a:xfrm>
          <a:prstGeom prst="rect">
            <a:avLst/>
          </a:prstGeom>
          <a:noFill/>
          <a:ln w="0">
            <a:noFill/>
          </a:ln>
        </p:spPr>
        <p:txBody>
          <a:bodyPr anchor="t">
            <a:noAutofit/>
          </a:bodyPr>
          <a:lstStyle/>
          <a:p>
            <a:pPr algn="l">
              <a:defRPr sz="1950" b="1">
                <a:solidFill>
                  <a:srgbClr val="BD8CFF"/>
                </a:solidFill>
                <a:latin typeface="Calibri"/>
                <a:ea typeface="Calibri"/>
                <a:cs typeface="Calibri"/>
              </a:defRPr>
            </a:pPr>
            <a:r>
              <a:rPr sz="1950" b="1">
                <a:solidFill>
                  <a:srgbClr val="BD8CFF"/>
                </a:solidFill>
                <a:latin typeface="Calibri"/>
                <a:ea typeface="Calibri"/>
                <a:cs typeface="Calibri"/>
              </a:rPr>
              <a:t>04</a:t>
            </a:r>
          </a:p>
        </p:txBody>
      </p:sp>
      <p:sp>
        <p:nvSpPr>
          <p:cNvPr id="109" name="Visual El almacén registra metad">
            <a:extLst>
              <a:ext uri="{FF2B5EF4-FFF2-40B4-BE49-F238E27FC236}">
                <a16:creationId xmlns:a16="http://schemas.microsoft.com/office/drawing/2014/main" id="{4C0DFBE3-4891-4C7D-9E22-EDD55F9515BB}"/>
              </a:ext>
            </a:extLst>
          </p:cNvPr>
          <p:cNvSpPr>
            <a:spLocks noGrp="1"/>
          </p:cNvSpPr>
          <p:nvPr/>
        </p:nvSpPr>
        <p:spPr>
          <a:xfrm>
            <a:off x="7762875" y="3362325"/>
            <a:ext cx="3810000" cy="466725"/>
          </a:xfrm>
          <a:prstGeom prst="rect">
            <a:avLst/>
          </a:prstGeom>
          <a:noFill/>
          <a:ln w="0">
            <a:noFill/>
          </a:ln>
        </p:spPr>
        <p:txBody>
          <a:bodyPr anchor="t">
            <a:noAutofit/>
          </a:bodyPr>
          <a:lstStyle/>
          <a:p>
            <a:pPr algn="l">
              <a:defRPr sz="1575" b="0">
                <a:solidFill>
                  <a:srgbClr val="F7F4FF"/>
                </a:solidFill>
                <a:latin typeface="Calibri"/>
                <a:ea typeface="Calibri"/>
                <a:cs typeface="Calibri"/>
              </a:defRPr>
            </a:pPr>
            <a:r>
              <a:rPr sz="1575" b="0">
                <a:solidFill>
                  <a:srgbClr val="F7F4FF"/>
                </a:solidFill>
                <a:latin typeface="Calibri"/>
                <a:ea typeface="Calibri"/>
                <a:cs typeface="Calibri"/>
              </a:rPr>
              <a:t>El almacén registra metadatos y URL.</a:t>
            </a:r>
          </a:p>
        </p:txBody>
      </p:sp>
      <p:sp>
        <p:nvSpPr>
          <p:cNvPr id="110" name="Visual Vínculo por obra y period">
            <a:extLst>
              <a:ext uri="{FF2B5EF4-FFF2-40B4-BE49-F238E27FC236}">
                <a16:creationId xmlns:a16="http://schemas.microsoft.com/office/drawing/2014/main" id="{8ECB6438-7FA0-458E-836C-29366AF0E0E9}"/>
              </a:ext>
            </a:extLst>
          </p:cNvPr>
          <p:cNvSpPr>
            <a:spLocks noGrp="1"/>
          </p:cNvSpPr>
          <p:nvPr/>
        </p:nvSpPr>
        <p:spPr>
          <a:xfrm>
            <a:off x="7239000" y="3981450"/>
            <a:ext cx="4333875" cy="304800"/>
          </a:xfrm>
          <a:prstGeom prst="rect">
            <a:avLst/>
          </a:prstGeom>
          <a:noFill/>
          <a:ln w="0">
            <a:noFill/>
          </a:ln>
        </p:spPr>
        <p:txBody>
          <a:bodyPr anchor="t">
            <a:noAutofit/>
          </a:bodyPr>
          <a:lstStyle/>
          <a:p>
            <a:pPr algn="l">
              <a:defRPr sz="1725" b="1">
                <a:solidFill>
                  <a:srgbClr val="BD8CFF"/>
                </a:solidFill>
                <a:latin typeface="Calibri"/>
                <a:ea typeface="Calibri"/>
                <a:cs typeface="Calibri"/>
              </a:defRPr>
            </a:pPr>
            <a:r>
              <a:rPr sz="1725" b="1">
                <a:solidFill>
                  <a:srgbClr val="BD8CFF"/>
                </a:solidFill>
                <a:latin typeface="Calibri"/>
                <a:ea typeface="Calibri"/>
                <a:cs typeface="Calibri"/>
              </a:rPr>
              <a:t>Vínculo por obra y periodo</a:t>
            </a:r>
          </a:p>
        </p:txBody>
      </p:sp>
      <p:sp>
        <p:nvSpPr>
          <p:cNvPr id="111" name="Visual works/{work_id}/reports/&#10;">
            <a:extLst>
              <a:ext uri="{FF2B5EF4-FFF2-40B4-BE49-F238E27FC236}">
                <a16:creationId xmlns:a16="http://schemas.microsoft.com/office/drawing/2014/main" id="{C2D059EF-412F-42DA-AB3A-A715CAD2ECB1}"/>
              </a:ext>
            </a:extLst>
          </p:cNvPr>
          <p:cNvSpPr>
            <a:spLocks noGrp="1"/>
          </p:cNvSpPr>
          <p:nvPr/>
        </p:nvSpPr>
        <p:spPr>
          <a:xfrm>
            <a:off x="7239000" y="4333875"/>
            <a:ext cx="4333875" cy="542925"/>
          </a:xfrm>
          <a:prstGeom prst="rect">
            <a:avLst/>
          </a:prstGeom>
          <a:noFill/>
          <a:ln w="0">
            <a:noFill/>
          </a:ln>
        </p:spPr>
        <p:txBody>
          <a:bodyPr anchor="t">
            <a:noAutofit/>
          </a:bodyPr>
          <a:lstStyle/>
          <a:p>
            <a:pPr algn="l">
              <a:defRPr sz="1275" b="0">
                <a:solidFill>
                  <a:srgbClr val="F4C259"/>
                </a:solidFill>
                <a:latin typeface="Consolas"/>
                <a:ea typeface="Consolas"/>
                <a:cs typeface="Consolas"/>
              </a:defRPr>
            </a:pPr>
            <a:r>
              <a:rPr sz="1275" b="0">
                <a:solidFill>
                  <a:srgbClr val="F4C259"/>
                </a:solidFill>
                <a:latin typeface="Consolas"/>
                <a:ea typeface="Consolas"/>
                <a:cs typeface="Consolas"/>
              </a:rPr>
              <a:t>works/{work_id}/reports/</a:t>
            </a:r>
          </a:p>
          <a:p>
            <a:pPr algn="l">
              <a:defRPr sz="1275" b="0">
                <a:solidFill>
                  <a:srgbClr val="F4C259"/>
                </a:solidFill>
                <a:latin typeface="Consolas"/>
                <a:ea typeface="Consolas"/>
                <a:cs typeface="Consolas"/>
              </a:defRPr>
            </a:pPr>
            <a:r>
              <a:rPr sz="1275" b="0">
                <a:solidFill>
                  <a:srgbClr val="F4C259"/>
                </a:solidFill>
                <a:latin typeface="Consolas"/>
                <a:ea typeface="Consolas"/>
                <a:cs typeface="Consolas"/>
              </a:rPr>
              <a:t>{year}-{month}/{ts}_{slug}.{ext}</a:t>
            </a:r>
          </a:p>
        </p:txBody>
      </p:sp>
      <p:sp>
        <p:nvSpPr>
          <p:cNvPr id="112" name="Visual URL, nombre, MIME, bytes ">
            <a:extLst>
              <a:ext uri="{FF2B5EF4-FFF2-40B4-BE49-F238E27FC236}">
                <a16:creationId xmlns:a16="http://schemas.microsoft.com/office/drawing/2014/main" id="{4DA47AB2-EC52-4620-B505-A35A82845D8B}"/>
              </a:ext>
            </a:extLst>
          </p:cNvPr>
          <p:cNvSpPr>
            <a:spLocks noGrp="1"/>
          </p:cNvSpPr>
          <p:nvPr/>
        </p:nvSpPr>
        <p:spPr>
          <a:xfrm>
            <a:off x="7239000" y="4914900"/>
            <a:ext cx="4333875" cy="381000"/>
          </a:xfrm>
          <a:prstGeom prst="rect">
            <a:avLst/>
          </a:prstGeom>
          <a:noFill/>
          <a:ln w="0">
            <a:noFill/>
          </a:ln>
        </p:spPr>
        <p:txBody>
          <a:bodyPr anchor="t">
            <a:noAutofit/>
          </a:bodyPr>
          <a:lstStyle/>
          <a:p>
            <a:pPr algn="l">
              <a:defRPr sz="1275" b="0">
                <a:solidFill>
                  <a:srgbClr val="CEC4DF"/>
                </a:solidFill>
                <a:latin typeface="Calibri"/>
                <a:ea typeface="Calibri"/>
                <a:cs typeface="Calibri"/>
              </a:defRPr>
            </a:pPr>
            <a:r>
              <a:rPr sz="1275" b="0">
                <a:solidFill>
                  <a:srgbClr val="CEC4DF"/>
                </a:solidFill>
                <a:latin typeface="Calibri"/>
                <a:ea typeface="Calibri"/>
                <a:cs typeface="Calibri"/>
              </a:rPr>
              <a:t>URL, nombre, MIME, bytes y fecha de carga</a:t>
            </a:r>
          </a:p>
        </p:txBody>
      </p:sp>
      <p:sp>
        <p:nvSpPr>
          <p:cNvPr id="113" name="Visual Carga compensada, no atóm">
            <a:extLst>
              <a:ext uri="{FF2B5EF4-FFF2-40B4-BE49-F238E27FC236}">
                <a16:creationId xmlns:a16="http://schemas.microsoft.com/office/drawing/2014/main" id="{E8D4E01D-9984-4AD7-A04E-A254C1FF9B21}"/>
              </a:ext>
            </a:extLst>
          </p:cNvPr>
          <p:cNvSpPr>
            <a:spLocks noGrp="1"/>
          </p:cNvSpPr>
          <p:nvPr/>
        </p:nvSpPr>
        <p:spPr>
          <a:xfrm>
            <a:off x="7239000" y="5391150"/>
            <a:ext cx="4333875" cy="285750"/>
          </a:xfrm>
          <a:prstGeom prst="rect">
            <a:avLst/>
          </a:prstGeom>
          <a:noFill/>
          <a:ln w="0">
            <a:noFill/>
          </a:ln>
        </p:spPr>
        <p:txBody>
          <a:bodyPr anchor="t">
            <a:noAutofit/>
          </a:bodyPr>
          <a:lstStyle/>
          <a:p>
            <a:pPr algn="l">
              <a:defRPr sz="1575" b="1">
                <a:solidFill>
                  <a:srgbClr val="F4C259"/>
                </a:solidFill>
                <a:latin typeface="Calibri"/>
                <a:ea typeface="Calibri"/>
                <a:cs typeface="Calibri"/>
              </a:defRPr>
            </a:pPr>
            <a:r>
              <a:rPr sz="1575" b="1">
                <a:solidFill>
                  <a:srgbClr val="F4C259"/>
                </a:solidFill>
                <a:latin typeface="Calibri"/>
                <a:ea typeface="Calibri"/>
                <a:cs typeface="Calibri"/>
              </a:rPr>
              <a:t>Carga compensada, no atómica</a:t>
            </a:r>
          </a:p>
        </p:txBody>
      </p:sp>
      <p:sp>
        <p:nvSpPr>
          <p:cNvPr id="114" name="Visual Una falla intermedia pued">
            <a:extLst>
              <a:ext uri="{FF2B5EF4-FFF2-40B4-BE49-F238E27FC236}">
                <a16:creationId xmlns:a16="http://schemas.microsoft.com/office/drawing/2014/main" id="{7885FDCA-80CD-4309-B2C9-2AFA38375EF0}"/>
              </a:ext>
            </a:extLst>
          </p:cNvPr>
          <p:cNvSpPr>
            <a:spLocks noGrp="1"/>
          </p:cNvSpPr>
          <p:nvPr/>
        </p:nvSpPr>
        <p:spPr>
          <a:xfrm>
            <a:off x="7239000" y="5715000"/>
            <a:ext cx="4333875" cy="323850"/>
          </a:xfrm>
          <a:prstGeom prst="rect">
            <a:avLst/>
          </a:prstGeom>
          <a:noFill/>
          <a:ln w="0">
            <a:noFill/>
          </a:ln>
        </p:spPr>
        <p:txBody>
          <a:bodyPr anchor="t">
            <a:noAutofit/>
          </a:bodyPr>
          <a:lstStyle/>
          <a:p>
            <a:pPr algn="l">
              <a:defRPr sz="1350" b="0">
                <a:solidFill>
                  <a:srgbClr val="CEC4DF"/>
                </a:solidFill>
                <a:latin typeface="Calibri"/>
                <a:ea typeface="Calibri"/>
                <a:cs typeface="Calibri"/>
              </a:defRPr>
            </a:pPr>
            <a:r>
              <a:rPr sz="1350" b="0">
                <a:solidFill>
                  <a:srgbClr val="CEC4DF"/>
                </a:solidFill>
                <a:latin typeface="Calibri"/>
                <a:ea typeface="Calibri"/>
                <a:cs typeface="Calibri"/>
              </a:rPr>
              <a:t>Una falla intermedia puede dejar archivos huérfanos.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s-MX">
                <a:solidFill>
                  <a:srgbClr val="FFFFFF"/>
                </a:solidFill>
                <a:latin typeface="Calibri Light"/>
              </a:rPr>
              <a:t>Visor geoespacial: un grafo implícito</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s-MX" spc="250">
                <a:solidFill>
                  <a:srgbClr val="B57BFF"/>
                </a:solidFill>
                <a:latin typeface="Calibri"/>
              </a:rPr>
              <a:t>INTERFAZ</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s-MX">
                <a:solidFill>
                  <a:srgbClr val="8E84AB"/>
                </a:solidFill>
                <a:latin typeface="Calibri"/>
              </a:rPr>
              <a:t>10 / 19</a:t>
            </a:r>
          </a:p>
        </p:txBody>
      </p:sp>
      <p:pic>
        <p:nvPicPr>
          <p:cNvPr id="100" name="Picture 100" descr="Embedded illustration or system screenshot"/>
          <p:cNvPicPr>
            <a:picLocks noChangeAspect="1"/>
          </p:cNvPicPr>
          <p:nvPr/>
        </p:nvPicPr>
        <p:blipFill>
          <a:blip r:embed="rId6"/>
          <a:stretch>
            <a:fillRect/>
          </a:stretch>
        </p:blipFill>
        <p:spPr>
          <a:xfrm>
            <a:off x="868562" y="1762125"/>
            <a:ext cx="6702026" cy="4191000"/>
          </a:xfrm>
          <a:prstGeom prst="rect">
            <a:avLst/>
          </a:prstGeom>
        </p:spPr>
      </p:pic>
      <p:pic>
        <p:nvPicPr>
          <p:cNvPr id="101" name="Picture 101" descr="Embedded illustration or system screenshot"/>
          <p:cNvPicPr>
            <a:picLocks noChangeAspect="1"/>
          </p:cNvPicPr>
          <p:nvPr/>
        </p:nvPicPr>
        <p:blipFill>
          <a:blip r:embed="rId7"/>
          <a:stretch>
            <a:fillRect/>
          </a:stretch>
        </p:blipFill>
        <p:spPr>
          <a:xfrm>
            <a:off x="8162925" y="1773074"/>
            <a:ext cx="2314575" cy="3769051"/>
          </a:xfrm>
          <a:prstGeom prst="rect">
            <a:avLst/>
          </a:prstGeom>
        </p:spPr>
      </p:pic>
      <p:sp>
        <p:nvSpPr>
          <p:cNvPr id="102" name="Visual Estado">
            <a:extLst>
              <a:ext uri="{FF2B5EF4-FFF2-40B4-BE49-F238E27FC236}">
                <a16:creationId xmlns:a16="http://schemas.microsoft.com/office/drawing/2014/main" id="{C798D6A1-8459-4225-ADDE-18D2522B3BB8}"/>
              </a:ext>
            </a:extLst>
          </p:cNvPr>
          <p:cNvSpPr>
            <a:spLocks noGrp="1"/>
          </p:cNvSpPr>
          <p:nvPr/>
        </p:nvSpPr>
        <p:spPr>
          <a:xfrm>
            <a:off x="10668000" y="1847850"/>
            <a:ext cx="1000125" cy="285750"/>
          </a:xfrm>
          <a:prstGeom prst="rect">
            <a:avLst/>
          </a:prstGeom>
          <a:noFill/>
          <a:ln w="0">
            <a:noFill/>
          </a:ln>
        </p:spPr>
        <p:txBody>
          <a:bodyPr anchor="t">
            <a:noAutofit/>
          </a:bodyPr>
          <a:lstStyle/>
          <a:p>
            <a:pPr algn="l">
              <a:defRPr sz="1575" b="1">
                <a:solidFill>
                  <a:srgbClr val="BD8CFF"/>
                </a:solidFill>
                <a:latin typeface="Calibri"/>
                <a:ea typeface="Calibri"/>
                <a:cs typeface="Calibri"/>
              </a:defRPr>
            </a:pPr>
            <a:r>
              <a:rPr sz="1575" b="1">
                <a:solidFill>
                  <a:srgbClr val="BD8CFF"/>
                </a:solidFill>
                <a:latin typeface="Calibri"/>
                <a:ea typeface="Calibri"/>
                <a:cs typeface="Calibri"/>
              </a:rPr>
              <a:t>Estado</a:t>
            </a:r>
          </a:p>
        </p:txBody>
      </p:sp>
      <p:sp>
        <p:nvSpPr>
          <p:cNvPr id="103" name="Visual Ubicación">
            <a:extLst>
              <a:ext uri="{FF2B5EF4-FFF2-40B4-BE49-F238E27FC236}">
                <a16:creationId xmlns:a16="http://schemas.microsoft.com/office/drawing/2014/main" id="{80B86677-863B-47C3-8B6D-C315E18F65A3}"/>
              </a:ext>
            </a:extLst>
          </p:cNvPr>
          <p:cNvSpPr>
            <a:spLocks noGrp="1"/>
          </p:cNvSpPr>
          <p:nvPr/>
        </p:nvSpPr>
        <p:spPr>
          <a:xfrm>
            <a:off x="10668000" y="2447925"/>
            <a:ext cx="1000125" cy="285750"/>
          </a:xfrm>
          <a:prstGeom prst="rect">
            <a:avLst/>
          </a:prstGeom>
          <a:noFill/>
          <a:ln w="0">
            <a:noFill/>
          </a:ln>
        </p:spPr>
        <p:txBody>
          <a:bodyPr anchor="t">
            <a:noAutofit/>
          </a:bodyPr>
          <a:lstStyle/>
          <a:p>
            <a:pPr algn="l">
              <a:defRPr sz="1350" b="0">
                <a:solidFill>
                  <a:srgbClr val="CEC4DF"/>
                </a:solidFill>
                <a:latin typeface="Calibri"/>
                <a:ea typeface="Calibri"/>
                <a:cs typeface="Calibri"/>
              </a:defRPr>
            </a:pPr>
            <a:r>
              <a:rPr sz="1350" b="0">
                <a:solidFill>
                  <a:srgbClr val="CEC4DF"/>
                </a:solidFill>
                <a:latin typeface="Calibri"/>
                <a:ea typeface="Calibri"/>
                <a:cs typeface="Calibri"/>
              </a:rPr>
              <a:t>Ubicación</a:t>
            </a:r>
          </a:p>
        </p:txBody>
      </p:sp>
      <p:sp>
        <p:nvSpPr>
          <p:cNvPr id="104" name="Visual Evidencia">
            <a:extLst>
              <a:ext uri="{FF2B5EF4-FFF2-40B4-BE49-F238E27FC236}">
                <a16:creationId xmlns:a16="http://schemas.microsoft.com/office/drawing/2014/main" id="{A8B9ECAB-6549-4987-9651-F6B759D3EF8F}"/>
              </a:ext>
            </a:extLst>
          </p:cNvPr>
          <p:cNvSpPr>
            <a:spLocks noGrp="1"/>
          </p:cNvSpPr>
          <p:nvPr/>
        </p:nvSpPr>
        <p:spPr>
          <a:xfrm>
            <a:off x="10668000" y="3105150"/>
            <a:ext cx="1000125" cy="285750"/>
          </a:xfrm>
          <a:prstGeom prst="rect">
            <a:avLst/>
          </a:prstGeom>
          <a:noFill/>
          <a:ln w="0">
            <a:noFill/>
          </a:ln>
        </p:spPr>
        <p:txBody>
          <a:bodyPr anchor="t">
            <a:noAutofit/>
          </a:bodyPr>
          <a:lstStyle/>
          <a:p>
            <a:pPr algn="l">
              <a:defRPr sz="1350" b="0">
                <a:solidFill>
                  <a:srgbClr val="CEC4DF"/>
                </a:solidFill>
                <a:latin typeface="Calibri"/>
                <a:ea typeface="Calibri"/>
                <a:cs typeface="Calibri"/>
              </a:defRPr>
            </a:pPr>
            <a:r>
              <a:rPr sz="1350" b="0">
                <a:solidFill>
                  <a:srgbClr val="CEC4DF"/>
                </a:solidFill>
                <a:latin typeface="Calibri"/>
                <a:ea typeface="Calibri"/>
                <a:cs typeface="Calibri"/>
              </a:rPr>
              <a:t>Evidencia</a:t>
            </a:r>
          </a:p>
        </p:txBody>
      </p:sp>
      <p:sp>
        <p:nvSpPr>
          <p:cNvPr id="105" name="Visual Monto">
            <a:extLst>
              <a:ext uri="{FF2B5EF4-FFF2-40B4-BE49-F238E27FC236}">
                <a16:creationId xmlns:a16="http://schemas.microsoft.com/office/drawing/2014/main" id="{02FFDE9D-BF45-434E-912A-B37023DEF6AB}"/>
              </a:ext>
            </a:extLst>
          </p:cNvPr>
          <p:cNvSpPr>
            <a:spLocks noGrp="1"/>
          </p:cNvSpPr>
          <p:nvPr/>
        </p:nvSpPr>
        <p:spPr>
          <a:xfrm>
            <a:off x="10668000" y="3743325"/>
            <a:ext cx="1047750" cy="285750"/>
          </a:xfrm>
          <a:prstGeom prst="rect">
            <a:avLst/>
          </a:prstGeom>
          <a:noFill/>
          <a:ln w="0">
            <a:noFill/>
          </a:ln>
        </p:spPr>
        <p:txBody>
          <a:bodyPr anchor="t">
            <a:noAutofit/>
          </a:bodyPr>
          <a:lstStyle/>
          <a:p>
            <a:pPr algn="l">
              <a:defRPr sz="1350" b="0">
                <a:solidFill>
                  <a:srgbClr val="CEC4DF"/>
                </a:solidFill>
                <a:latin typeface="Calibri"/>
                <a:ea typeface="Calibri"/>
                <a:cs typeface="Calibri"/>
              </a:defRPr>
            </a:pPr>
            <a:r>
              <a:rPr sz="1350" b="0">
                <a:solidFill>
                  <a:srgbClr val="CEC4DF"/>
                </a:solidFill>
                <a:latin typeface="Calibri"/>
                <a:ea typeface="Calibri"/>
                <a:cs typeface="Calibri"/>
              </a:rPr>
              <a:t>Monto</a:t>
            </a:r>
          </a:p>
        </p:txBody>
      </p:sp>
      <p:sp>
        <p:nvSpPr>
          <p:cNvPr id="106" name="Visual Avance">
            <a:extLst>
              <a:ext uri="{FF2B5EF4-FFF2-40B4-BE49-F238E27FC236}">
                <a16:creationId xmlns:a16="http://schemas.microsoft.com/office/drawing/2014/main" id="{C4E5F123-6A03-43CD-B866-B5BBE02D9EF9}"/>
              </a:ext>
            </a:extLst>
          </p:cNvPr>
          <p:cNvSpPr>
            <a:spLocks noGrp="1"/>
          </p:cNvSpPr>
          <p:nvPr/>
        </p:nvSpPr>
        <p:spPr>
          <a:xfrm>
            <a:off x="10668000" y="4324350"/>
            <a:ext cx="1000125" cy="285750"/>
          </a:xfrm>
          <a:prstGeom prst="rect">
            <a:avLst/>
          </a:prstGeom>
          <a:noFill/>
          <a:ln w="0">
            <a:noFill/>
          </a:ln>
        </p:spPr>
        <p:txBody>
          <a:bodyPr anchor="t">
            <a:noAutofit/>
          </a:bodyPr>
          <a:lstStyle/>
          <a:p>
            <a:pPr algn="l">
              <a:defRPr sz="1350" b="0">
                <a:solidFill>
                  <a:srgbClr val="CEC4DF"/>
                </a:solidFill>
                <a:latin typeface="Calibri"/>
                <a:ea typeface="Calibri"/>
                <a:cs typeface="Calibri"/>
              </a:defRPr>
            </a:pPr>
            <a:r>
              <a:rPr sz="1350" b="0">
                <a:solidFill>
                  <a:srgbClr val="CEC4DF"/>
                </a:solidFill>
                <a:latin typeface="Calibri"/>
                <a:ea typeface="Calibri"/>
                <a:cs typeface="Calibri"/>
              </a:rPr>
              <a:t>Avance</a:t>
            </a:r>
          </a:p>
        </p:txBody>
      </p:sp>
      <p:sp>
        <p:nvSpPr>
          <p:cNvPr id="107" name="Visual Relaciones por llaves for">
            <a:extLst>
              <a:ext uri="{FF2B5EF4-FFF2-40B4-BE49-F238E27FC236}">
                <a16:creationId xmlns:a16="http://schemas.microsoft.com/office/drawing/2014/main" id="{71A465DD-2B90-44F5-8F5D-5DBBFB7462ED}"/>
              </a:ext>
            </a:extLst>
          </p:cNvPr>
          <p:cNvSpPr>
            <a:spLocks noGrp="1"/>
          </p:cNvSpPr>
          <p:nvPr/>
        </p:nvSpPr>
        <p:spPr>
          <a:xfrm>
            <a:off x="8162925" y="5657850"/>
            <a:ext cx="3457575" cy="409575"/>
          </a:xfrm>
          <a:prstGeom prst="rect">
            <a:avLst/>
          </a:prstGeom>
          <a:noFill/>
          <a:ln w="0">
            <a:noFill/>
          </a:ln>
        </p:spPr>
        <p:txBody>
          <a:bodyPr anchor="t">
            <a:noAutofit/>
          </a:bodyPr>
          <a:lstStyle/>
          <a:p>
            <a:pPr algn="l">
              <a:defRPr sz="1350" b="0">
                <a:solidFill>
                  <a:srgbClr val="BD8CFF"/>
                </a:solidFill>
                <a:latin typeface="Calibri"/>
                <a:ea typeface="Calibri"/>
                <a:cs typeface="Calibri"/>
              </a:defRPr>
            </a:pPr>
            <a:r>
              <a:rPr sz="1350" b="0">
                <a:solidFill>
                  <a:srgbClr val="BD8CFF"/>
                </a:solidFill>
                <a:latin typeface="Calibri"/>
                <a:ea typeface="Calibri"/>
                <a:cs typeface="Calibri"/>
              </a:rPr>
              <a:t>Relaciones por llaves foráneas. OWL/RDF es trabajo futuro.</a:t>
            </a:r>
          </a:p>
        </p:txBody>
      </p:sp>
      <p:sp>
        <p:nvSpPr>
          <p:cNvPr id="108" name="Visual Fig. 3 y fichas del artef">
            <a:extLst>
              <a:ext uri="{FF2B5EF4-FFF2-40B4-BE49-F238E27FC236}">
                <a16:creationId xmlns:a16="http://schemas.microsoft.com/office/drawing/2014/main" id="{680042A1-0675-4300-A8F9-3C483EE7D12A}"/>
              </a:ext>
            </a:extLst>
          </p:cNvPr>
          <p:cNvSpPr>
            <a:spLocks noGrp="1"/>
          </p:cNvSpPr>
          <p:nvPr/>
        </p:nvSpPr>
        <p:spPr>
          <a:xfrm>
            <a:off x="552450" y="5972175"/>
            <a:ext cx="7239000" cy="152400"/>
          </a:xfrm>
          <a:prstGeom prst="rect">
            <a:avLst/>
          </a:prstGeom>
          <a:noFill/>
          <a:ln w="0">
            <a:noFill/>
          </a:ln>
        </p:spPr>
        <p:txBody>
          <a:bodyPr anchor="t">
            <a:noAutofit/>
          </a:bodyPr>
          <a:lstStyle/>
          <a:p>
            <a:pPr algn="l">
              <a:defRPr sz="825" b="0">
                <a:solidFill>
                  <a:srgbClr val="CEC4DF"/>
                </a:solidFill>
                <a:latin typeface="Calibri"/>
                <a:ea typeface="Calibri"/>
                <a:cs typeface="Calibri"/>
              </a:defRPr>
            </a:pPr>
            <a:r>
              <a:rPr sz="825" b="0">
                <a:solidFill>
                  <a:srgbClr val="CEC4DF"/>
                </a:solidFill>
                <a:latin typeface="Calibri"/>
                <a:ea typeface="Calibri"/>
                <a:cs typeface="Calibri"/>
              </a:rPr>
              <a:t>Fig. 3 y fichas del artefacto. Datos sintéticos. © OpenStreetMap, © CARTO, Leaflet.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s-MX">
                <a:solidFill>
                  <a:srgbClr val="FFFFFF"/>
                </a:solidFill>
                <a:latin typeface="Calibri Light"/>
              </a:rPr>
              <a:t>El artefacto está en línea — y es estático a propósito</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s-MX" spc="250">
                <a:solidFill>
                  <a:srgbClr val="B57BFF"/>
                </a:solidFill>
                <a:latin typeface="Calibri"/>
              </a:rPr>
              <a:t>DEMO</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s-MX">
                <a:solidFill>
                  <a:srgbClr val="8E84AB"/>
                </a:solidFill>
                <a:latin typeface="Calibri"/>
              </a:rPr>
              <a:t>11 / 19</a:t>
            </a:r>
          </a:p>
        </p:txBody>
      </p:sp>
      <p:pic>
        <p:nvPicPr>
          <p:cNvPr id="100" name="Picture 100" descr="Embedded illustration or system screenshot"/>
          <p:cNvPicPr>
            <a:picLocks noChangeAspect="1"/>
          </p:cNvPicPr>
          <p:nvPr/>
        </p:nvPicPr>
        <p:blipFill>
          <a:blip r:embed="rId13"/>
          <a:stretch>
            <a:fillRect/>
          </a:stretch>
        </p:blipFill>
        <p:spPr>
          <a:xfrm>
            <a:off x="554791" y="1752600"/>
            <a:ext cx="7615318" cy="4286250"/>
          </a:xfrm>
          <a:prstGeom prst="rect">
            <a:avLst/>
          </a:prstGeom>
        </p:spPr>
      </p:pic>
      <p:sp>
        <p:nvSpPr>
          <p:cNvPr id="101" name="Visual Acceso abierto">
            <a:extLst>
              <a:ext uri="{FF2B5EF4-FFF2-40B4-BE49-F238E27FC236}">
                <a16:creationId xmlns:a16="http://schemas.microsoft.com/office/drawing/2014/main" id="{2C0C5F67-3B9C-431B-885C-DF0D3098FFB9}"/>
              </a:ext>
            </a:extLst>
          </p:cNvPr>
          <p:cNvSpPr>
            <a:spLocks noGrp="1"/>
          </p:cNvSpPr>
          <p:nvPr/>
        </p:nvSpPr>
        <p:spPr>
          <a:xfrm>
            <a:off x="8486775" y="1790700"/>
            <a:ext cx="3133725" cy="381000"/>
          </a:xfrm>
          <a:prstGeom prst="rect">
            <a:avLst/>
          </a:prstGeom>
          <a:noFill/>
          <a:ln w="0">
            <a:noFill/>
          </a:ln>
        </p:spPr>
        <p:txBody>
          <a:bodyPr anchor="t">
            <a:noAutofit/>
          </a:bodyPr>
          <a:lstStyle/>
          <a:p>
            <a:pPr algn="l">
              <a:defRPr sz="2100" b="1">
                <a:solidFill>
                  <a:srgbClr val="BD8CFF"/>
                </a:solidFill>
                <a:latin typeface="Calibri"/>
                <a:ea typeface="Calibri"/>
                <a:cs typeface="Calibri"/>
              </a:defRPr>
            </a:pPr>
            <a:r>
              <a:rPr sz="2100" b="1">
                <a:solidFill>
                  <a:srgbClr val="BD8CFF"/>
                </a:solidFill>
                <a:latin typeface="Calibri"/>
                <a:ea typeface="Calibri"/>
                <a:cs typeface="Calibri"/>
              </a:rPr>
              <a:t>Acceso abierto</a:t>
            </a:r>
          </a:p>
        </p:txBody>
      </p:sp>
      <p:sp>
        <p:nvSpPr>
          <p:cNvPr id="102" name="Visual 6 obras sintéticas&#10;en la ">
            <a:extLst>
              <a:ext uri="{FF2B5EF4-FFF2-40B4-BE49-F238E27FC236}">
                <a16:creationId xmlns:a16="http://schemas.microsoft.com/office/drawing/2014/main" id="{639FDD4D-E4B2-4E27-BBE5-77C7AC6DDBE3}"/>
              </a:ext>
            </a:extLst>
          </p:cNvPr>
          <p:cNvSpPr>
            <a:spLocks noGrp="1"/>
          </p:cNvSpPr>
          <p:nvPr/>
        </p:nvSpPr>
        <p:spPr>
          <a:xfrm>
            <a:off x="8486775" y="2276475"/>
            <a:ext cx="3133725" cy="676275"/>
          </a:xfrm>
          <a:prstGeom prst="rect">
            <a:avLst/>
          </a:prstGeom>
          <a:noFill/>
          <a:ln w="0">
            <a:noFill/>
          </a:ln>
        </p:spPr>
        <p:txBody>
          <a:bodyPr anchor="t">
            <a:noAutofit/>
          </a:bodyPr>
          <a:lstStyle/>
          <a:p>
            <a:pPr algn="l">
              <a:defRPr sz="1875" b="0">
                <a:solidFill>
                  <a:srgbClr val="F7F4FF"/>
                </a:solidFill>
                <a:latin typeface="Calibri"/>
                <a:ea typeface="Calibri"/>
                <a:cs typeface="Calibri"/>
              </a:defRPr>
            </a:pPr>
            <a:r>
              <a:rPr sz="1875" b="0">
                <a:solidFill>
                  <a:srgbClr val="F7F4FF"/>
                </a:solidFill>
                <a:latin typeface="Calibri"/>
                <a:ea typeface="Calibri"/>
                <a:cs typeface="Calibri"/>
              </a:rPr>
              <a:t>6 obras sintéticas</a:t>
            </a:r>
          </a:p>
          <a:p>
            <a:pPr algn="l">
              <a:defRPr sz="1875" b="0">
                <a:solidFill>
                  <a:srgbClr val="F7F4FF"/>
                </a:solidFill>
                <a:latin typeface="Calibri"/>
                <a:ea typeface="Calibri"/>
                <a:cs typeface="Calibri"/>
              </a:defRPr>
            </a:pPr>
            <a:r>
              <a:rPr sz="1875" b="0">
                <a:solidFill>
                  <a:srgbClr val="F7F4FF"/>
                </a:solidFill>
                <a:latin typeface="Calibri"/>
                <a:ea typeface="Calibri"/>
                <a:cs typeface="Calibri"/>
              </a:rPr>
              <a:t>en la pestaña del visitante</a:t>
            </a:r>
          </a:p>
        </p:txBody>
      </p:sp>
      <p:sp>
        <p:nvSpPr>
          <p:cNvPr id="103" name="Visual Director, supervisor, pro">
            <a:extLst>
              <a:ext uri="{FF2B5EF4-FFF2-40B4-BE49-F238E27FC236}">
                <a16:creationId xmlns:a16="http://schemas.microsoft.com/office/drawing/2014/main" id="{16ABD53C-10F4-4DFD-82D9-7EBEFB993030}"/>
              </a:ext>
            </a:extLst>
          </p:cNvPr>
          <p:cNvSpPr>
            <a:spLocks noGrp="1"/>
          </p:cNvSpPr>
          <p:nvPr/>
        </p:nvSpPr>
        <p:spPr>
          <a:xfrm>
            <a:off x="8486775" y="3162300"/>
            <a:ext cx="3133725" cy="571500"/>
          </a:xfrm>
          <a:prstGeom prst="rect">
            <a:avLst/>
          </a:prstGeom>
          <a:noFill/>
          <a:ln w="0">
            <a:noFill/>
          </a:ln>
        </p:spPr>
        <p:txBody>
          <a:bodyPr anchor="t">
            <a:noAutofit/>
          </a:bodyPr>
          <a:lstStyle/>
          <a:p>
            <a:pPr algn="l">
              <a:defRPr sz="1500" b="0">
                <a:solidFill>
                  <a:srgbClr val="CEC4DF"/>
                </a:solidFill>
                <a:latin typeface="Calibri"/>
                <a:ea typeface="Calibri"/>
                <a:cs typeface="Calibri"/>
              </a:defRPr>
            </a:pPr>
            <a:r>
              <a:rPr sz="1500" b="0">
                <a:solidFill>
                  <a:srgbClr val="CEC4DF"/>
                </a:solidFill>
                <a:latin typeface="Calibri"/>
                <a:ea typeface="Calibri"/>
                <a:cs typeface="Calibri"/>
              </a:rPr>
              <a:t>Director, supervisor, proyectista y secretaría</a:t>
            </a:r>
          </a:p>
        </p:txBody>
      </p:sp>
      <p:sp>
        <p:nvSpPr>
          <p:cNvPr id="104" name="Visual Participación ciudadana&#10;E">
            <a:extLst>
              <a:ext uri="{FF2B5EF4-FFF2-40B4-BE49-F238E27FC236}">
                <a16:creationId xmlns:a16="http://schemas.microsoft.com/office/drawing/2014/main" id="{E6313CE8-32E3-4F17-B98D-8ABEDE4106C1}"/>
              </a:ext>
            </a:extLst>
          </p:cNvPr>
          <p:cNvSpPr>
            <a:spLocks noGrp="1"/>
          </p:cNvSpPr>
          <p:nvPr/>
        </p:nvSpPr>
        <p:spPr>
          <a:xfrm>
            <a:off x="8486775" y="3829050"/>
            <a:ext cx="3133725" cy="762000"/>
          </a:xfrm>
          <a:prstGeom prst="rect">
            <a:avLst/>
          </a:prstGeom>
          <a:noFill/>
          <a:ln w="0">
            <a:noFill/>
          </a:ln>
        </p:spPr>
        <p:txBody>
          <a:bodyPr anchor="t">
            <a:noAutofit/>
          </a:bodyPr>
          <a:lstStyle/>
          <a:p>
            <a:pPr algn="l">
              <a:defRPr sz="1500" b="0">
                <a:solidFill>
                  <a:srgbClr val="CEC4DF"/>
                </a:solidFill>
                <a:latin typeface="Calibri"/>
                <a:ea typeface="Calibri"/>
                <a:cs typeface="Calibri"/>
              </a:defRPr>
            </a:pPr>
            <a:r>
              <a:rPr sz="1500" b="0">
                <a:solidFill>
                  <a:srgbClr val="CEC4DF"/>
                </a:solidFill>
                <a:latin typeface="Calibri"/>
                <a:ea typeface="Calibri"/>
                <a:cs typeface="Calibri"/>
              </a:rPr>
              <a:t>Participación ciudadana</a:t>
            </a:r>
          </a:p>
          <a:p>
            <a:pPr algn="l">
              <a:defRPr sz="1500" b="0">
                <a:solidFill>
                  <a:srgbClr val="CEC4DF"/>
                </a:solidFill>
                <a:latin typeface="Calibri"/>
                <a:ea typeface="Calibri"/>
                <a:cs typeface="Calibri"/>
              </a:defRPr>
            </a:pPr>
            <a:r>
              <a:rPr sz="1500" b="0">
                <a:solidFill>
                  <a:srgbClr val="CEC4DF"/>
                </a:solidFill>
                <a:latin typeface="Calibri"/>
                <a:ea typeface="Calibri"/>
                <a:cs typeface="Calibri"/>
              </a:rPr>
              <a:t>Español e inglés</a:t>
            </a:r>
          </a:p>
          <a:p>
            <a:pPr algn="l">
              <a:defRPr sz="1500" b="0">
                <a:solidFill>
                  <a:srgbClr val="CEC4DF"/>
                </a:solidFill>
                <a:latin typeface="Calibri"/>
                <a:ea typeface="Calibri"/>
                <a:cs typeface="Calibri"/>
              </a:defRPr>
            </a:pPr>
            <a:r>
              <a:rPr sz="1500" b="0">
                <a:solidFill>
                  <a:srgbClr val="CEC4DF"/>
                </a:solidFill>
                <a:latin typeface="Calibri"/>
                <a:ea typeface="Calibri"/>
                <a:cs typeface="Calibri"/>
              </a:rPr>
              <a:t>2 temas, claro y oscuro</a:t>
            </a:r>
          </a:p>
        </p:txBody>
      </p:sp>
      <p:pic>
        <p:nvPicPr>
          <p:cNvPr id="105" name="Picture 105" descr="Embedded illustration or system screenshot"/>
          <p:cNvPicPr>
            <a:picLocks noChangeAspect="1"/>
          </p:cNvPicPr>
          <p:nvPr/>
        </p:nvPicPr>
        <p:blipFill>
          <a:blip r:embed="rId14"/>
          <a:stretch>
            <a:fillRect/>
          </a:stretch>
        </p:blipFill>
        <p:spPr>
          <a:xfrm>
            <a:off x="10648950" y="4800600"/>
            <a:ext cx="933450" cy="933450"/>
          </a:xfrm>
          <a:prstGeom prst="rect">
            <a:avLst/>
          </a:prstGeom>
        </p:spPr>
      </p:pic>
      <p:sp>
        <p:nvSpPr>
          <p:cNvPr id="106" name="Visual Probar demo">
            <a:extLst>
              <a:ext uri="{FF2B5EF4-FFF2-40B4-BE49-F238E27FC236}">
                <a16:creationId xmlns:a16="http://schemas.microsoft.com/office/drawing/2014/main" id="{7C8D5472-5323-4394-BA0C-7905717FED6F}"/>
              </a:ext>
            </a:extLst>
          </p:cNvPr>
          <p:cNvSpPr>
            <a:spLocks noGrp="1"/>
          </p:cNvSpPr>
          <p:nvPr/>
        </p:nvSpPr>
        <p:spPr>
          <a:xfrm>
            <a:off x="8486775" y="4848225"/>
            <a:ext cx="2047875" cy="323850"/>
          </a:xfrm>
          <a:prstGeom prst="rect">
            <a:avLst/>
          </a:prstGeom>
          <a:noFill/>
          <a:ln w="0">
            <a:noFill/>
          </a:ln>
        </p:spPr>
        <p:txBody>
          <a:bodyPr anchor="t">
            <a:noAutofit/>
          </a:bodyPr>
          <a:lstStyle/>
          <a:p>
            <a:pPr algn="l">
              <a:defRPr sz="1725" b="1">
                <a:solidFill>
                  <a:srgbClr val="BD8CFF"/>
                </a:solidFill>
                <a:latin typeface="Calibri"/>
                <a:ea typeface="Calibri"/>
                <a:cs typeface="Calibri"/>
              </a:defRPr>
            </a:pPr>
            <a:r>
              <a:rPr sz="1725" b="1">
                <a:solidFill>
                  <a:srgbClr val="BD8CFF"/>
                </a:solidFill>
                <a:latin typeface="Calibri"/>
                <a:ea typeface="Calibri"/>
                <a:cs typeface="Calibri"/>
              </a:rPr>
              <a:t>Probar demo</a:t>
            </a:r>
          </a:p>
        </p:txBody>
      </p:sp>
      <p:sp>
        <p:nvSpPr>
          <p:cNvPr id="107" name="Visual gabrielhuav.github.io/&#10;Pu">
            <a:extLst>
              <a:ext uri="{FF2B5EF4-FFF2-40B4-BE49-F238E27FC236}">
                <a16:creationId xmlns:a16="http://schemas.microsoft.com/office/drawing/2014/main" id="{277243DF-D87C-44E0-B1BA-688DBEF2C12A}"/>
              </a:ext>
            </a:extLst>
          </p:cNvPr>
          <p:cNvSpPr>
            <a:spLocks noGrp="1"/>
          </p:cNvSpPr>
          <p:nvPr/>
        </p:nvSpPr>
        <p:spPr>
          <a:xfrm>
            <a:off x="8486775" y="5229225"/>
            <a:ext cx="2143125" cy="552450"/>
          </a:xfrm>
          <a:prstGeom prst="rect">
            <a:avLst/>
          </a:prstGeom>
          <a:noFill/>
          <a:ln w="0">
            <a:noFill/>
          </a:ln>
        </p:spPr>
        <p:txBody>
          <a:bodyPr anchor="t">
            <a:noAutofit/>
          </a:bodyPr>
          <a:lstStyle/>
          <a:p>
            <a:pPr algn="l">
              <a:defRPr sz="1050" b="0">
                <a:solidFill>
                  <a:srgbClr val="F7F4FF"/>
                </a:solidFill>
                <a:latin typeface="Consolas"/>
                <a:ea typeface="Consolas"/>
                <a:cs typeface="Consolas"/>
              </a:defRPr>
            </a:pPr>
            <a:r>
              <a:rPr sz="1050" b="0">
                <a:solidFill>
                  <a:srgbClr val="F7F4FF"/>
                </a:solidFill>
                <a:latin typeface="Consolas"/>
                <a:ea typeface="Consolas"/>
                <a:cs typeface="Consolas"/>
              </a:rPr>
              <a:t>gabrielhuav.github.io/</a:t>
            </a:r>
          </a:p>
          <a:p>
            <a:pPr algn="l">
              <a:defRPr sz="1050" b="0">
                <a:solidFill>
                  <a:srgbClr val="F7F4FF"/>
                </a:solidFill>
                <a:latin typeface="Consolas"/>
                <a:ea typeface="Consolas"/>
                <a:cs typeface="Consolas"/>
              </a:defRPr>
            </a:pPr>
            <a:r>
              <a:rPr sz="1050" b="0">
                <a:solidFill>
                  <a:srgbClr val="F7F4FF"/>
                </a:solidFill>
                <a:latin typeface="Consolas"/>
                <a:ea typeface="Consolas"/>
                <a:cs typeface="Consolas"/>
              </a:rPr>
              <a:t>PublicMunicipalWorks_DWH/</a:t>
            </a:r>
          </a:p>
        </p:txBody>
      </p:sp>
      <p:sp>
        <p:nvSpPr>
          <p:cNvPr id="108" name="Visual API Flask + PostgreSQL: e">
            <a:extLst>
              <a:ext uri="{FF2B5EF4-FFF2-40B4-BE49-F238E27FC236}">
                <a16:creationId xmlns:a16="http://schemas.microsoft.com/office/drawing/2014/main" id="{7C2CD24B-DD14-4C37-87B7-67810A50ABA0}"/>
              </a:ext>
            </a:extLst>
          </p:cNvPr>
          <p:cNvSpPr>
            <a:spLocks noGrp="1"/>
          </p:cNvSpPr>
          <p:nvPr/>
        </p:nvSpPr>
        <p:spPr>
          <a:xfrm>
            <a:off x="8486775" y="5800725"/>
            <a:ext cx="3133725" cy="314325"/>
          </a:xfrm>
          <a:prstGeom prst="rect">
            <a:avLst/>
          </a:prstGeom>
          <a:noFill/>
          <a:ln w="0">
            <a:noFill/>
          </a:ln>
        </p:spPr>
        <p:txBody>
          <a:bodyPr anchor="t">
            <a:noAutofit/>
          </a:bodyPr>
          <a:lstStyle/>
          <a:p>
            <a:pPr algn="l">
              <a:defRPr sz="1125" b="0">
                <a:solidFill>
                  <a:srgbClr val="CEC4DF"/>
                </a:solidFill>
                <a:latin typeface="Calibri"/>
                <a:ea typeface="Calibri"/>
                <a:cs typeface="Calibri"/>
              </a:defRPr>
            </a:pPr>
            <a:r>
              <a:rPr sz="1125" b="0">
                <a:solidFill>
                  <a:srgbClr val="CEC4DF"/>
                </a:solidFill>
                <a:latin typeface="Calibri"/>
                <a:ea typeface="Calibri"/>
                <a:cs typeface="Calibri"/>
              </a:rPr>
              <a:t>API Flask + PostgreSQL: ejecución local con Docker.</a:t>
            </a:r>
          </a:p>
        </p:txBody>
      </p:sp>
      <p:sp>
        <p:nvSpPr>
          <p:cNvPr id="109" name="Visual Captura del sitio publica">
            <a:extLst>
              <a:ext uri="{FF2B5EF4-FFF2-40B4-BE49-F238E27FC236}">
                <a16:creationId xmlns:a16="http://schemas.microsoft.com/office/drawing/2014/main" id="{937FDE1B-0A50-44B8-9C24-C40C6B2D5A55}"/>
              </a:ext>
            </a:extLst>
          </p:cNvPr>
          <p:cNvSpPr>
            <a:spLocks noGrp="1"/>
          </p:cNvSpPr>
          <p:nvPr/>
        </p:nvSpPr>
        <p:spPr>
          <a:xfrm>
            <a:off x="552450" y="6048375"/>
            <a:ext cx="7334250" cy="152400"/>
          </a:xfrm>
          <a:prstGeom prst="rect">
            <a:avLst/>
          </a:prstGeom>
          <a:noFill/>
          <a:ln w="0">
            <a:noFill/>
          </a:ln>
        </p:spPr>
        <p:txBody>
          <a:bodyPr anchor="t">
            <a:noAutofit/>
          </a:bodyPr>
          <a:lstStyle/>
          <a:p>
            <a:pPr algn="l">
              <a:defRPr sz="825" b="0">
                <a:solidFill>
                  <a:srgbClr val="CEC4DF"/>
                </a:solidFill>
                <a:latin typeface="Calibri"/>
                <a:ea typeface="Calibri"/>
                <a:cs typeface="Calibri"/>
              </a:defRPr>
            </a:pPr>
            <a:r>
              <a:rPr sz="825" b="0">
                <a:solidFill>
                  <a:srgbClr val="CEC4DF"/>
                </a:solidFill>
                <a:latin typeface="Calibri"/>
                <a:ea typeface="Calibri"/>
                <a:cs typeface="Calibri"/>
              </a:rPr>
              <a:t>Captura del sitio publicado, 17 sep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s-MX">
                <a:solidFill>
                  <a:srgbClr val="FFFFFF"/>
                </a:solidFill>
                <a:latin typeface="Calibri Light"/>
              </a:rPr>
              <a:t>Tres poblaciones sintéticas, sin mezclarlas</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s-MX" spc="250">
                <a:solidFill>
                  <a:srgbClr val="B57BFF"/>
                </a:solidFill>
                <a:latin typeface="Calibri"/>
              </a:rPr>
              <a:t>RESULTADOS · ALCANCE</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s-MX">
                <a:solidFill>
                  <a:srgbClr val="8E84AB"/>
                </a:solidFill>
                <a:latin typeface="Calibri"/>
              </a:rPr>
              <a:t>12 / 19</a:t>
            </a:r>
          </a:p>
        </p:txBody>
      </p:sp>
      <p:sp>
        <p:nvSpPr>
          <p:cNvPr id="5" name="Rounded Rectangle 4"/>
          <p:cNvSpPr/>
          <p:nvPr/>
        </p:nvSpPr>
        <p:spPr>
          <a:xfrm>
            <a:off x="548640" y="1783080"/>
            <a:ext cx="3200400" cy="3310128"/>
          </a:xfrm>
          <a:prstGeom prst="roundRect">
            <a:avLst>
              <a:gd name="adj" fmla="val 3428"/>
            </a:avLst>
          </a:prstGeom>
          <a:solidFill>
            <a:srgbClr val="FFFFFF">
              <a:alpha val="7000"/>
            </a:srgbClr>
          </a:solidFill>
          <a:ln w="9525">
            <a:solidFill>
              <a:srgbClr val="D9C5F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77239" y="1984248"/>
            <a:ext cx="548640" cy="548640"/>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monitor.png"/>
          <p:cNvPicPr>
            <a:picLocks noChangeAspect="1"/>
          </p:cNvPicPr>
          <p:nvPr/>
        </p:nvPicPr>
        <p:blipFill>
          <a:blip r:embed="rId2"/>
          <a:stretch>
            <a:fillRect/>
          </a:stretch>
        </p:blipFill>
        <p:spPr>
          <a:xfrm>
            <a:off x="908913" y="2115921"/>
            <a:ext cx="285292" cy="285292"/>
          </a:xfrm>
          <a:prstGeom prst="rect">
            <a:avLst/>
          </a:prstGeom>
        </p:spPr>
      </p:pic>
      <p:sp>
        <p:nvSpPr>
          <p:cNvPr id="8" name="TextBox 7"/>
          <p:cNvSpPr txBox="1"/>
          <p:nvPr/>
        </p:nvSpPr>
        <p:spPr>
          <a:xfrm>
            <a:off x="1444752" y="2011680"/>
            <a:ext cx="2194560" cy="502920"/>
          </a:xfrm>
          <a:prstGeom prst="rect">
            <a:avLst/>
          </a:prstGeom>
          <a:noFill/>
        </p:spPr>
        <p:txBody>
          <a:bodyPr wrap="square" lIns="0" rIns="0" tIns="0" bIns="0" anchor="ctr">
            <a:noAutofit/>
          </a:bodyPr>
          <a:lstStyle/>
          <a:p>
            <a:pPr algn="l">
              <a:spcAft>
                <a:spcPts val="0"/>
              </a:spcAft>
            </a:pPr>
            <a:r>
              <a:rPr sz="1500" b="1" i="0" lang="es-MX">
                <a:solidFill>
                  <a:srgbClr val="FFFFFF"/>
                </a:solidFill>
                <a:latin typeface="Calibri"/>
              </a:rPr>
              <a:t>Sitio publicado</a:t>
            </a:r>
          </a:p>
        </p:txBody>
      </p:sp>
      <p:sp>
        <p:nvSpPr>
          <p:cNvPr id="9" name="TextBox 8"/>
          <p:cNvSpPr txBox="1"/>
          <p:nvPr/>
        </p:nvSpPr>
        <p:spPr>
          <a:xfrm>
            <a:off x="822959" y="2606040"/>
            <a:ext cx="2743200" cy="777240"/>
          </a:xfrm>
          <a:prstGeom prst="rect">
            <a:avLst/>
          </a:prstGeom>
          <a:noFill/>
        </p:spPr>
        <p:txBody>
          <a:bodyPr wrap="square" lIns="0" rIns="0" tIns="0" bIns="0" anchor="t">
            <a:noAutofit/>
          </a:bodyPr>
          <a:lstStyle/>
          <a:p>
            <a:pPr algn="l">
              <a:spcAft>
                <a:spcPts val="0"/>
              </a:spcAft>
            </a:pPr>
            <a:r>
              <a:rPr sz="4800" b="1" i="0" lang="es-MX">
                <a:solidFill>
                  <a:srgbClr val="D9C5FF"/>
                </a:solidFill>
                <a:latin typeface="Calibri"/>
              </a:rPr>
              <a:t>6</a:t>
            </a:r>
          </a:p>
        </p:txBody>
      </p:sp>
      <p:sp>
        <p:nvSpPr>
          <p:cNvPr id="10" name="TextBox 9"/>
          <p:cNvSpPr txBox="1"/>
          <p:nvPr/>
        </p:nvSpPr>
        <p:spPr>
          <a:xfrm>
            <a:off x="822959" y="3383280"/>
            <a:ext cx="2743200" cy="292608"/>
          </a:xfrm>
          <a:prstGeom prst="rect">
            <a:avLst/>
          </a:prstGeom>
          <a:noFill/>
        </p:spPr>
        <p:txBody>
          <a:bodyPr wrap="square" lIns="0" rIns="0" tIns="0" bIns="0" anchor="t">
            <a:noAutofit/>
          </a:bodyPr>
          <a:lstStyle/>
          <a:p>
            <a:pPr algn="l">
              <a:spcAft>
                <a:spcPts val="0"/>
              </a:spcAft>
            </a:pPr>
            <a:r>
              <a:rPr sz="1200" b="0" i="0" lang="es-MX">
                <a:solidFill>
                  <a:srgbClr val="DDD6EE"/>
                </a:solidFill>
                <a:latin typeface="Calibri"/>
              </a:rPr>
              <a:t>obras, en la pestaña del visitante</a:t>
            </a:r>
          </a:p>
        </p:txBody>
      </p:sp>
      <p:sp>
        <p:nvSpPr>
          <p:cNvPr id="11" name="Rounded Rectangle 10"/>
          <p:cNvSpPr/>
          <p:nvPr/>
        </p:nvSpPr>
        <p:spPr>
          <a:xfrm>
            <a:off x="822959" y="4681728"/>
            <a:ext cx="2651760" cy="274320"/>
          </a:xfrm>
          <a:prstGeom prst="roundRect">
            <a:avLst>
              <a:gd name="adj" fmla="val 50000"/>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0" i="0" lang="es-MX">
                <a:solidFill>
                  <a:srgbClr val="DDD6EE"/>
                </a:solidFill>
                <a:latin typeface="Calibri"/>
              </a:rPr>
              <a:t>sustenta → interfaz · auditoría Lighthouse</a:t>
            </a:r>
          </a:p>
        </p:txBody>
      </p:sp>
      <p:sp>
        <p:nvSpPr>
          <p:cNvPr id="12" name="Rounded Rectangle 11"/>
          <p:cNvSpPr/>
          <p:nvPr/>
        </p:nvSpPr>
        <p:spPr>
          <a:xfrm>
            <a:off x="3931920" y="1783080"/>
            <a:ext cx="4325112" cy="3310128"/>
          </a:xfrm>
          <a:prstGeom prst="roundRect">
            <a:avLst>
              <a:gd name="adj" fmla="val 3314"/>
            </a:avLst>
          </a:prstGeom>
          <a:solidFill>
            <a:srgbClr val="B57BFF">
              <a:alpha val="14000"/>
            </a:srgbClr>
          </a:solidFill>
          <a:ln w="9525">
            <a:solidFill>
              <a:srgbClr val="B57B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160520" y="1984248"/>
            <a:ext cx="548640" cy="548640"/>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database.png"/>
          <p:cNvPicPr>
            <a:picLocks noChangeAspect="1"/>
          </p:cNvPicPr>
          <p:nvPr/>
        </p:nvPicPr>
        <p:blipFill>
          <a:blip r:embed="rId3"/>
          <a:stretch>
            <a:fillRect/>
          </a:stretch>
        </p:blipFill>
        <p:spPr>
          <a:xfrm>
            <a:off x="4292193" y="2115921"/>
            <a:ext cx="285292" cy="285292"/>
          </a:xfrm>
          <a:prstGeom prst="rect">
            <a:avLst/>
          </a:prstGeom>
        </p:spPr>
      </p:pic>
      <p:sp>
        <p:nvSpPr>
          <p:cNvPr id="15" name="TextBox 14"/>
          <p:cNvSpPr txBox="1"/>
          <p:nvPr/>
        </p:nvSpPr>
        <p:spPr>
          <a:xfrm>
            <a:off x="4828031" y="2011680"/>
            <a:ext cx="3319272" cy="502920"/>
          </a:xfrm>
          <a:prstGeom prst="rect">
            <a:avLst/>
          </a:prstGeom>
          <a:noFill/>
        </p:spPr>
        <p:txBody>
          <a:bodyPr wrap="square" lIns="0" rIns="0" tIns="0" bIns="0" anchor="ctr">
            <a:noAutofit/>
          </a:bodyPr>
          <a:lstStyle/>
          <a:p>
            <a:pPr algn="l">
              <a:spcAft>
                <a:spcPts val="0"/>
              </a:spcAft>
            </a:pPr>
            <a:r>
              <a:rPr sz="1500" b="1" i="0" lang="es-MX">
                <a:solidFill>
                  <a:srgbClr val="FFFFFF"/>
                </a:solidFill>
                <a:latin typeface="Calibri"/>
              </a:rPr>
              <a:t>Almacén sembrado</a:t>
            </a:r>
          </a:p>
        </p:txBody>
      </p:sp>
      <p:sp>
        <p:nvSpPr>
          <p:cNvPr id="16" name="TextBox 15"/>
          <p:cNvSpPr txBox="1"/>
          <p:nvPr/>
        </p:nvSpPr>
        <p:spPr>
          <a:xfrm>
            <a:off x="4206240" y="2606040"/>
            <a:ext cx="3867912" cy="777240"/>
          </a:xfrm>
          <a:prstGeom prst="rect">
            <a:avLst/>
          </a:prstGeom>
          <a:noFill/>
        </p:spPr>
        <p:txBody>
          <a:bodyPr wrap="square" lIns="0" rIns="0" tIns="0" bIns="0" anchor="t">
            <a:noAutofit/>
          </a:bodyPr>
          <a:lstStyle/>
          <a:p>
            <a:pPr algn="l">
              <a:spcAft>
                <a:spcPts val="0"/>
              </a:spcAft>
            </a:pPr>
            <a:r>
              <a:rPr sz="5000" b="1" i="0" lang="es-MX">
                <a:solidFill>
                  <a:srgbClr val="D9C5FF"/>
                </a:solidFill>
                <a:latin typeface="Calibri"/>
              </a:rPr>
              <a:t>1,247</a:t>
            </a:r>
          </a:p>
        </p:txBody>
      </p:sp>
      <p:sp>
        <p:nvSpPr>
          <p:cNvPr id="17" name="TextBox 16"/>
          <p:cNvSpPr txBox="1"/>
          <p:nvPr/>
        </p:nvSpPr>
        <p:spPr>
          <a:xfrm>
            <a:off x="4206240" y="3383280"/>
            <a:ext cx="3867912" cy="292608"/>
          </a:xfrm>
          <a:prstGeom prst="rect">
            <a:avLst/>
          </a:prstGeom>
          <a:noFill/>
        </p:spPr>
        <p:txBody>
          <a:bodyPr wrap="square" lIns="0" rIns="0" tIns="0" bIns="0" anchor="t">
            <a:noAutofit/>
          </a:bodyPr>
          <a:lstStyle/>
          <a:p>
            <a:pPr algn="l">
              <a:spcAft>
                <a:spcPts val="0"/>
              </a:spcAft>
            </a:pPr>
            <a:r>
              <a:rPr sz="1200" b="0" i="0" lang="es-MX">
                <a:solidFill>
                  <a:srgbClr val="DDD6EE"/>
                </a:solidFill>
                <a:latin typeface="Calibri"/>
              </a:rPr>
              <a:t>obras en 55 comunidades</a:t>
            </a:r>
          </a:p>
        </p:txBody>
      </p:sp>
      <p:sp>
        <p:nvSpPr>
          <p:cNvPr id="18" name="Rounded Rectangle 17"/>
          <p:cNvSpPr/>
          <p:nvPr/>
        </p:nvSpPr>
        <p:spPr>
          <a:xfrm>
            <a:off x="4206240" y="4681728"/>
            <a:ext cx="3776472" cy="274320"/>
          </a:xfrm>
          <a:prstGeom prst="roundRect">
            <a:avLst>
              <a:gd name="adj" fmla="val 50000"/>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0" i="0" lang="es-MX">
                <a:solidFill>
                  <a:srgbClr val="DDD6EE"/>
                </a:solidFill>
                <a:latin typeface="Calibri"/>
              </a:rPr>
              <a:t>sustenta → afirmaciones estructurales · latencias</a:t>
            </a:r>
          </a:p>
        </p:txBody>
      </p:sp>
      <p:sp>
        <p:nvSpPr>
          <p:cNvPr id="19" name="Rounded Rectangle 18"/>
          <p:cNvSpPr/>
          <p:nvPr/>
        </p:nvSpPr>
        <p:spPr>
          <a:xfrm>
            <a:off x="8439912" y="1783080"/>
            <a:ext cx="3200400" cy="3310128"/>
          </a:xfrm>
          <a:prstGeom prst="roundRect">
            <a:avLst>
              <a:gd name="adj" fmla="val 3428"/>
            </a:avLst>
          </a:prstGeom>
          <a:solidFill>
            <a:srgbClr val="FFFFFF">
              <a:alpha val="7000"/>
            </a:srgbClr>
          </a:solidFill>
          <a:ln w="9525">
            <a:solidFill>
              <a:srgbClr val="D9C5F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668512" y="1984248"/>
            <a:ext cx="548640" cy="548640"/>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radar.png"/>
          <p:cNvPicPr>
            <a:picLocks noChangeAspect="1"/>
          </p:cNvPicPr>
          <p:nvPr/>
        </p:nvPicPr>
        <p:blipFill>
          <a:blip r:embed="rId4"/>
          <a:stretch>
            <a:fillRect/>
          </a:stretch>
        </p:blipFill>
        <p:spPr>
          <a:xfrm>
            <a:off x="8800185" y="2115921"/>
            <a:ext cx="285292" cy="285292"/>
          </a:xfrm>
          <a:prstGeom prst="rect">
            <a:avLst/>
          </a:prstGeom>
        </p:spPr>
      </p:pic>
      <p:sp>
        <p:nvSpPr>
          <p:cNvPr id="22" name="TextBox 21"/>
          <p:cNvSpPr txBox="1"/>
          <p:nvPr/>
        </p:nvSpPr>
        <p:spPr>
          <a:xfrm>
            <a:off x="9336024" y="2011680"/>
            <a:ext cx="2194560" cy="502920"/>
          </a:xfrm>
          <a:prstGeom prst="rect">
            <a:avLst/>
          </a:prstGeom>
          <a:noFill/>
        </p:spPr>
        <p:txBody>
          <a:bodyPr wrap="square" lIns="0" rIns="0" tIns="0" bIns="0" anchor="ctr">
            <a:noAutofit/>
          </a:bodyPr>
          <a:lstStyle/>
          <a:p>
            <a:pPr algn="l">
              <a:spcAft>
                <a:spcPts val="0"/>
              </a:spcAft>
            </a:pPr>
            <a:r>
              <a:rPr sz="1500" b="1" i="0" lang="es-MX">
                <a:solidFill>
                  <a:srgbClr val="FFFFFF"/>
                </a:solidFill>
                <a:latin typeface="Calibri"/>
              </a:rPr>
              <a:t>Conjunto de detección</a:t>
            </a:r>
          </a:p>
        </p:txBody>
      </p:sp>
      <p:sp>
        <p:nvSpPr>
          <p:cNvPr id="23" name="TextBox 22"/>
          <p:cNvSpPr txBox="1"/>
          <p:nvPr/>
        </p:nvSpPr>
        <p:spPr>
          <a:xfrm>
            <a:off x="8714232" y="2606040"/>
            <a:ext cx="2743200" cy="777240"/>
          </a:xfrm>
          <a:prstGeom prst="rect">
            <a:avLst/>
          </a:prstGeom>
          <a:noFill/>
        </p:spPr>
        <p:txBody>
          <a:bodyPr wrap="square" lIns="0" rIns="0" tIns="0" bIns="0" anchor="t">
            <a:noAutofit/>
          </a:bodyPr>
          <a:lstStyle/>
          <a:p>
            <a:pPr algn="l">
              <a:spcAft>
                <a:spcPts val="0"/>
              </a:spcAft>
            </a:pPr>
            <a:r>
              <a:rPr sz="4800" b="1" i="0" lang="es-MX">
                <a:solidFill>
                  <a:srgbClr val="D9C5FF"/>
                </a:solidFill>
                <a:latin typeface="Calibri"/>
              </a:rPr>
              <a:t>≈2,580</a:t>
            </a:r>
          </a:p>
        </p:txBody>
      </p:sp>
      <p:sp>
        <p:nvSpPr>
          <p:cNvPr id="24" name="TextBox 23"/>
          <p:cNvSpPr txBox="1"/>
          <p:nvPr/>
        </p:nvSpPr>
        <p:spPr>
          <a:xfrm>
            <a:off x="8714232" y="3383280"/>
            <a:ext cx="2743200" cy="292608"/>
          </a:xfrm>
          <a:prstGeom prst="rect">
            <a:avLst/>
          </a:prstGeom>
          <a:noFill/>
        </p:spPr>
        <p:txBody>
          <a:bodyPr wrap="square" lIns="0" rIns="0" tIns="0" bIns="0" anchor="t">
            <a:noAutofit/>
          </a:bodyPr>
          <a:lstStyle/>
          <a:p>
            <a:pPr algn="l">
              <a:spcAft>
                <a:spcPts val="0"/>
              </a:spcAft>
            </a:pPr>
            <a:r>
              <a:rPr sz="1200" b="0" i="0" lang="es-MX">
                <a:solidFill>
                  <a:srgbClr val="DDD6EE"/>
                </a:solidFill>
                <a:latin typeface="Calibri"/>
              </a:rPr>
              <a:t>registros obra–periodo por semilla</a:t>
            </a:r>
          </a:p>
        </p:txBody>
      </p:sp>
      <p:sp>
        <p:nvSpPr>
          <p:cNvPr id="25" name="Rounded Rectangle 24"/>
          <p:cNvSpPr/>
          <p:nvPr/>
        </p:nvSpPr>
        <p:spPr>
          <a:xfrm>
            <a:off x="8714232" y="4681728"/>
            <a:ext cx="2651760" cy="274320"/>
          </a:xfrm>
          <a:prstGeom prst="roundRect">
            <a:avLst>
              <a:gd name="adj" fmla="val 50000"/>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0" i="0" lang="es-MX">
                <a:solidFill>
                  <a:srgbClr val="DDD6EE"/>
                </a:solidFill>
                <a:latin typeface="Calibri"/>
              </a:rPr>
              <a:t>sustenta → sólo la tabla de detección</a:t>
            </a:r>
          </a:p>
        </p:txBody>
      </p:sp>
      <p:sp>
        <p:nvSpPr>
          <p:cNvPr id="26" name="TextBox 25"/>
          <p:cNvSpPr txBox="1"/>
          <p:nvPr/>
        </p:nvSpPr>
        <p:spPr>
          <a:xfrm>
            <a:off x="822960" y="3794760"/>
            <a:ext cx="2743200" cy="731520"/>
          </a:xfrm>
          <a:prstGeom prst="rect">
            <a:avLst/>
          </a:prstGeom>
          <a:noFill/>
        </p:spPr>
        <p:txBody>
          <a:bodyPr wrap="square" lIns="0" rIns="0" tIns="0" bIns="0" anchor="t">
            <a:noAutofit/>
          </a:bodyPr>
          <a:lstStyle/>
          <a:p>
            <a:pPr algn="l">
              <a:spcAft>
                <a:spcPts val="0"/>
              </a:spcAft>
            </a:pPr>
            <a:r>
              <a:rPr sz="1050" b="0" i="1" lang="es-MX">
                <a:solidFill>
                  <a:srgbClr val="ADA3C8"/>
                </a:solidFill>
                <a:latin typeface="Calibri"/>
              </a:rPr>
              <a:t>la única población que ve un visitante</a:t>
            </a:r>
          </a:p>
        </p:txBody>
      </p:sp>
      <p:sp>
        <p:nvSpPr>
          <p:cNvPr id="27" name="TextBox 26"/>
          <p:cNvSpPr txBox="1"/>
          <p:nvPr/>
        </p:nvSpPr>
        <p:spPr>
          <a:xfrm>
            <a:off x="4206240" y="3730752"/>
            <a:ext cx="1298448" cy="457200"/>
          </a:xfrm>
          <a:prstGeom prst="rect">
            <a:avLst/>
          </a:prstGeom>
          <a:noFill/>
        </p:spPr>
        <p:txBody>
          <a:bodyPr wrap="square" lIns="0" rIns="0" tIns="0" bIns="0" anchor="t">
            <a:noAutofit/>
          </a:bodyPr>
          <a:lstStyle/>
          <a:p>
            <a:pPr algn="l">
              <a:lnSpc>
                <a:spcPct val="90000"/>
              </a:lnSpc>
              <a:spcAft>
                <a:spcPts val="0"/>
              </a:spcAft>
            </a:pPr>
            <a:r>
              <a:rPr sz="1300" b="1" i="0" lang="es-MX">
                <a:solidFill>
                  <a:srgbClr val="FFFFFF"/>
                </a:solidFill>
                <a:latin typeface="Calibri"/>
              </a:rPr>
              <a:t>$127.4 M</a:t>
            </a:r>
          </a:p>
          <a:p>
            <a:pPr algn="l">
              <a:lnSpc>
                <a:spcPct val="90000"/>
              </a:lnSpc>
              <a:spcAft>
                <a:spcPts val="0"/>
              </a:spcAft>
            </a:pPr>
            <a:r>
              <a:rPr sz="900" b="0" i="0" lang="es-MX">
                <a:solidFill>
                  <a:srgbClr val="ADA3C8"/>
                </a:solidFill>
                <a:latin typeface="Calibri"/>
              </a:rPr>
              <a:t>presupuesto</a:t>
            </a:r>
          </a:p>
        </p:txBody>
      </p:sp>
      <p:sp>
        <p:nvSpPr>
          <p:cNvPr id="28" name="TextBox 27"/>
          <p:cNvSpPr txBox="1"/>
          <p:nvPr/>
        </p:nvSpPr>
        <p:spPr>
          <a:xfrm>
            <a:off x="5532120" y="3730752"/>
            <a:ext cx="1298448" cy="457200"/>
          </a:xfrm>
          <a:prstGeom prst="rect">
            <a:avLst/>
          </a:prstGeom>
          <a:noFill/>
        </p:spPr>
        <p:txBody>
          <a:bodyPr wrap="square" lIns="0" rIns="0" tIns="0" bIns="0" anchor="t">
            <a:noAutofit/>
          </a:bodyPr>
          <a:lstStyle/>
          <a:p>
            <a:pPr algn="l">
              <a:lnSpc>
                <a:spcPct val="90000"/>
              </a:lnSpc>
              <a:spcAft>
                <a:spcPts val="0"/>
              </a:spcAft>
            </a:pPr>
            <a:r>
              <a:rPr sz="1300" b="1" i="0" lang="es-MX">
                <a:solidFill>
                  <a:srgbClr val="FFFFFF"/>
                </a:solidFill>
                <a:latin typeface="Calibri"/>
              </a:rPr>
              <a:t>8,934</a:t>
            </a:r>
          </a:p>
          <a:p>
            <a:pPr algn="l">
              <a:lnSpc>
                <a:spcPct val="90000"/>
              </a:lnSpc>
              <a:spcAft>
                <a:spcPts val="0"/>
              </a:spcAft>
            </a:pPr>
            <a:r>
              <a:rPr sz="900" b="0" i="0" lang="es-MX">
                <a:solidFill>
                  <a:srgbClr val="ADA3C8"/>
                </a:solidFill>
                <a:latin typeface="Calibri"/>
              </a:rPr>
              <a:t>eventos de auditoría</a:t>
            </a:r>
          </a:p>
        </p:txBody>
      </p:sp>
      <p:sp>
        <p:nvSpPr>
          <p:cNvPr id="29" name="TextBox 28"/>
          <p:cNvSpPr txBox="1"/>
          <p:nvPr/>
        </p:nvSpPr>
        <p:spPr>
          <a:xfrm>
            <a:off x="6858000" y="3730752"/>
            <a:ext cx="1298448" cy="457200"/>
          </a:xfrm>
          <a:prstGeom prst="rect">
            <a:avLst/>
          </a:prstGeom>
          <a:noFill/>
        </p:spPr>
        <p:txBody>
          <a:bodyPr wrap="square" lIns="0" rIns="0" tIns="0" bIns="0" anchor="t">
            <a:noAutofit/>
          </a:bodyPr>
          <a:lstStyle/>
          <a:p>
            <a:pPr algn="l">
              <a:lnSpc>
                <a:spcPct val="90000"/>
              </a:lnSpc>
              <a:spcAft>
                <a:spcPts val="0"/>
              </a:spcAft>
            </a:pPr>
            <a:r>
              <a:rPr sz="1300" b="1" i="0" lang="es-MX">
                <a:solidFill>
                  <a:srgbClr val="FFFFFF"/>
                </a:solidFill>
                <a:latin typeface="Calibri"/>
              </a:rPr>
              <a:t>3,421</a:t>
            </a:r>
          </a:p>
          <a:p>
            <a:pPr algn="l">
              <a:lnSpc>
                <a:spcPct val="90000"/>
              </a:lnSpc>
              <a:spcAft>
                <a:spcPts val="0"/>
              </a:spcAft>
            </a:pPr>
            <a:r>
              <a:rPr sz="900" b="0" i="0" lang="es-MX">
                <a:solidFill>
                  <a:srgbClr val="ADA3C8"/>
                </a:solidFill>
                <a:latin typeface="Calibri"/>
              </a:rPr>
              <a:t>evidencias fotográficas</a:t>
            </a:r>
          </a:p>
        </p:txBody>
      </p:sp>
      <p:sp>
        <p:nvSpPr>
          <p:cNvPr id="30" name="TextBox 29"/>
          <p:cNvSpPr txBox="1"/>
          <p:nvPr/>
        </p:nvSpPr>
        <p:spPr>
          <a:xfrm>
            <a:off x="4206240" y="4187952"/>
            <a:ext cx="1298448" cy="457200"/>
          </a:xfrm>
          <a:prstGeom prst="rect">
            <a:avLst/>
          </a:prstGeom>
          <a:noFill/>
        </p:spPr>
        <p:txBody>
          <a:bodyPr wrap="square" lIns="0" rIns="0" tIns="0" bIns="0" anchor="t">
            <a:noAutofit/>
          </a:bodyPr>
          <a:lstStyle/>
          <a:p>
            <a:pPr algn="l">
              <a:lnSpc>
                <a:spcPct val="90000"/>
              </a:lnSpc>
              <a:spcAft>
                <a:spcPts val="0"/>
              </a:spcAft>
            </a:pPr>
            <a:r>
              <a:rPr sz="1300" b="1" i="0" lang="es-MX">
                <a:solidFill>
                  <a:srgbClr val="FFFFFF"/>
                </a:solidFill>
                <a:latin typeface="Calibri"/>
              </a:rPr>
              <a:t>2,156</a:t>
            </a:r>
          </a:p>
          <a:p>
            <a:pPr algn="l">
              <a:lnSpc>
                <a:spcPct val="90000"/>
              </a:lnSpc>
              <a:spcAft>
                <a:spcPts val="0"/>
              </a:spcAft>
            </a:pPr>
            <a:r>
              <a:rPr sz="900" b="0" i="0" lang="es-MX">
                <a:solidFill>
                  <a:srgbClr val="ADA3C8"/>
                </a:solidFill>
                <a:latin typeface="Calibri"/>
              </a:rPr>
              <a:t>propuestas</a:t>
            </a:r>
          </a:p>
        </p:txBody>
      </p:sp>
      <p:sp>
        <p:nvSpPr>
          <p:cNvPr id="31" name="TextBox 30"/>
          <p:cNvSpPr txBox="1"/>
          <p:nvPr/>
        </p:nvSpPr>
        <p:spPr>
          <a:xfrm>
            <a:off x="5532120" y="4187952"/>
            <a:ext cx="1298448" cy="457200"/>
          </a:xfrm>
          <a:prstGeom prst="rect">
            <a:avLst/>
          </a:prstGeom>
          <a:noFill/>
        </p:spPr>
        <p:txBody>
          <a:bodyPr wrap="square" lIns="0" rIns="0" tIns="0" bIns="0" anchor="t">
            <a:noAutofit/>
          </a:bodyPr>
          <a:lstStyle/>
          <a:p>
            <a:pPr algn="l">
              <a:lnSpc>
                <a:spcPct val="90000"/>
              </a:lnSpc>
              <a:spcAft>
                <a:spcPts val="0"/>
              </a:spcAft>
            </a:pPr>
            <a:r>
              <a:rPr sz="1300" b="1" i="0" lang="es-MX">
                <a:solidFill>
                  <a:srgbClr val="FFFFFF"/>
                </a:solidFill>
                <a:latin typeface="Calibri"/>
              </a:rPr>
              <a:t>8,723</a:t>
            </a:r>
          </a:p>
          <a:p>
            <a:pPr algn="l">
              <a:lnSpc>
                <a:spcPct val="90000"/>
              </a:lnSpc>
              <a:spcAft>
                <a:spcPts val="0"/>
              </a:spcAft>
            </a:pPr>
            <a:r>
              <a:rPr sz="900" b="0" i="0" lang="es-MX">
                <a:solidFill>
                  <a:srgbClr val="ADA3C8"/>
                </a:solidFill>
                <a:latin typeface="Calibri"/>
              </a:rPr>
              <a:t>votos</a:t>
            </a:r>
          </a:p>
        </p:txBody>
      </p:sp>
      <p:sp>
        <p:nvSpPr>
          <p:cNvPr id="32" name="TextBox 31"/>
          <p:cNvSpPr txBox="1"/>
          <p:nvPr/>
        </p:nvSpPr>
        <p:spPr>
          <a:xfrm>
            <a:off x="6858000" y="4187952"/>
            <a:ext cx="1298448" cy="457200"/>
          </a:xfrm>
          <a:prstGeom prst="rect">
            <a:avLst/>
          </a:prstGeom>
          <a:noFill/>
        </p:spPr>
        <p:txBody>
          <a:bodyPr wrap="square" lIns="0" rIns="0" tIns="0" bIns="0" anchor="t">
            <a:noAutofit/>
          </a:bodyPr>
          <a:lstStyle/>
          <a:p>
            <a:pPr algn="l">
              <a:lnSpc>
                <a:spcPct val="90000"/>
              </a:lnSpc>
              <a:spcAft>
                <a:spcPts val="0"/>
              </a:spcAft>
            </a:pPr>
            <a:r>
              <a:rPr sz="1300" b="1" i="0" lang="es-MX">
                <a:solidFill>
                  <a:srgbClr val="FFFFFF"/>
                </a:solidFill>
                <a:latin typeface="Calibri"/>
              </a:rPr>
              <a:t>29,928</a:t>
            </a:r>
          </a:p>
          <a:p>
            <a:pPr algn="l">
              <a:lnSpc>
                <a:spcPct val="90000"/>
              </a:lnSpc>
              <a:spcAft>
                <a:spcPts val="0"/>
              </a:spcAft>
            </a:pPr>
            <a:r>
              <a:rPr sz="900" b="0" i="0" lang="es-MX">
                <a:solidFill>
                  <a:srgbClr val="ADA3C8"/>
                </a:solidFill>
                <a:latin typeface="Calibri"/>
              </a:rPr>
              <a:t>filas mensuales</a:t>
            </a:r>
          </a:p>
        </p:txBody>
      </p:sp>
      <p:sp>
        <p:nvSpPr>
          <p:cNvPr id="33" name="TextBox 32"/>
          <p:cNvSpPr txBox="1"/>
          <p:nvPr/>
        </p:nvSpPr>
        <p:spPr>
          <a:xfrm>
            <a:off x="8714232" y="3749039"/>
            <a:ext cx="2743200" cy="822960"/>
          </a:xfrm>
          <a:prstGeom prst="rect">
            <a:avLst/>
          </a:prstGeom>
          <a:noFill/>
        </p:spPr>
        <p:txBody>
          <a:bodyPr wrap="square" lIns="0" rIns="0" tIns="0" bIns="0" anchor="t">
            <a:noAutofit/>
          </a:bodyPr>
          <a:lstStyle/>
          <a:p>
            <a:pPr algn="l">
              <a:spcAft>
                <a:spcPts val="200"/>
              </a:spcAft>
            </a:pPr>
            <a:r>
              <a:rPr sz="1050" b="1" i="0" lang="es-MX">
                <a:solidFill>
                  <a:srgbClr val="FFFFFF"/>
                </a:solidFill>
                <a:latin typeface="Calibri"/>
              </a:rPr>
              <a:t>10 semillas × 4 prevalencias</a:t>
            </a:r>
          </a:p>
          <a:p>
            <a:pPr algn="l">
              <a:spcAft>
                <a:spcPts val="0"/>
              </a:spcAft>
            </a:pPr>
            <a:r>
              <a:rPr sz="1050" b="0" i="0" lang="es-MX">
                <a:solidFill>
                  <a:srgbClr val="ADA3C8"/>
                </a:solidFill>
                <a:latin typeface="Calibri"/>
              </a:rPr>
              <a:t>5 %, 10 %, 15 %, 20 % de anomalías latentes</a:t>
            </a:r>
          </a:p>
        </p:txBody>
      </p:sp>
      <p:sp>
        <p:nvSpPr>
          <p:cNvPr id="34" name="Rounded Rectangle 33"/>
          <p:cNvSpPr/>
          <p:nvPr/>
        </p:nvSpPr>
        <p:spPr>
          <a:xfrm>
            <a:off x="548640" y="5285232"/>
            <a:ext cx="11091672" cy="640080"/>
          </a:xfrm>
          <a:prstGeom prst="roundRect">
            <a:avLst>
              <a:gd name="adj" fmla="val 17142"/>
            </a:avLst>
          </a:prstGeom>
          <a:solidFill>
            <a:srgbClr val="FBBF24">
              <a:alpha val="10000"/>
            </a:srgbClr>
          </a:solidFill>
          <a:ln w="9525">
            <a:solidFill>
              <a:srgbClr val="FBBF24">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04088" y="5394959"/>
            <a:ext cx="420624" cy="420624"/>
          </a:xfrm>
          <a:prstGeom prst="ellipse">
            <a:avLst/>
          </a:prstGeom>
          <a:solidFill>
            <a:srgbClr val="FBBF24">
              <a:alpha val="18000"/>
            </a:srgbClr>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alert.png"/>
          <p:cNvPicPr>
            <a:picLocks noChangeAspect="1"/>
          </p:cNvPicPr>
          <p:nvPr/>
        </p:nvPicPr>
        <p:blipFill>
          <a:blip r:embed="rId5"/>
          <a:stretch>
            <a:fillRect/>
          </a:stretch>
        </p:blipFill>
        <p:spPr>
          <a:xfrm>
            <a:off x="805037" y="5495909"/>
            <a:ext cx="218724" cy="218724"/>
          </a:xfrm>
          <a:prstGeom prst="rect">
            <a:avLst/>
          </a:prstGeom>
        </p:spPr>
      </p:pic>
      <p:sp>
        <p:nvSpPr>
          <p:cNvPr id="37" name="TextBox 36"/>
          <p:cNvSpPr txBox="1"/>
          <p:nvPr/>
        </p:nvSpPr>
        <p:spPr>
          <a:xfrm>
            <a:off x="1280160" y="5303520"/>
            <a:ext cx="10241280" cy="603504"/>
          </a:xfrm>
          <a:prstGeom prst="rect">
            <a:avLst/>
          </a:prstGeom>
          <a:noFill/>
        </p:spPr>
        <p:txBody>
          <a:bodyPr wrap="square" lIns="0" rIns="0" tIns="0" bIns="0" anchor="ctr">
            <a:noAutofit/>
          </a:bodyPr>
          <a:lstStyle/>
          <a:p>
            <a:pPr algn="l">
              <a:spcAft>
                <a:spcPts val="0"/>
              </a:spcAft>
            </a:pPr>
            <a:r>
              <a:rPr sz="1300" b="1" i="0" lang="es-MX">
                <a:solidFill>
                  <a:srgbClr val="FBBF24"/>
                </a:solidFill>
                <a:latin typeface="Calibri"/>
              </a:rPr>
              <a:t>Lo medido y lo proyectado van por separado. </a:t>
            </a:r>
            <a:r>
              <a:rPr sz="1300" b="0" i="0" lang="es-MX">
                <a:solidFill>
                  <a:srgbClr val="FFFFFF"/>
                </a:solidFill>
                <a:latin typeface="Calibri"/>
              </a:rPr>
              <a:t>Ningún número de esta charla es una medición sobre datos municipales reales.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s-MX">
                <a:solidFill>
                  <a:srgbClr val="FFFFFF"/>
                </a:solidFill>
                <a:latin typeface="Calibri Light"/>
              </a:rPr>
              <a:t>Detección: la regla que corre el operador</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s-MX" spc="250">
                <a:solidFill>
                  <a:srgbClr val="B57BFF"/>
                </a:solidFill>
                <a:latin typeface="Calibri"/>
              </a:rPr>
              <a:t>MÓDULO DE DETECCIÓN</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s-MX">
                <a:solidFill>
                  <a:srgbClr val="8E84AB"/>
                </a:solidFill>
                <a:latin typeface="Calibri"/>
              </a:rPr>
              <a:t>13 / 19</a:t>
            </a:r>
          </a:p>
        </p:txBody>
      </p:sp>
      <p:pic>
        <p:nvPicPr>
          <p:cNvPr id="100" name="Picture 100" descr="Embedded illustration or system screenshot"/>
          <p:cNvPicPr>
            <a:picLocks noChangeAspect="1"/>
          </p:cNvPicPr>
          <p:nvPr/>
        </p:nvPicPr>
        <p:blipFill>
          <a:blip r:embed="rId6"/>
          <a:srcRect l="0" r="66667" t="0" b="0"/>
          <a:stretch>
            <a:fillRect/>
          </a:stretch>
        </p:blipFill>
        <p:spPr>
          <a:xfrm>
            <a:off x="1214438" y="1704975"/>
            <a:ext cx="2238375" cy="2238375"/>
          </a:xfrm>
          <a:prstGeom prst="rect">
            <a:avLst/>
          </a:prstGeom>
        </p:spPr>
      </p:pic>
      <p:pic>
        <p:nvPicPr>
          <p:cNvPr id="101" name="Picture 101" descr="Embedded illustration or system screenshot"/>
          <p:cNvPicPr>
            <a:picLocks noChangeAspect="1"/>
          </p:cNvPicPr>
          <p:nvPr/>
        </p:nvPicPr>
        <p:blipFill>
          <a:blip r:embed="rId7"/>
          <a:srcRect l="33333" r="33333" t="0" b="0"/>
          <a:stretch>
            <a:fillRect/>
          </a:stretch>
        </p:blipFill>
        <p:spPr>
          <a:xfrm>
            <a:off x="4967288" y="1704975"/>
            <a:ext cx="2238375" cy="2238375"/>
          </a:xfrm>
          <a:prstGeom prst="rect">
            <a:avLst/>
          </a:prstGeom>
        </p:spPr>
      </p:pic>
      <p:pic>
        <p:nvPicPr>
          <p:cNvPr id="102" name="Picture 102" descr="Embedded illustration or system screenshot"/>
          <p:cNvPicPr>
            <a:picLocks noChangeAspect="1"/>
          </p:cNvPicPr>
          <p:nvPr/>
        </p:nvPicPr>
        <p:blipFill>
          <a:blip r:embed="rId8"/>
          <a:srcRect l="66667" r="0" t="0" b="0"/>
          <a:stretch>
            <a:fillRect/>
          </a:stretch>
        </p:blipFill>
        <p:spPr>
          <a:xfrm>
            <a:off x="8720138" y="1704975"/>
            <a:ext cx="2238375" cy="2238375"/>
          </a:xfrm>
          <a:prstGeom prst="rect">
            <a:avLst/>
          </a:prstGeom>
        </p:spPr>
      </p:pic>
      <p:sp>
        <p:nvSpPr>
          <p:cNvPr id="103" name="Visual C1  Costo atípico">
            <a:extLst>
              <a:ext uri="{FF2B5EF4-FFF2-40B4-BE49-F238E27FC236}">
                <a16:creationId xmlns:a16="http://schemas.microsoft.com/office/drawing/2014/main" id="{79A96CA6-A16D-4497-9009-FBDE1887EAD0}"/>
              </a:ext>
            </a:extLst>
          </p:cNvPr>
          <p:cNvSpPr>
            <a:spLocks noGrp="1"/>
          </p:cNvSpPr>
          <p:nvPr/>
        </p:nvSpPr>
        <p:spPr>
          <a:xfrm>
            <a:off x="666750" y="4048125"/>
            <a:ext cx="3429000" cy="342900"/>
          </a:xfrm>
          <a:prstGeom prst="rect">
            <a:avLst/>
          </a:prstGeom>
          <a:noFill/>
          <a:ln w="0">
            <a:noFill/>
          </a:ln>
        </p:spPr>
        <p:txBody>
          <a:bodyPr anchor="t">
            <a:noAutofit/>
          </a:bodyPr>
          <a:lstStyle/>
          <a:p>
            <a:pPr algn="l">
              <a:defRPr sz="1875" b="1">
                <a:solidFill>
                  <a:srgbClr val="BD8CFF"/>
                </a:solidFill>
                <a:latin typeface="Calibri"/>
                <a:ea typeface="Calibri"/>
                <a:cs typeface="Calibri"/>
              </a:defRPr>
            </a:pPr>
            <a:r>
              <a:rPr sz="1875" b="1">
                <a:solidFill>
                  <a:srgbClr val="BD8CFF"/>
                </a:solidFill>
                <a:latin typeface="Calibri"/>
                <a:ea typeface="Calibri"/>
                <a:cs typeface="Calibri"/>
              </a:rPr>
              <a:t>C1  Costo atípico</a:t>
            </a:r>
          </a:p>
        </p:txBody>
      </p:sp>
      <p:sp>
        <p:nvSpPr>
          <p:cNvPr id="104" name="Visual |bᵢ − μᵦ| / σᵦ &gt; 3">
            <a:extLst>
              <a:ext uri="{FF2B5EF4-FFF2-40B4-BE49-F238E27FC236}">
                <a16:creationId xmlns:a16="http://schemas.microsoft.com/office/drawing/2014/main" id="{FE6F3013-2287-43EA-809C-7972F0C12E0D}"/>
              </a:ext>
            </a:extLst>
          </p:cNvPr>
          <p:cNvSpPr>
            <a:spLocks noGrp="1"/>
          </p:cNvSpPr>
          <p:nvPr/>
        </p:nvSpPr>
        <p:spPr>
          <a:xfrm>
            <a:off x="666750" y="4448175"/>
            <a:ext cx="3429000" cy="571500"/>
          </a:xfrm>
          <a:prstGeom prst="rect">
            <a:avLst/>
          </a:prstGeom>
          <a:noFill/>
          <a:ln w="0">
            <a:noFill/>
          </a:ln>
        </p:spPr>
        <p:txBody>
          <a:bodyPr anchor="t">
            <a:noAutofit/>
          </a:bodyPr>
          <a:lstStyle/>
          <a:p>
            <a:pPr algn="l">
              <a:defRPr sz="1875" b="1">
                <a:solidFill>
                  <a:srgbClr val="F7F4FF"/>
                </a:solidFill>
                <a:latin typeface="Calibri"/>
                <a:ea typeface="Calibri"/>
                <a:cs typeface="Calibri"/>
              </a:defRPr>
            </a:pPr>
            <a:r>
              <a:rPr sz="1875" b="1">
                <a:solidFill>
                  <a:srgbClr val="F7F4FF"/>
                </a:solidFill>
                <a:latin typeface="Calibri"/>
                <a:ea typeface="Calibri"/>
                <a:cs typeface="Calibri"/>
              </a:rPr>
              <a:t>|b − μ| / σ &gt; 3</a:t>
            </a:r>
          </a:p>
        </p:txBody>
      </p:sp>
      <p:sp>
        <p:nvSpPr>
          <p:cNvPr id="105" name="Visual Monto ejercido frente a l">
            <a:extLst>
              <a:ext uri="{FF2B5EF4-FFF2-40B4-BE49-F238E27FC236}">
                <a16:creationId xmlns:a16="http://schemas.microsoft.com/office/drawing/2014/main" id="{B9C9DA29-B85C-43E9-A455-EC2DE2E33674}"/>
              </a:ext>
            </a:extLst>
          </p:cNvPr>
          <p:cNvSpPr>
            <a:spLocks noGrp="1"/>
          </p:cNvSpPr>
          <p:nvPr/>
        </p:nvSpPr>
        <p:spPr>
          <a:xfrm>
            <a:off x="666750" y="5124450"/>
            <a:ext cx="3333750" cy="476250"/>
          </a:xfrm>
          <a:prstGeom prst="rect">
            <a:avLst/>
          </a:prstGeom>
          <a:noFill/>
          <a:ln w="0">
            <a:noFill/>
          </a:ln>
        </p:spPr>
        <p:txBody>
          <a:bodyPr anchor="t">
            <a:noAutofit/>
          </a:bodyPr>
          <a:lstStyle/>
          <a:p>
            <a:pPr algn="l">
              <a:defRPr sz="1425" b="0">
                <a:solidFill>
                  <a:srgbClr val="CEC4DF"/>
                </a:solidFill>
                <a:latin typeface="Calibri"/>
                <a:ea typeface="Calibri"/>
                <a:cs typeface="Calibri"/>
              </a:defRPr>
            </a:pPr>
            <a:r>
              <a:rPr sz="1425" b="0">
                <a:solidFill>
                  <a:srgbClr val="CEC4DF"/>
                </a:solidFill>
                <a:latin typeface="Calibri"/>
                <a:ea typeface="Calibri"/>
                <a:cs typeface="Calibri"/>
              </a:rPr>
              <a:t>Monto ejercido frente a la media del periodo</a:t>
            </a:r>
          </a:p>
        </p:txBody>
      </p:sp>
      <p:sp>
        <p:nvSpPr>
          <p:cNvPr id="106" name="Visual C2  Retraso extremo">
            <a:extLst>
              <a:ext uri="{FF2B5EF4-FFF2-40B4-BE49-F238E27FC236}">
                <a16:creationId xmlns:a16="http://schemas.microsoft.com/office/drawing/2014/main" id="{A0B40BC5-DD33-440C-B2ED-EF1E4C393724}"/>
              </a:ext>
            </a:extLst>
          </p:cNvPr>
          <p:cNvSpPr>
            <a:spLocks noGrp="1"/>
          </p:cNvSpPr>
          <p:nvPr/>
        </p:nvSpPr>
        <p:spPr>
          <a:xfrm>
            <a:off x="4419600" y="4048125"/>
            <a:ext cx="3429000" cy="342900"/>
          </a:xfrm>
          <a:prstGeom prst="rect">
            <a:avLst/>
          </a:prstGeom>
          <a:noFill/>
          <a:ln w="0">
            <a:noFill/>
          </a:ln>
        </p:spPr>
        <p:txBody>
          <a:bodyPr anchor="t">
            <a:noAutofit/>
          </a:bodyPr>
          <a:lstStyle/>
          <a:p>
            <a:pPr algn="l">
              <a:defRPr sz="1875" b="1">
                <a:solidFill>
                  <a:srgbClr val="BD8CFF"/>
                </a:solidFill>
                <a:latin typeface="Calibri"/>
                <a:ea typeface="Calibri"/>
                <a:cs typeface="Calibri"/>
              </a:defRPr>
            </a:pPr>
            <a:r>
              <a:rPr sz="1875" b="1">
                <a:solidFill>
                  <a:srgbClr val="BD8CFF"/>
                </a:solidFill>
                <a:latin typeface="Calibri"/>
                <a:ea typeface="Calibri"/>
                <a:cs typeface="Calibri"/>
              </a:rPr>
              <a:t>C2  Retraso extremo</a:t>
            </a:r>
          </a:p>
        </p:txBody>
      </p:sp>
      <p:sp>
        <p:nvSpPr>
          <p:cNvPr id="107" name="Visual dᵢ &gt; 120 días">
            <a:extLst>
              <a:ext uri="{FF2B5EF4-FFF2-40B4-BE49-F238E27FC236}">
                <a16:creationId xmlns:a16="http://schemas.microsoft.com/office/drawing/2014/main" id="{45945CE7-18C7-4DAB-94B5-41957668AEDF}"/>
              </a:ext>
            </a:extLst>
          </p:cNvPr>
          <p:cNvSpPr>
            <a:spLocks noGrp="1"/>
          </p:cNvSpPr>
          <p:nvPr/>
        </p:nvSpPr>
        <p:spPr>
          <a:xfrm>
            <a:off x="4419600" y="4448175"/>
            <a:ext cx="3429000" cy="571500"/>
          </a:xfrm>
          <a:prstGeom prst="rect">
            <a:avLst/>
          </a:prstGeom>
          <a:noFill/>
          <a:ln w="0">
            <a:noFill/>
          </a:ln>
        </p:spPr>
        <p:txBody>
          <a:bodyPr anchor="t">
            <a:noAutofit/>
          </a:bodyPr>
          <a:lstStyle/>
          <a:p>
            <a:pPr algn="l">
              <a:defRPr sz="1875" b="1">
                <a:solidFill>
                  <a:srgbClr val="F7F4FF"/>
                </a:solidFill>
                <a:latin typeface="Calibri"/>
                <a:ea typeface="Calibri"/>
                <a:cs typeface="Calibri"/>
              </a:defRPr>
            </a:pPr>
            <a:r>
              <a:rPr sz="1875" b="1">
                <a:solidFill>
                  <a:srgbClr val="F7F4FF"/>
                </a:solidFill>
                <a:latin typeface="Calibri"/>
                <a:ea typeface="Calibri"/>
                <a:cs typeface="Calibri"/>
              </a:rPr>
              <a:t>dᵢ &gt; 120 días</a:t>
            </a:r>
          </a:p>
        </p:txBody>
      </p:sp>
      <p:sp>
        <p:nvSpPr>
          <p:cNvPr id="108" name="Visual Desfase registrado respec">
            <a:extLst>
              <a:ext uri="{FF2B5EF4-FFF2-40B4-BE49-F238E27FC236}">
                <a16:creationId xmlns:a16="http://schemas.microsoft.com/office/drawing/2014/main" id="{31CC08DE-6FA4-48D8-B8B0-130BF69E34F9}"/>
              </a:ext>
            </a:extLst>
          </p:cNvPr>
          <p:cNvSpPr>
            <a:spLocks noGrp="1"/>
          </p:cNvSpPr>
          <p:nvPr/>
        </p:nvSpPr>
        <p:spPr>
          <a:xfrm>
            <a:off x="4419600" y="5124450"/>
            <a:ext cx="3333750" cy="476250"/>
          </a:xfrm>
          <a:prstGeom prst="rect">
            <a:avLst/>
          </a:prstGeom>
          <a:noFill/>
          <a:ln w="0">
            <a:noFill/>
          </a:ln>
        </p:spPr>
        <p:txBody>
          <a:bodyPr anchor="t">
            <a:noAutofit/>
          </a:bodyPr>
          <a:lstStyle/>
          <a:p>
            <a:pPr algn="l">
              <a:defRPr sz="1425" b="0">
                <a:solidFill>
                  <a:srgbClr val="CEC4DF"/>
                </a:solidFill>
                <a:latin typeface="Calibri"/>
                <a:ea typeface="Calibri"/>
                <a:cs typeface="Calibri"/>
              </a:defRPr>
            </a:pPr>
            <a:r>
              <a:rPr sz="1425" b="0">
                <a:solidFill>
                  <a:srgbClr val="CEC4DF"/>
                </a:solidFill>
                <a:latin typeface="Calibri"/>
                <a:ea typeface="Calibri"/>
                <a:cs typeface="Calibri"/>
              </a:rPr>
              <a:t>Desfase registrado respecto al calendario</a:t>
            </a:r>
          </a:p>
        </p:txBody>
      </p:sp>
      <p:sp>
        <p:nvSpPr>
          <p:cNvPr id="109" name="Visual C3  Avance inconsistente">
            <a:extLst>
              <a:ext uri="{FF2B5EF4-FFF2-40B4-BE49-F238E27FC236}">
                <a16:creationId xmlns:a16="http://schemas.microsoft.com/office/drawing/2014/main" id="{07DE67F9-AF02-4D44-BC16-19A78CD3FBAE}"/>
              </a:ext>
            </a:extLst>
          </p:cNvPr>
          <p:cNvSpPr>
            <a:spLocks noGrp="1"/>
          </p:cNvSpPr>
          <p:nvPr/>
        </p:nvSpPr>
        <p:spPr>
          <a:xfrm>
            <a:off x="8172450" y="4048125"/>
            <a:ext cx="3429000" cy="342900"/>
          </a:xfrm>
          <a:prstGeom prst="rect">
            <a:avLst/>
          </a:prstGeom>
          <a:noFill/>
          <a:ln w="0">
            <a:noFill/>
          </a:ln>
        </p:spPr>
        <p:txBody>
          <a:bodyPr anchor="t">
            <a:noAutofit/>
          </a:bodyPr>
          <a:lstStyle/>
          <a:p>
            <a:pPr algn="l">
              <a:defRPr sz="1875" b="1">
                <a:solidFill>
                  <a:srgbClr val="BD8CFF"/>
                </a:solidFill>
                <a:latin typeface="Calibri"/>
                <a:ea typeface="Calibri"/>
                <a:cs typeface="Calibri"/>
              </a:defRPr>
            </a:pPr>
            <a:r>
              <a:rPr sz="1875" b="1">
                <a:solidFill>
                  <a:srgbClr val="BD8CFF"/>
                </a:solidFill>
                <a:latin typeface="Calibri"/>
                <a:ea typeface="Calibri"/>
                <a:cs typeface="Calibri"/>
              </a:rPr>
              <a:t>C3  Avance inconsistente</a:t>
            </a:r>
          </a:p>
        </p:txBody>
      </p:sp>
      <p:sp>
        <p:nvSpPr>
          <p:cNvPr id="110" name="Visual Físico &lt; 30 %&#10;Financiero ">
            <a:extLst>
              <a:ext uri="{FF2B5EF4-FFF2-40B4-BE49-F238E27FC236}">
                <a16:creationId xmlns:a16="http://schemas.microsoft.com/office/drawing/2014/main" id="{F17509A1-6398-41B1-A546-68E195DBD257}"/>
              </a:ext>
            </a:extLst>
          </p:cNvPr>
          <p:cNvSpPr>
            <a:spLocks noGrp="1"/>
          </p:cNvSpPr>
          <p:nvPr/>
        </p:nvSpPr>
        <p:spPr>
          <a:xfrm>
            <a:off x="8172450" y="4448175"/>
            <a:ext cx="3429000" cy="571500"/>
          </a:xfrm>
          <a:prstGeom prst="rect">
            <a:avLst/>
          </a:prstGeom>
          <a:noFill/>
          <a:ln w="0">
            <a:noFill/>
          </a:ln>
        </p:spPr>
        <p:txBody>
          <a:bodyPr anchor="t">
            <a:noAutofit/>
          </a:bodyPr>
          <a:lstStyle/>
          <a:p>
            <a:pPr algn="l">
              <a:defRPr sz="1875" b="1">
                <a:solidFill>
                  <a:srgbClr val="F7F4FF"/>
                </a:solidFill>
                <a:latin typeface="Calibri"/>
                <a:ea typeface="Calibri"/>
                <a:cs typeface="Calibri"/>
              </a:defRPr>
            </a:pPr>
            <a:r>
              <a:rPr sz="1875" b="1">
                <a:solidFill>
                  <a:srgbClr val="F7F4FF"/>
                </a:solidFill>
                <a:latin typeface="Calibri"/>
                <a:ea typeface="Calibri"/>
                <a:cs typeface="Calibri"/>
              </a:rPr>
              <a:t>Físico &lt; 30 %</a:t>
            </a:r>
          </a:p>
          <a:p>
            <a:pPr algn="l">
              <a:defRPr sz="1875" b="1">
                <a:solidFill>
                  <a:srgbClr val="F7F4FF"/>
                </a:solidFill>
                <a:latin typeface="Calibri"/>
                <a:ea typeface="Calibri"/>
                <a:cs typeface="Calibri"/>
              </a:defRPr>
            </a:pPr>
            <a:r>
              <a:rPr sz="1875" b="1">
                <a:solidFill>
                  <a:srgbClr val="F7F4FF"/>
                </a:solidFill>
                <a:latin typeface="Calibri"/>
                <a:ea typeface="Calibri"/>
                <a:cs typeface="Calibri"/>
              </a:rPr>
              <a:t>Financiero &gt; 80 %</a:t>
            </a:r>
          </a:p>
        </p:txBody>
      </p:sp>
      <p:sp>
        <p:nvSpPr>
          <p:cNvPr id="111" name="Visual Poco avance físico con un">
            <a:extLst>
              <a:ext uri="{FF2B5EF4-FFF2-40B4-BE49-F238E27FC236}">
                <a16:creationId xmlns:a16="http://schemas.microsoft.com/office/drawing/2014/main" id="{CE707291-474E-4982-90C8-CFB837DA7EA6}"/>
              </a:ext>
            </a:extLst>
          </p:cNvPr>
          <p:cNvSpPr>
            <a:spLocks noGrp="1"/>
          </p:cNvSpPr>
          <p:nvPr/>
        </p:nvSpPr>
        <p:spPr>
          <a:xfrm>
            <a:off x="8172450" y="5124450"/>
            <a:ext cx="3333750" cy="476250"/>
          </a:xfrm>
          <a:prstGeom prst="rect">
            <a:avLst/>
          </a:prstGeom>
          <a:noFill/>
          <a:ln w="0">
            <a:noFill/>
          </a:ln>
        </p:spPr>
        <p:txBody>
          <a:bodyPr anchor="t">
            <a:noAutofit/>
          </a:bodyPr>
          <a:lstStyle/>
          <a:p>
            <a:pPr algn="l">
              <a:defRPr sz="1425" b="0">
                <a:solidFill>
                  <a:srgbClr val="CEC4DF"/>
                </a:solidFill>
                <a:latin typeface="Calibri"/>
                <a:ea typeface="Calibri"/>
                <a:cs typeface="Calibri"/>
              </a:defRPr>
            </a:pPr>
            <a:r>
              <a:rPr sz="1425" b="0">
                <a:solidFill>
                  <a:srgbClr val="CEC4DF"/>
                </a:solidFill>
                <a:latin typeface="Calibri"/>
                <a:ea typeface="Calibri"/>
                <a:cs typeface="Calibri"/>
              </a:rPr>
              <a:t>Poco avance físico con un pago elevado</a:t>
            </a:r>
          </a:p>
        </p:txBody>
      </p:sp>
      <p:sp>
        <p:nvSpPr>
          <p:cNvPr id="112" name="Visual Criterios C1–C3 sobre cad">
            <a:extLst>
              <a:ext uri="{FF2B5EF4-FFF2-40B4-BE49-F238E27FC236}">
                <a16:creationId xmlns:a16="http://schemas.microsoft.com/office/drawing/2014/main" id="{ADB67206-D47D-44AF-98A5-18C10594F9F0}"/>
              </a:ext>
            </a:extLst>
          </p:cNvPr>
          <p:cNvSpPr>
            <a:spLocks noGrp="1"/>
          </p:cNvSpPr>
          <p:nvPr/>
        </p:nvSpPr>
        <p:spPr>
          <a:xfrm>
            <a:off x="552450" y="5695950"/>
            <a:ext cx="11087100" cy="285750"/>
          </a:xfrm>
          <a:prstGeom prst="rect">
            <a:avLst/>
          </a:prstGeom>
          <a:noFill/>
          <a:ln w="0">
            <a:noFill/>
          </a:ln>
        </p:spPr>
        <p:txBody>
          <a:bodyPr anchor="t">
            <a:noAutofit/>
          </a:bodyPr>
          <a:lstStyle/>
          <a:p>
            <a:pPr algn="l">
              <a:defRPr sz="1500" b="0">
                <a:solidFill>
                  <a:srgbClr val="3ED4BA"/>
                </a:solidFill>
                <a:latin typeface="Calibri"/>
                <a:ea typeface="Calibri"/>
                <a:cs typeface="Calibri"/>
              </a:defRPr>
            </a:pPr>
            <a:r>
              <a:rPr sz="1500" b="0">
                <a:solidFill>
                  <a:srgbClr val="3ED4BA"/>
                </a:solidFill>
                <a:latin typeface="Calibri"/>
                <a:ea typeface="Calibri"/>
                <a:cs typeface="Calibri"/>
              </a:rPr>
              <a:t>Criterios C1–C3 sobre cada registro obra–mes. Vista SQL y API de solo lectura.</a:t>
            </a:r>
          </a:p>
        </p:txBody>
      </p:sp>
      <p:sp>
        <p:nvSpPr>
          <p:cNvPr id="113" name="Visual Ilustraciones conceptuale">
            <a:extLst>
              <a:ext uri="{FF2B5EF4-FFF2-40B4-BE49-F238E27FC236}">
                <a16:creationId xmlns:a16="http://schemas.microsoft.com/office/drawing/2014/main" id="{4613270C-E9C2-4AAE-8E5B-90FDC7CEDD59}"/>
              </a:ext>
            </a:extLst>
          </p:cNvPr>
          <p:cNvSpPr>
            <a:spLocks noGrp="1"/>
          </p:cNvSpPr>
          <p:nvPr/>
        </p:nvSpPr>
        <p:spPr>
          <a:xfrm>
            <a:off x="552450" y="6019800"/>
            <a:ext cx="11087100" cy="152400"/>
          </a:xfrm>
          <a:prstGeom prst="rect">
            <a:avLst/>
          </a:prstGeom>
          <a:noFill/>
          <a:ln w="0">
            <a:noFill/>
          </a:ln>
        </p:spPr>
        <p:txBody>
          <a:bodyPr anchor="t">
            <a:noAutofit/>
          </a:bodyPr>
          <a:lstStyle/>
          <a:p>
            <a:pPr algn="l">
              <a:defRPr sz="825" b="0">
                <a:solidFill>
                  <a:srgbClr val="CEC4DF"/>
                </a:solidFill>
                <a:latin typeface="Calibri"/>
                <a:ea typeface="Calibri"/>
                <a:cs typeface="Calibri"/>
              </a:defRPr>
            </a:pPr>
            <a:r>
              <a:rPr sz="825" b="0">
                <a:solidFill>
                  <a:srgbClr val="CEC4DF"/>
                </a:solidFill>
                <a:latin typeface="Calibri"/>
                <a:ea typeface="Calibri"/>
                <a:cs typeface="Calibri"/>
              </a:rPr>
              <a:t>Ilustraciones conceptuales generadas con IA. Fórmula del puntaje en las notas.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s-MX">
                <a:solidFill>
                  <a:srgbClr val="FFFFFF"/>
                </a:solidFill>
                <a:latin typeface="Calibri Light"/>
              </a:rPr>
              <a:t>Resultados frente a causas latentes</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s-MX" spc="250">
                <a:solidFill>
                  <a:srgbClr val="B57BFF"/>
                </a:solidFill>
                <a:latin typeface="Calibri"/>
              </a:rPr>
              <a:t>EVALUACIÓN</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s-MX">
                <a:solidFill>
                  <a:srgbClr val="8E84AB"/>
                </a:solidFill>
                <a:latin typeface="Calibri"/>
              </a:rPr>
              <a:t>14 / 19</a:t>
            </a:r>
          </a:p>
        </p:txBody>
      </p:sp>
      <p:sp>
        <p:nvSpPr>
          <p:cNvPr id="5" name="Rounded Rectangle 4"/>
          <p:cNvSpPr/>
          <p:nvPr/>
        </p:nvSpPr>
        <p:spPr>
          <a:xfrm>
            <a:off x="548640" y="1783080"/>
            <a:ext cx="2697480" cy="420624"/>
          </a:xfrm>
          <a:prstGeom prst="roundRect">
            <a:avLst>
              <a:gd name="adj" fmla="val 50000"/>
            </a:avLst>
          </a:prstGeom>
          <a:solidFill>
            <a:srgbClr val="FFFF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0" i="0" lang="es-MX">
                <a:solidFill>
                  <a:srgbClr val="DDD6EE"/>
                </a:solidFill>
                <a:latin typeface="Calibri"/>
              </a:rPr>
              <a:t>5 causas latentes que se traslapan con lo normal</a:t>
            </a:r>
          </a:p>
        </p:txBody>
      </p:sp>
      <p:sp>
        <p:nvSpPr>
          <p:cNvPr id="6" name="Rounded Rectangle 5"/>
          <p:cNvSpPr/>
          <p:nvPr/>
        </p:nvSpPr>
        <p:spPr>
          <a:xfrm>
            <a:off x="3346704" y="1783080"/>
            <a:ext cx="2697480" cy="420624"/>
          </a:xfrm>
          <a:prstGeom prst="roundRect">
            <a:avLst>
              <a:gd name="adj" fmla="val 50000"/>
            </a:avLst>
          </a:prstGeom>
          <a:solidFill>
            <a:srgbClr val="FFFF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0" i="0" lang="es-MX">
                <a:solidFill>
                  <a:srgbClr val="DDD6EE"/>
                </a:solidFill>
                <a:latin typeface="Calibri"/>
              </a:rPr>
              <a:t>10 semillas × 4 prevalencias (5–20 %)</a:t>
            </a:r>
          </a:p>
        </p:txBody>
      </p:sp>
      <p:sp>
        <p:nvSpPr>
          <p:cNvPr id="7" name="Rounded Rectangle 6"/>
          <p:cNvSpPr/>
          <p:nvPr/>
        </p:nvSpPr>
        <p:spPr>
          <a:xfrm>
            <a:off x="6144768" y="1783080"/>
            <a:ext cx="2697480" cy="420624"/>
          </a:xfrm>
          <a:prstGeom prst="roundRect">
            <a:avLst>
              <a:gd name="adj" fmla="val 50000"/>
            </a:avLst>
          </a:prstGeom>
          <a:solidFill>
            <a:srgbClr val="FFFF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0" i="0" lang="es-MX">
                <a:solidFill>
                  <a:srgbClr val="DDD6EE"/>
                </a:solidFill>
                <a:latin typeface="Calibri"/>
              </a:rPr>
              <a:t>≈2,580 registros / semilla · 17.2 % anómalos</a:t>
            </a:r>
          </a:p>
        </p:txBody>
      </p:sp>
      <p:sp>
        <p:nvSpPr>
          <p:cNvPr id="8" name="Rounded Rectangle 7"/>
          <p:cNvSpPr/>
          <p:nvPr/>
        </p:nvSpPr>
        <p:spPr>
          <a:xfrm>
            <a:off x="8942832" y="1783080"/>
            <a:ext cx="2697480" cy="420624"/>
          </a:xfrm>
          <a:prstGeom prst="roundRect">
            <a:avLst>
              <a:gd name="adj" fmla="val 50000"/>
            </a:avLst>
          </a:prstGeom>
          <a:solidFill>
            <a:srgbClr val="FFFF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0" i="0" lang="es-MX">
                <a:solidFill>
                  <a:srgbClr val="DDD6EE"/>
                </a:solidFill>
                <a:latin typeface="Calibri"/>
              </a:rPr>
              <a:t>Base: Isolation Forest (normal + igualado)</a:t>
            </a:r>
          </a:p>
        </p:txBody>
      </p:sp>
      <p:graphicFrame>
        <p:nvGraphicFramePr>
          <p:cNvPr id="9" name="Chart 8"/>
          <p:cNvGraphicFramePr>
            <a:graphicFrameLocks noGrp="1"/>
          </p:cNvGraphicFramePr>
          <p:nvPr/>
        </p:nvGraphicFramePr>
        <p:xfrm>
          <a:off x="457200" y="2377440"/>
          <a:ext cx="6903720" cy="3611880"/>
        </p:xfrm>
        <a:graphic>
          <a:graphicData uri="http://schemas.openxmlformats.org/drawingml/2006/chart">
            <c:chart xmlns:c="http://schemas.openxmlformats.org/drawingml/2006/chart" r:id="rId2"/>
          </a:graphicData>
        </a:graphic>
      </p:graphicFrame>
      <p:sp>
        <p:nvSpPr>
          <p:cNvPr id="10" name="TextBox 9"/>
          <p:cNvSpPr txBox="1"/>
          <p:nvPr/>
        </p:nvSpPr>
        <p:spPr>
          <a:xfrm>
            <a:off x="548640" y="5989320"/>
            <a:ext cx="3840480" cy="274320"/>
          </a:xfrm>
          <a:prstGeom prst="rect">
            <a:avLst/>
          </a:prstGeom>
          <a:noFill/>
        </p:spPr>
        <p:txBody>
          <a:bodyPr wrap="square" lIns="0" rIns="0" tIns="0" bIns="0" anchor="t">
            <a:noAutofit/>
          </a:bodyPr>
          <a:lstStyle/>
          <a:p>
            <a:pPr algn="l">
              <a:spcAft>
                <a:spcPts val="0"/>
              </a:spcAft>
            </a:pPr>
            <a:r>
              <a:rPr sz="850" b="0" i="0" lang="es-MX">
                <a:solidFill>
                  <a:srgbClr val="8E84AB"/>
                </a:solidFill>
                <a:latin typeface="Calibri"/>
              </a:rPr>
              <a:t>Media de 10 semillas, barras = IC 95 % · Tabla 2 del artículo</a:t>
            </a:r>
          </a:p>
        </p:txBody>
      </p:sp>
      <p:sp>
        <p:nvSpPr>
          <p:cNvPr id="11" name="TextBox 10"/>
          <p:cNvSpPr txBox="1"/>
          <p:nvPr/>
        </p:nvSpPr>
        <p:spPr>
          <a:xfrm>
            <a:off x="7635240" y="2395728"/>
            <a:ext cx="4023360" cy="1188720"/>
          </a:xfrm>
          <a:prstGeom prst="rect">
            <a:avLst/>
          </a:prstGeom>
          <a:noFill/>
        </p:spPr>
        <p:txBody>
          <a:bodyPr wrap="square" lIns="0" rIns="0" tIns="0" bIns="0" anchor="t">
            <a:noAutofit/>
          </a:bodyPr>
          <a:lstStyle/>
          <a:p>
            <a:pPr algn="l">
              <a:lnSpc>
                <a:spcPct val="95000"/>
              </a:lnSpc>
              <a:spcAft>
                <a:spcPts val="0"/>
              </a:spcAft>
            </a:pPr>
            <a:r>
              <a:rPr sz="4400" b="1" i="0" lang="es-MX">
                <a:solidFill>
                  <a:srgbClr val="D9C5FF"/>
                </a:solidFill>
                <a:latin typeface="Calibri"/>
              </a:rPr>
              <a:t>0.46 </a:t>
            </a:r>
            <a:r>
              <a:rPr sz="1600" b="0" i="0" lang="es-MX">
                <a:solidFill>
                  <a:srgbClr val="FFFFFF"/>
                </a:solidFill>
                <a:latin typeface="Calibri"/>
              </a:rPr>
              <a:t>precisión</a:t>
            </a:r>
          </a:p>
          <a:p>
            <a:pPr algn="l">
              <a:lnSpc>
                <a:spcPct val="95000"/>
              </a:lnSpc>
              <a:spcAft>
                <a:spcPts val="0"/>
              </a:spcAft>
            </a:pPr>
            <a:r>
              <a:rPr sz="1600" b="0" i="0" lang="es-MX">
                <a:solidFill>
                  <a:srgbClr val="DDD6EE"/>
                </a:solidFill>
                <a:latin typeface="Calibri"/>
              </a:rPr>
              <a:t>con 0.35 de exhaustividad</a:t>
            </a:r>
          </a:p>
        </p:txBody>
      </p:sp>
      <p:sp>
        <p:nvSpPr>
          <p:cNvPr id="12" name="Rounded Rectangle 11"/>
          <p:cNvSpPr/>
          <p:nvPr/>
        </p:nvSpPr>
        <p:spPr>
          <a:xfrm>
            <a:off x="7635240" y="3657600"/>
            <a:ext cx="4005072" cy="868680"/>
          </a:xfrm>
          <a:prstGeom prst="roundRect">
            <a:avLst>
              <a:gd name="adj" fmla="val 12631"/>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72400" y="3675887"/>
            <a:ext cx="3749039" cy="832104"/>
          </a:xfrm>
          <a:prstGeom prst="rect">
            <a:avLst/>
          </a:prstGeom>
          <a:noFill/>
        </p:spPr>
        <p:txBody>
          <a:bodyPr wrap="square" lIns="0" rIns="0" tIns="0" bIns="0" anchor="ctr">
            <a:noAutofit/>
          </a:bodyPr>
          <a:lstStyle/>
          <a:p>
            <a:pPr algn="l">
              <a:spcAft>
                <a:spcPts val="0"/>
              </a:spcAft>
            </a:pPr>
            <a:r>
              <a:rPr sz="1150" b="1" i="0" lang="es-MX">
                <a:solidFill>
                  <a:srgbClr val="94A3B8"/>
                </a:solidFill>
                <a:latin typeface="Calibri"/>
              </a:rPr>
              <a:t>Como función de puntaje: </a:t>
            </a:r>
            <a:r>
              <a:rPr sz="1150" b="0" i="0" lang="es-MX">
                <a:solidFill>
                  <a:srgbClr val="FFFFFF"/>
                </a:solidFill>
                <a:latin typeface="Calibri"/>
              </a:rPr>
              <a:t>Isolation Forest ordena mejor en ambas AUC, en todas las prevalencias.</a:t>
            </a:r>
          </a:p>
        </p:txBody>
      </p:sp>
      <p:sp>
        <p:nvSpPr>
          <p:cNvPr id="14" name="Rounded Rectangle 13"/>
          <p:cNvSpPr/>
          <p:nvPr/>
        </p:nvSpPr>
        <p:spPr>
          <a:xfrm>
            <a:off x="7635240" y="4617720"/>
            <a:ext cx="4005072" cy="1005840"/>
          </a:xfrm>
          <a:prstGeom prst="roundRect">
            <a:avLst>
              <a:gd name="adj" fmla="val 10909"/>
            </a:avLst>
          </a:prstGeom>
          <a:solidFill>
            <a:srgbClr val="B57BFF">
              <a:alpha val="14000"/>
            </a:srgbClr>
          </a:solidFill>
          <a:ln w="9525">
            <a:solidFill>
              <a:srgbClr val="B57BFF">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0" y="4636008"/>
            <a:ext cx="3749039" cy="969264"/>
          </a:xfrm>
          <a:prstGeom prst="rect">
            <a:avLst/>
          </a:prstGeom>
          <a:noFill/>
        </p:spPr>
        <p:txBody>
          <a:bodyPr wrap="square" lIns="0" rIns="0" tIns="0" bIns="0" anchor="ctr">
            <a:noAutofit/>
          </a:bodyPr>
          <a:lstStyle/>
          <a:p>
            <a:pPr algn="l">
              <a:spcAft>
                <a:spcPts val="0"/>
              </a:spcAft>
            </a:pPr>
            <a:r>
              <a:rPr sz="1150" b="1" i="0" lang="es-MX">
                <a:solidFill>
                  <a:srgbClr val="D9C5FF"/>
                </a:solidFill>
                <a:latin typeface="Calibri"/>
              </a:rPr>
              <a:t>En el punto de operación: </a:t>
            </a:r>
            <a:r>
              <a:rPr sz="1150" b="0" i="0" lang="es-MX">
                <a:solidFill>
                  <a:srgbClr val="FFFFFF"/>
                </a:solidFill>
                <a:latin typeface="Calibri"/>
              </a:rPr>
              <a:t>con el mismo número de alertas la regla es más precisa (.462 vs .387) y recupera más (.351 vs .294).</a:t>
            </a:r>
          </a:p>
        </p:txBody>
      </p:sp>
      <p:sp>
        <p:nvSpPr>
          <p:cNvPr id="16" name="TextBox 15"/>
          <p:cNvSpPr txBox="1"/>
          <p:nvPr/>
        </p:nvSpPr>
        <p:spPr>
          <a:xfrm>
            <a:off x="7635240" y="5669280"/>
            <a:ext cx="4023360" cy="320040"/>
          </a:xfrm>
          <a:prstGeom prst="rect">
            <a:avLst/>
          </a:prstGeom>
          <a:noFill/>
        </p:spPr>
        <p:txBody>
          <a:bodyPr wrap="square" lIns="0" rIns="0" tIns="0" bIns="0" anchor="t">
            <a:noAutofit/>
          </a:bodyPr>
          <a:lstStyle/>
          <a:p>
            <a:pPr algn="l">
              <a:spcAft>
                <a:spcPts val="0"/>
              </a:spcAft>
            </a:pPr>
            <a:r>
              <a:rPr sz="1000" b="0" i="1" lang="es-MX">
                <a:solidFill>
                  <a:srgbClr val="ADA3C8"/>
                </a:solidFill>
                <a:latin typeface="Calibri"/>
              </a:rPr>
              <a:t>Una oficina revisa un número fijo de expedientes por periodo, no un ranking.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s-MX">
                <a:solidFill>
                  <a:srgbClr val="FFFFFF"/>
                </a:solidFill>
                <a:latin typeface="Calibri Light"/>
              </a:rPr>
              <a:t>Dónde falla — y por qué</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s-MX" spc="250">
                <a:solidFill>
                  <a:srgbClr val="B57BFF"/>
                </a:solidFill>
                <a:latin typeface="Calibri"/>
              </a:rPr>
              <a:t>ANÁLISIS DE FALLAS</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s-MX">
                <a:solidFill>
                  <a:srgbClr val="8E84AB"/>
                </a:solidFill>
                <a:latin typeface="Calibri"/>
              </a:rPr>
              <a:t>15 / 19</a:t>
            </a:r>
          </a:p>
        </p:txBody>
      </p:sp>
      <p:graphicFrame>
        <p:nvGraphicFramePr>
          <p:cNvPr id="5" name="Chart 4"/>
          <p:cNvGraphicFramePr>
            <a:graphicFrameLocks noGrp="1"/>
          </p:cNvGraphicFramePr>
          <p:nvPr/>
        </p:nvGraphicFramePr>
        <p:xfrm>
          <a:off x="457200" y="2057400"/>
          <a:ext cx="6492240" cy="3566160"/>
        </p:xfrm>
        <a:graphic>
          <a:graphicData uri="http://schemas.openxmlformats.org/drawingml/2006/chart">
            <c:chart xmlns:c="http://schemas.openxmlformats.org/drawingml/2006/chart" r:id="rId2"/>
          </a:graphicData>
        </a:graphic>
      </p:graphicFrame>
      <p:sp>
        <p:nvSpPr>
          <p:cNvPr id="6" name="TextBox 5"/>
          <p:cNvSpPr txBox="1"/>
          <p:nvPr/>
        </p:nvSpPr>
        <p:spPr>
          <a:xfrm>
            <a:off x="548640" y="1783080"/>
            <a:ext cx="6400800" cy="292608"/>
          </a:xfrm>
          <a:prstGeom prst="rect">
            <a:avLst/>
          </a:prstGeom>
          <a:noFill/>
        </p:spPr>
        <p:txBody>
          <a:bodyPr wrap="square" lIns="0" rIns="0" tIns="0" bIns="0" anchor="t">
            <a:noAutofit/>
          </a:bodyPr>
          <a:lstStyle/>
          <a:p>
            <a:pPr algn="l">
              <a:spcAft>
                <a:spcPts val="0"/>
              </a:spcAft>
            </a:pPr>
            <a:r>
              <a:rPr sz="1100" b="0" i="0" lang="es-MX">
                <a:solidFill>
                  <a:srgbClr val="ADA3C8"/>
                </a:solidFill>
                <a:latin typeface="Calibri"/>
              </a:rPr>
              <a:t>Exhaustividad por causa latente · prevalencia 15 % · media ± IC 95 %</a:t>
            </a:r>
          </a:p>
        </p:txBody>
      </p:sp>
      <p:sp>
        <p:nvSpPr>
          <p:cNvPr id="7" name="Rounded Rectangle 6"/>
          <p:cNvSpPr/>
          <p:nvPr/>
        </p:nvSpPr>
        <p:spPr>
          <a:xfrm>
            <a:off x="7178040" y="1920240"/>
            <a:ext cx="4462272" cy="1371600"/>
          </a:xfrm>
          <a:prstGeom prst="roundRect">
            <a:avLst>
              <a:gd name="adj" fmla="val 8000"/>
            </a:avLst>
          </a:prstGeom>
          <a:solidFill>
            <a:srgbClr val="F87171">
              <a:alpha val="7000"/>
            </a:srgbClr>
          </a:solidFill>
          <a:ln w="9525">
            <a:solidFill>
              <a:srgbClr val="F8717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306056" y="2368296"/>
            <a:ext cx="475488" cy="475488"/>
          </a:xfrm>
          <a:prstGeom prst="ellipse">
            <a:avLst/>
          </a:prstGeom>
          <a:solidFill>
            <a:srgbClr val="F87171">
              <a:alpha val="18000"/>
            </a:srgbClr>
          </a:solidFill>
          <a:ln w="15875">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oins.png"/>
          <p:cNvPicPr>
            <a:picLocks noChangeAspect="1"/>
          </p:cNvPicPr>
          <p:nvPr/>
        </p:nvPicPr>
        <p:blipFill>
          <a:blip r:embed="rId3"/>
          <a:stretch>
            <a:fillRect/>
          </a:stretch>
        </p:blipFill>
        <p:spPr>
          <a:xfrm>
            <a:off x="7420173" y="2482413"/>
            <a:ext cx="247253" cy="247253"/>
          </a:xfrm>
          <a:prstGeom prst="rect">
            <a:avLst/>
          </a:prstGeom>
        </p:spPr>
      </p:pic>
      <p:sp>
        <p:nvSpPr>
          <p:cNvPr id="10" name="TextBox 9"/>
          <p:cNvSpPr txBox="1"/>
          <p:nvPr/>
        </p:nvSpPr>
        <p:spPr>
          <a:xfrm>
            <a:off x="7909560" y="1965960"/>
            <a:ext cx="3611880" cy="1280160"/>
          </a:xfrm>
          <a:prstGeom prst="rect">
            <a:avLst/>
          </a:prstGeom>
          <a:noFill/>
        </p:spPr>
        <p:txBody>
          <a:bodyPr wrap="square" lIns="0" rIns="0" tIns="0" bIns="0" anchor="ctr">
            <a:noAutofit/>
          </a:bodyPr>
          <a:lstStyle/>
          <a:p>
            <a:pPr algn="l">
              <a:spcAft>
                <a:spcPts val="200"/>
              </a:spcAft>
            </a:pPr>
            <a:r>
              <a:rPr sz="1200" b="1" i="0" lang="es-MX">
                <a:solidFill>
                  <a:srgbClr val="FFFFFF"/>
                </a:solidFill>
                <a:latin typeface="Calibri"/>
              </a:rPr>
              <a:t>C1 compara un monto absoluto con la media del periodo</a:t>
            </a:r>
          </a:p>
          <a:p>
            <a:pPr algn="l">
              <a:spcAft>
                <a:spcPts val="400"/>
              </a:spcAft>
            </a:pPr>
            <a:r>
              <a:rPr sz="1100" b="0" i="0" lang="es-MX">
                <a:solidFill>
                  <a:srgbClr val="DDD6EE"/>
                </a:solidFill>
                <a:latin typeface="Calibri"/>
              </a:rPr>
              <a:t>→ marca obras grandes, no obras con sobreprecio.</a:t>
            </a:r>
          </a:p>
          <a:p>
            <a:pPr algn="l">
              <a:spcAft>
                <a:spcPts val="0"/>
              </a:spcAft>
            </a:pPr>
            <a:r>
              <a:rPr sz="1150" b="0" i="1" lang="es-MX">
                <a:solidFill>
                  <a:srgbClr val="D9C5FF"/>
                </a:solidFill>
                <a:latin typeface="Calibri"/>
              </a:rPr>
              <a:t>“Una escuela inflada un 30 % sigue siendo más barata que un camino honesto.”</a:t>
            </a:r>
          </a:p>
        </p:txBody>
      </p:sp>
      <p:sp>
        <p:nvSpPr>
          <p:cNvPr id="11" name="Rounded Rectangle 10"/>
          <p:cNvSpPr/>
          <p:nvPr/>
        </p:nvSpPr>
        <p:spPr>
          <a:xfrm>
            <a:off x="7178040" y="3474720"/>
            <a:ext cx="4462272" cy="1078992"/>
          </a:xfrm>
          <a:prstGeom prst="roundRect">
            <a:avLst>
              <a:gd name="adj" fmla="val 10169"/>
            </a:avLst>
          </a:prstGeom>
          <a:solidFill>
            <a:srgbClr val="F87171">
              <a:alpha val="7000"/>
            </a:srgbClr>
          </a:solidFill>
          <a:ln w="9525">
            <a:solidFill>
              <a:srgbClr val="F8717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7306056" y="3776472"/>
            <a:ext cx="475488" cy="475488"/>
          </a:xfrm>
          <a:prstGeom prst="ellipse">
            <a:avLst/>
          </a:prstGeom>
          <a:solidFill>
            <a:srgbClr val="F87171">
              <a:alpha val="18000"/>
            </a:srgbClr>
          </a:solidFill>
          <a:ln w="15875">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gauge.png"/>
          <p:cNvPicPr>
            <a:picLocks noChangeAspect="1"/>
          </p:cNvPicPr>
          <p:nvPr/>
        </p:nvPicPr>
        <p:blipFill>
          <a:blip r:embed="rId4"/>
          <a:stretch>
            <a:fillRect/>
          </a:stretch>
        </p:blipFill>
        <p:spPr>
          <a:xfrm>
            <a:off x="7420173" y="3890589"/>
            <a:ext cx="247253" cy="247253"/>
          </a:xfrm>
          <a:prstGeom prst="rect">
            <a:avLst/>
          </a:prstGeom>
        </p:spPr>
      </p:pic>
      <p:sp>
        <p:nvSpPr>
          <p:cNvPr id="14" name="TextBox 13"/>
          <p:cNvSpPr txBox="1"/>
          <p:nvPr/>
        </p:nvSpPr>
        <p:spPr>
          <a:xfrm>
            <a:off x="7909560" y="3520439"/>
            <a:ext cx="3611880" cy="987551"/>
          </a:xfrm>
          <a:prstGeom prst="rect">
            <a:avLst/>
          </a:prstGeom>
          <a:noFill/>
        </p:spPr>
        <p:txBody>
          <a:bodyPr wrap="square" lIns="0" rIns="0" tIns="0" bIns="0" anchor="ctr">
            <a:noAutofit/>
          </a:bodyPr>
          <a:lstStyle/>
          <a:p>
            <a:pPr algn="l">
              <a:spcAft>
                <a:spcPts val="200"/>
              </a:spcAft>
            </a:pPr>
            <a:r>
              <a:rPr sz="1200" b="1" i="0" lang="es-MX">
                <a:solidFill>
                  <a:srgbClr val="FFFFFF"/>
                </a:solidFill>
                <a:latin typeface="Calibri"/>
              </a:rPr>
              <a:t>Ningún criterio mira la brecha físico–financiera</a:t>
            </a:r>
          </a:p>
          <a:p>
            <a:pPr algn="l">
              <a:spcAft>
                <a:spcPts val="400"/>
              </a:spcAft>
            </a:pPr>
            <a:r>
              <a:rPr sz="1100" b="0" i="0" lang="es-MX">
                <a:solidFill>
                  <a:srgbClr val="DDD6EE"/>
                </a:solidFill>
                <a:latin typeface="Calibri"/>
              </a:rPr>
              <a:t>salvo que el avance físico baje del 30 % → el sobrepago constante pasa si la obra termina.</a:t>
            </a:r>
          </a:p>
        </p:txBody>
      </p:sp>
      <p:sp>
        <p:nvSpPr>
          <p:cNvPr id="15" name="Rounded Rectangle 14"/>
          <p:cNvSpPr/>
          <p:nvPr/>
        </p:nvSpPr>
        <p:spPr>
          <a:xfrm>
            <a:off x="7178040" y="4736592"/>
            <a:ext cx="4462272" cy="1005840"/>
          </a:xfrm>
          <a:prstGeom prst="roundRect">
            <a:avLst>
              <a:gd name="adj" fmla="val 10909"/>
            </a:avLst>
          </a:prstGeom>
          <a:solidFill>
            <a:srgbClr val="B57BFF">
              <a:alpha val="16000"/>
            </a:srgbClr>
          </a:solidFill>
          <a:ln w="9525">
            <a:solidFill>
              <a:srgbClr val="B57B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60920" y="4745736"/>
            <a:ext cx="4114800" cy="987552"/>
          </a:xfrm>
          <a:prstGeom prst="rect">
            <a:avLst/>
          </a:prstGeom>
          <a:noFill/>
        </p:spPr>
        <p:txBody>
          <a:bodyPr wrap="square" lIns="0" rIns="0" tIns="0" bIns="0" anchor="ctr">
            <a:noAutofit/>
          </a:bodyPr>
          <a:lstStyle/>
          <a:p>
            <a:pPr algn="l">
              <a:spcAft>
                <a:spcPts val="300"/>
              </a:spcAft>
            </a:pPr>
            <a:r>
              <a:rPr sz="1250" b="1" i="0" lang="es-MX">
                <a:solidFill>
                  <a:srgbClr val="FFFFFF"/>
                </a:solidFill>
                <a:latin typeface="Calibri"/>
              </a:rPr>
              <a:t>Un filtro de fallas de calendario con una revisión estrecha de obra fantasma — no un detector de anomalías de costo.</a:t>
            </a:r>
          </a:p>
          <a:p>
            <a:pPr algn="l">
              <a:spcAft>
                <a:spcPts val="0"/>
              </a:spcAft>
            </a:pPr>
            <a:r>
              <a:rPr sz="1050" b="0" i="0" lang="es-MX">
                <a:solidFill>
                  <a:srgbClr val="DDD6EE"/>
                </a:solidFill>
                <a:latin typeface="Calibri"/>
              </a:rPr>
              <a:t>Siguiente: recalcular C1 por tipo de obra y reevaluar con la misma verdad de referencia.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s-MX">
                <a:solidFill>
                  <a:srgbClr val="FFFFFF"/>
                </a:solidFill>
                <a:latin typeface="Calibri Light"/>
              </a:rPr>
              <a:t>Medido: el almacén no es el cuello de botella</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s-MX" spc="250">
                <a:solidFill>
                  <a:srgbClr val="B57BFF"/>
                </a:solidFill>
                <a:latin typeface="Calibri"/>
              </a:rPr>
              <a:t>RENDIMIENTO</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s-MX">
                <a:solidFill>
                  <a:srgbClr val="8E84AB"/>
                </a:solidFill>
                <a:latin typeface="Calibri"/>
              </a:rPr>
              <a:t>16 / 19</a:t>
            </a:r>
          </a:p>
        </p:txBody>
      </p:sp>
      <p:graphicFrame>
        <p:nvGraphicFramePr>
          <p:cNvPr id="5" name="Chart 4"/>
          <p:cNvGraphicFramePr>
            <a:graphicFrameLocks noGrp="1"/>
          </p:cNvGraphicFramePr>
          <p:nvPr/>
        </p:nvGraphicFramePr>
        <p:xfrm>
          <a:off x="457200" y="2103120"/>
          <a:ext cx="6766560" cy="3200400"/>
        </p:xfrm>
        <a:graphic>
          <a:graphicData uri="http://schemas.openxmlformats.org/drawingml/2006/chart">
            <c:chart xmlns:c="http://schemas.openxmlformats.org/drawingml/2006/chart" r:id="rId2"/>
          </a:graphicData>
        </a:graphic>
      </p:graphicFrame>
      <p:sp>
        <p:nvSpPr>
          <p:cNvPr id="6" name="Rounded Rectangle 5"/>
          <p:cNvSpPr/>
          <p:nvPr/>
        </p:nvSpPr>
        <p:spPr>
          <a:xfrm>
            <a:off x="594360" y="1801368"/>
            <a:ext cx="2103120" cy="274320"/>
          </a:xfrm>
          <a:prstGeom prst="roundRect">
            <a:avLst>
              <a:gd name="adj" fmla="val 50000"/>
            </a:avLst>
          </a:prstGeom>
          <a:solidFill>
            <a:srgbClr val="B57BF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s-MX">
                <a:solidFill>
                  <a:srgbClr val="1B1530"/>
                </a:solidFill>
                <a:latin typeface="Calibri"/>
              </a:rPr>
              <a:t>almacén (ejecución SQL)</a:t>
            </a:r>
          </a:p>
        </p:txBody>
      </p:sp>
      <p:sp>
        <p:nvSpPr>
          <p:cNvPr id="7" name="Rounded Rectangle 6"/>
          <p:cNvSpPr/>
          <p:nvPr/>
        </p:nvSpPr>
        <p:spPr>
          <a:xfrm>
            <a:off x="2788920" y="1801368"/>
            <a:ext cx="2103120" cy="274320"/>
          </a:xfrm>
          <a:prstGeom prst="roundRect">
            <a:avLst>
              <a:gd name="adj" fmla="val 50000"/>
            </a:avLst>
          </a:prstGeom>
          <a:solidFill>
            <a:srgbClr val="FBBF24">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s-MX">
                <a:solidFill>
                  <a:srgbClr val="1B1530"/>
                </a:solidFill>
                <a:latin typeface="Calibri"/>
              </a:rPr>
              <a:t>API de extremo a extremo</a:t>
            </a:r>
          </a:p>
        </p:txBody>
      </p:sp>
      <p:sp>
        <p:nvSpPr>
          <p:cNvPr id="8" name="TextBox 7"/>
          <p:cNvSpPr txBox="1"/>
          <p:nvPr/>
        </p:nvSpPr>
        <p:spPr>
          <a:xfrm>
            <a:off x="4983480" y="1801368"/>
            <a:ext cx="2194560" cy="274320"/>
          </a:xfrm>
          <a:prstGeom prst="rect">
            <a:avLst/>
          </a:prstGeom>
          <a:noFill/>
        </p:spPr>
        <p:txBody>
          <a:bodyPr wrap="square" lIns="0" rIns="0" tIns="0" bIns="0" anchor="t">
            <a:noAutofit/>
          </a:bodyPr>
          <a:lstStyle/>
          <a:p>
            <a:pPr algn="l">
              <a:spcAft>
                <a:spcPts val="0"/>
              </a:spcAft>
            </a:pPr>
            <a:r>
              <a:rPr sz="950" b="0" i="0" lang="es-MX">
                <a:solidFill>
                  <a:srgbClr val="ADA3C8"/>
                </a:solidFill>
                <a:latin typeface="Calibri"/>
              </a:rPr>
              <a:t>media, escala log</a:t>
            </a:r>
          </a:p>
        </p:txBody>
      </p:sp>
      <p:sp>
        <p:nvSpPr>
          <p:cNvPr id="9" name="TextBox 8"/>
          <p:cNvSpPr txBox="1"/>
          <p:nvPr/>
        </p:nvSpPr>
        <p:spPr>
          <a:xfrm>
            <a:off x="548640" y="5349240"/>
            <a:ext cx="6583680" cy="566928"/>
          </a:xfrm>
          <a:prstGeom prst="rect">
            <a:avLst/>
          </a:prstGeom>
          <a:noFill/>
        </p:spPr>
        <p:txBody>
          <a:bodyPr wrap="square" lIns="0" rIns="0" tIns="0" bIns="0" anchor="t">
            <a:noAutofit/>
          </a:bodyPr>
          <a:lstStyle/>
          <a:p>
            <a:pPr algn="l">
              <a:spcAft>
                <a:spcPts val="0"/>
              </a:spcAft>
            </a:pPr>
            <a:r>
              <a:rPr sz="1100" b="1" i="0" lang="es-MX">
                <a:solidFill>
                  <a:srgbClr val="FBBF24"/>
                </a:solidFill>
                <a:latin typeface="Calibri"/>
              </a:rPr>
              <a:t>Rendimiento sostenido: </a:t>
            </a:r>
            <a:r>
              <a:rPr sz="1100" b="0" i="0" lang="es-MX">
                <a:solidFill>
                  <a:srgbClr val="DDD6EE"/>
                </a:solidFill>
                <a:latin typeface="Calibri"/>
              </a:rPr>
              <a:t>3.4 req/s (10 clientes, 2 workers síncronos) — la respuesta de 753 kB sin paginar. </a:t>
            </a:r>
            <a:r>
              <a:rPr sz="1100" b="0" i="0" lang="es-MX">
                <a:solidFill>
                  <a:srgbClr val="ADA3C8"/>
                </a:solidFill>
                <a:latin typeface="Calibri"/>
              </a:rPr>
              <a:t>Remedio: paginar y más workers; el diseño dimensional no cambia.</a:t>
            </a:r>
          </a:p>
        </p:txBody>
      </p:sp>
      <p:sp>
        <p:nvSpPr>
          <p:cNvPr id="10" name="TextBox 9"/>
          <p:cNvSpPr txBox="1"/>
          <p:nvPr/>
        </p:nvSpPr>
        <p:spPr>
          <a:xfrm>
            <a:off x="548640" y="5989320"/>
            <a:ext cx="3840480" cy="384048"/>
          </a:xfrm>
          <a:prstGeom prst="rect">
            <a:avLst/>
          </a:prstGeom>
          <a:noFill/>
        </p:spPr>
        <p:txBody>
          <a:bodyPr wrap="square" lIns="0" rIns="0" tIns="0" bIns="0" anchor="t">
            <a:noAutofit/>
          </a:bodyPr>
          <a:lstStyle/>
          <a:p>
            <a:pPr algn="l">
              <a:spcAft>
                <a:spcPts val="0"/>
              </a:spcAft>
            </a:pPr>
            <a:r>
              <a:rPr sz="850" b="0" i="0" lang="es-MX">
                <a:solidFill>
                  <a:srgbClr val="8E84AB"/>
                </a:solidFill>
                <a:latin typeface="Calibri"/>
              </a:rPr>
              <a:t>Stack Docker: PostgreSQL 16.14 + Flask/gunicorn · 1,247 obras · Tabla 1</a:t>
            </a:r>
          </a:p>
        </p:txBody>
      </p:sp>
      <p:sp>
        <p:nvSpPr>
          <p:cNvPr id="11" name="Rounded Rectangle 10"/>
          <p:cNvSpPr/>
          <p:nvPr/>
        </p:nvSpPr>
        <p:spPr>
          <a:xfrm>
            <a:off x="7498079" y="1783080"/>
            <a:ext cx="4142232" cy="4160520"/>
          </a:xfrm>
          <a:prstGeom prst="roundRect">
            <a:avLst>
              <a:gd name="adj" fmla="val 2649"/>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ighthouse.png"/>
          <p:cNvPicPr>
            <a:picLocks noChangeAspect="1"/>
          </p:cNvPicPr>
          <p:nvPr/>
        </p:nvPicPr>
        <p:blipFill>
          <a:blip r:embed="rId3"/>
          <a:stretch>
            <a:fillRect/>
          </a:stretch>
        </p:blipFill>
        <p:spPr>
          <a:xfrm>
            <a:off x="7699248" y="1920240"/>
            <a:ext cx="329184" cy="329184"/>
          </a:xfrm>
          <a:prstGeom prst="rect">
            <a:avLst/>
          </a:prstGeom>
        </p:spPr>
      </p:pic>
      <p:sp>
        <p:nvSpPr>
          <p:cNvPr id="13" name="TextBox 12"/>
          <p:cNvSpPr txBox="1"/>
          <p:nvPr/>
        </p:nvSpPr>
        <p:spPr>
          <a:xfrm>
            <a:off x="8119872" y="1874519"/>
            <a:ext cx="3474720" cy="411480"/>
          </a:xfrm>
          <a:prstGeom prst="rect">
            <a:avLst/>
          </a:prstGeom>
          <a:noFill/>
        </p:spPr>
        <p:txBody>
          <a:bodyPr wrap="square" lIns="0" rIns="0" tIns="0" bIns="0" anchor="ctr">
            <a:noAutofit/>
          </a:bodyPr>
          <a:lstStyle/>
          <a:p>
            <a:pPr algn="l">
              <a:spcAft>
                <a:spcPts val="0"/>
              </a:spcAft>
            </a:pPr>
            <a:r>
              <a:rPr sz="1350" b="1" i="0" lang="es-MX">
                <a:solidFill>
                  <a:srgbClr val="D9C5FF"/>
                </a:solidFill>
                <a:latin typeface="Calibri"/>
              </a:rPr>
              <a:t>Lighthouse · sitio publicado</a:t>
            </a:r>
          </a:p>
        </p:txBody>
      </p:sp>
      <p:sp>
        <p:nvSpPr>
          <p:cNvPr id="14" name="TextBox 13"/>
          <p:cNvSpPr txBox="1"/>
          <p:nvPr/>
        </p:nvSpPr>
        <p:spPr>
          <a:xfrm>
            <a:off x="7699248" y="2377440"/>
            <a:ext cx="2743200" cy="274320"/>
          </a:xfrm>
          <a:prstGeom prst="rect">
            <a:avLst/>
          </a:prstGeom>
          <a:noFill/>
        </p:spPr>
        <p:txBody>
          <a:bodyPr wrap="square" lIns="0" rIns="0" tIns="0" bIns="0" anchor="t">
            <a:noAutofit/>
          </a:bodyPr>
          <a:lstStyle/>
          <a:p>
            <a:pPr algn="l">
              <a:spcAft>
                <a:spcPts val="0"/>
              </a:spcAft>
            </a:pPr>
            <a:r>
              <a:rPr sz="1150" b="1" i="0" lang="es-MX">
                <a:solidFill>
                  <a:srgbClr val="FFFFFF"/>
                </a:solidFill>
                <a:latin typeface="Calibri"/>
              </a:rPr>
              <a:t>Portada</a:t>
            </a:r>
          </a:p>
        </p:txBody>
      </p:sp>
      <p:sp>
        <p:nvSpPr>
          <p:cNvPr id="15" name="Donut 14"/>
          <p:cNvSpPr/>
          <p:nvPr/>
        </p:nvSpPr>
        <p:spPr>
          <a:xfrm>
            <a:off x="7808975" y="2715768"/>
            <a:ext cx="749808" cy="749808"/>
          </a:xfrm>
          <a:prstGeom prst="donut">
            <a:avLst>
              <a:gd name="adj" fmla="val 10365"/>
            </a:avLst>
          </a:prstGeom>
          <a:solidFill>
            <a:srgbClr val="FFFFFF">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lock Arc 15"/>
          <p:cNvSpPr/>
          <p:nvPr/>
        </p:nvSpPr>
        <p:spPr>
          <a:xfrm>
            <a:off x="7808975" y="2715768"/>
            <a:ext cx="749808" cy="749808"/>
          </a:xfrm>
          <a:prstGeom prst="blockArc">
            <a:avLst>
              <a:gd name="adj1" fmla="val 16200000"/>
              <a:gd name="adj2" fmla="val 12960000"/>
              <a:gd name="adj3" fmla="val 10365"/>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08975" y="2715768"/>
            <a:ext cx="749808" cy="749808"/>
          </a:xfrm>
          <a:prstGeom prst="rect">
            <a:avLst/>
          </a:prstGeom>
          <a:noFill/>
        </p:spPr>
        <p:txBody>
          <a:bodyPr wrap="square" lIns="0" rIns="0" tIns="0" bIns="0" anchor="ctr">
            <a:noAutofit/>
          </a:bodyPr>
          <a:lstStyle/>
          <a:p>
            <a:pPr algn="ctr">
              <a:spcAft>
                <a:spcPts val="0"/>
              </a:spcAft>
            </a:pPr>
            <a:r>
              <a:rPr sz="1700" b="1" i="0" lang="es-MX">
                <a:solidFill>
                  <a:srgbClr val="FBBF24"/>
                </a:solidFill>
                <a:latin typeface="Calibri"/>
              </a:rPr>
              <a:t>85</a:t>
            </a:r>
          </a:p>
        </p:txBody>
      </p:sp>
      <p:sp>
        <p:nvSpPr>
          <p:cNvPr id="18" name="TextBox 17"/>
          <p:cNvSpPr txBox="1"/>
          <p:nvPr/>
        </p:nvSpPr>
        <p:spPr>
          <a:xfrm>
            <a:off x="7635240" y="3493008"/>
            <a:ext cx="1097280" cy="256032"/>
          </a:xfrm>
          <a:prstGeom prst="rect">
            <a:avLst/>
          </a:prstGeom>
          <a:noFill/>
        </p:spPr>
        <p:txBody>
          <a:bodyPr wrap="square" lIns="0" rIns="0" tIns="0" bIns="0" anchor="t">
            <a:noAutofit/>
          </a:bodyPr>
          <a:lstStyle/>
          <a:p>
            <a:pPr algn="ctr">
              <a:spcAft>
                <a:spcPts val="0"/>
              </a:spcAft>
            </a:pPr>
            <a:r>
              <a:rPr sz="1000" b="0" i="0" lang="es-MX">
                <a:solidFill>
                  <a:srgbClr val="DDD6EE"/>
                </a:solidFill>
                <a:latin typeface="Calibri"/>
              </a:rPr>
              <a:t>Rend.</a:t>
            </a:r>
          </a:p>
        </p:txBody>
      </p:sp>
      <p:sp>
        <p:nvSpPr>
          <p:cNvPr id="19" name="Donut 18"/>
          <p:cNvSpPr/>
          <p:nvPr/>
        </p:nvSpPr>
        <p:spPr>
          <a:xfrm>
            <a:off x="8796528" y="2715768"/>
            <a:ext cx="749808" cy="749808"/>
          </a:xfrm>
          <a:prstGeom prst="donut">
            <a:avLst>
              <a:gd name="adj" fmla="val 10365"/>
            </a:avLst>
          </a:prstGeom>
          <a:solidFill>
            <a:srgbClr val="FFFFFF">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onut 19"/>
          <p:cNvSpPr/>
          <p:nvPr/>
        </p:nvSpPr>
        <p:spPr>
          <a:xfrm>
            <a:off x="8796528" y="2715768"/>
            <a:ext cx="749808" cy="749808"/>
          </a:xfrm>
          <a:prstGeom prst="donut">
            <a:avLst>
              <a:gd name="adj" fmla="val 10365"/>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96528" y="2715768"/>
            <a:ext cx="749808" cy="749808"/>
          </a:xfrm>
          <a:prstGeom prst="rect">
            <a:avLst/>
          </a:prstGeom>
          <a:noFill/>
        </p:spPr>
        <p:txBody>
          <a:bodyPr wrap="square" lIns="0" rIns="0" tIns="0" bIns="0" anchor="ctr">
            <a:noAutofit/>
          </a:bodyPr>
          <a:lstStyle/>
          <a:p>
            <a:pPr algn="ctr">
              <a:spcAft>
                <a:spcPts val="0"/>
              </a:spcAft>
            </a:pPr>
            <a:r>
              <a:rPr sz="1700" b="1" i="0" lang="es-MX">
                <a:solidFill>
                  <a:srgbClr val="34D399"/>
                </a:solidFill>
                <a:latin typeface="Calibri"/>
              </a:rPr>
              <a:t>100</a:t>
            </a:r>
          </a:p>
        </p:txBody>
      </p:sp>
      <p:sp>
        <p:nvSpPr>
          <p:cNvPr id="22" name="TextBox 21"/>
          <p:cNvSpPr txBox="1"/>
          <p:nvPr/>
        </p:nvSpPr>
        <p:spPr>
          <a:xfrm>
            <a:off x="8622792" y="3493008"/>
            <a:ext cx="1097280" cy="256032"/>
          </a:xfrm>
          <a:prstGeom prst="rect">
            <a:avLst/>
          </a:prstGeom>
          <a:noFill/>
        </p:spPr>
        <p:txBody>
          <a:bodyPr wrap="square" lIns="0" rIns="0" tIns="0" bIns="0" anchor="t">
            <a:noAutofit/>
          </a:bodyPr>
          <a:lstStyle/>
          <a:p>
            <a:pPr algn="ctr">
              <a:spcAft>
                <a:spcPts val="0"/>
              </a:spcAft>
            </a:pPr>
            <a:r>
              <a:rPr sz="1000" b="0" i="0" lang="es-MX">
                <a:solidFill>
                  <a:srgbClr val="DDD6EE"/>
                </a:solidFill>
                <a:latin typeface="Calibri"/>
              </a:rPr>
              <a:t>Accesib.</a:t>
            </a:r>
          </a:p>
        </p:txBody>
      </p:sp>
      <p:sp>
        <p:nvSpPr>
          <p:cNvPr id="23" name="Donut 22"/>
          <p:cNvSpPr/>
          <p:nvPr/>
        </p:nvSpPr>
        <p:spPr>
          <a:xfrm>
            <a:off x="9784080" y="2715768"/>
            <a:ext cx="749808" cy="749808"/>
          </a:xfrm>
          <a:prstGeom prst="donut">
            <a:avLst>
              <a:gd name="adj" fmla="val 10365"/>
            </a:avLst>
          </a:prstGeom>
          <a:solidFill>
            <a:srgbClr val="FFFFFF">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lock Arc 23"/>
          <p:cNvSpPr/>
          <p:nvPr/>
        </p:nvSpPr>
        <p:spPr>
          <a:xfrm>
            <a:off x="9784080" y="2715768"/>
            <a:ext cx="749808" cy="749808"/>
          </a:xfrm>
          <a:prstGeom prst="blockArc">
            <a:avLst>
              <a:gd name="adj1" fmla="val 16200000"/>
              <a:gd name="adj2" fmla="val 15336000"/>
              <a:gd name="adj3" fmla="val 10365"/>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0" y="2715768"/>
            <a:ext cx="749808" cy="749808"/>
          </a:xfrm>
          <a:prstGeom prst="rect">
            <a:avLst/>
          </a:prstGeom>
          <a:noFill/>
        </p:spPr>
        <p:txBody>
          <a:bodyPr wrap="square" lIns="0" rIns="0" tIns="0" bIns="0" anchor="ctr">
            <a:noAutofit/>
          </a:bodyPr>
          <a:lstStyle/>
          <a:p>
            <a:pPr algn="ctr">
              <a:spcAft>
                <a:spcPts val="0"/>
              </a:spcAft>
            </a:pPr>
            <a:r>
              <a:rPr sz="1700" b="1" i="0" lang="es-MX">
                <a:solidFill>
                  <a:srgbClr val="34D399"/>
                </a:solidFill>
                <a:latin typeface="Calibri"/>
              </a:rPr>
              <a:t>96</a:t>
            </a:r>
          </a:p>
        </p:txBody>
      </p:sp>
      <p:sp>
        <p:nvSpPr>
          <p:cNvPr id="26" name="TextBox 25"/>
          <p:cNvSpPr txBox="1"/>
          <p:nvPr/>
        </p:nvSpPr>
        <p:spPr>
          <a:xfrm>
            <a:off x="9610344" y="3493008"/>
            <a:ext cx="1097280" cy="256032"/>
          </a:xfrm>
          <a:prstGeom prst="rect">
            <a:avLst/>
          </a:prstGeom>
          <a:noFill/>
        </p:spPr>
        <p:txBody>
          <a:bodyPr wrap="square" lIns="0" rIns="0" tIns="0" bIns="0" anchor="t">
            <a:noAutofit/>
          </a:bodyPr>
          <a:lstStyle/>
          <a:p>
            <a:pPr algn="ctr">
              <a:spcAft>
                <a:spcPts val="0"/>
              </a:spcAft>
            </a:pPr>
            <a:r>
              <a:rPr sz="1000" b="0" i="0" lang="es-MX">
                <a:solidFill>
                  <a:srgbClr val="DDD6EE"/>
                </a:solidFill>
                <a:latin typeface="Calibri"/>
              </a:rPr>
              <a:t>Buenas pr.</a:t>
            </a:r>
          </a:p>
        </p:txBody>
      </p:sp>
      <p:sp>
        <p:nvSpPr>
          <p:cNvPr id="27" name="Donut 26"/>
          <p:cNvSpPr/>
          <p:nvPr/>
        </p:nvSpPr>
        <p:spPr>
          <a:xfrm>
            <a:off x="10771632" y="2715768"/>
            <a:ext cx="749808" cy="749808"/>
          </a:xfrm>
          <a:prstGeom prst="donut">
            <a:avLst>
              <a:gd name="adj" fmla="val 10365"/>
            </a:avLst>
          </a:prstGeom>
          <a:solidFill>
            <a:srgbClr val="FFFFFF">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lock Arc 27"/>
          <p:cNvSpPr/>
          <p:nvPr/>
        </p:nvSpPr>
        <p:spPr>
          <a:xfrm>
            <a:off x="10771632" y="2715768"/>
            <a:ext cx="749808" cy="749808"/>
          </a:xfrm>
          <a:prstGeom prst="blockArc">
            <a:avLst>
              <a:gd name="adj1" fmla="val 16200000"/>
              <a:gd name="adj2" fmla="val 14040000"/>
              <a:gd name="adj3" fmla="val 10365"/>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71632" y="2715768"/>
            <a:ext cx="749808" cy="749808"/>
          </a:xfrm>
          <a:prstGeom prst="rect">
            <a:avLst/>
          </a:prstGeom>
          <a:noFill/>
        </p:spPr>
        <p:txBody>
          <a:bodyPr wrap="square" lIns="0" rIns="0" tIns="0" bIns="0" anchor="ctr">
            <a:noAutofit/>
          </a:bodyPr>
          <a:lstStyle/>
          <a:p>
            <a:pPr algn="ctr">
              <a:spcAft>
                <a:spcPts val="0"/>
              </a:spcAft>
            </a:pPr>
            <a:r>
              <a:rPr sz="1700" b="1" i="0" lang="es-MX">
                <a:solidFill>
                  <a:srgbClr val="34D399"/>
                </a:solidFill>
                <a:latin typeface="Calibri"/>
              </a:rPr>
              <a:t>90</a:t>
            </a:r>
          </a:p>
        </p:txBody>
      </p:sp>
      <p:sp>
        <p:nvSpPr>
          <p:cNvPr id="30" name="TextBox 29"/>
          <p:cNvSpPr txBox="1"/>
          <p:nvPr/>
        </p:nvSpPr>
        <p:spPr>
          <a:xfrm>
            <a:off x="10597896" y="3493008"/>
            <a:ext cx="1097280" cy="256032"/>
          </a:xfrm>
          <a:prstGeom prst="rect">
            <a:avLst/>
          </a:prstGeom>
          <a:noFill/>
        </p:spPr>
        <p:txBody>
          <a:bodyPr wrap="square" lIns="0" rIns="0" tIns="0" bIns="0" anchor="t">
            <a:noAutofit/>
          </a:bodyPr>
          <a:lstStyle/>
          <a:p>
            <a:pPr algn="ctr">
              <a:spcAft>
                <a:spcPts val="0"/>
              </a:spcAft>
            </a:pPr>
            <a:r>
              <a:rPr sz="1000" b="0" i="0" lang="es-MX">
                <a:solidFill>
                  <a:srgbClr val="DDD6EE"/>
                </a:solidFill>
                <a:latin typeface="Calibri"/>
              </a:rPr>
              <a:t>SEO</a:t>
            </a:r>
          </a:p>
        </p:txBody>
      </p:sp>
      <p:sp>
        <p:nvSpPr>
          <p:cNvPr id="31" name="TextBox 30"/>
          <p:cNvSpPr txBox="1"/>
          <p:nvPr/>
        </p:nvSpPr>
        <p:spPr>
          <a:xfrm>
            <a:off x="7699248" y="3858768"/>
            <a:ext cx="2743200" cy="274320"/>
          </a:xfrm>
          <a:prstGeom prst="rect">
            <a:avLst/>
          </a:prstGeom>
          <a:noFill/>
        </p:spPr>
        <p:txBody>
          <a:bodyPr wrap="square" lIns="0" rIns="0" tIns="0" bIns="0" anchor="t">
            <a:noAutofit/>
          </a:bodyPr>
          <a:lstStyle/>
          <a:p>
            <a:pPr algn="l">
              <a:spcAft>
                <a:spcPts val="0"/>
              </a:spcAft>
            </a:pPr>
            <a:r>
              <a:rPr sz="1150" b="1" i="0" lang="es-MX">
                <a:solidFill>
                  <a:srgbClr val="FFFFFF"/>
                </a:solidFill>
                <a:latin typeface="Calibri"/>
              </a:rPr>
              <a:t>Mapa</a:t>
            </a:r>
          </a:p>
        </p:txBody>
      </p:sp>
      <p:sp>
        <p:nvSpPr>
          <p:cNvPr id="32" name="Donut 31"/>
          <p:cNvSpPr/>
          <p:nvPr/>
        </p:nvSpPr>
        <p:spPr>
          <a:xfrm>
            <a:off x="7808975" y="4197096"/>
            <a:ext cx="749808" cy="749808"/>
          </a:xfrm>
          <a:prstGeom prst="donut">
            <a:avLst>
              <a:gd name="adj" fmla="val 10365"/>
            </a:avLst>
          </a:prstGeom>
          <a:solidFill>
            <a:srgbClr val="FFFFFF">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lock Arc 32"/>
          <p:cNvSpPr/>
          <p:nvPr/>
        </p:nvSpPr>
        <p:spPr>
          <a:xfrm>
            <a:off x="7808975" y="4197096"/>
            <a:ext cx="749808" cy="749808"/>
          </a:xfrm>
          <a:prstGeom prst="blockArc">
            <a:avLst>
              <a:gd name="adj1" fmla="val 16200000"/>
              <a:gd name="adj2" fmla="val 10152000"/>
              <a:gd name="adj3" fmla="val 10365"/>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08975" y="4197096"/>
            <a:ext cx="749808" cy="749808"/>
          </a:xfrm>
          <a:prstGeom prst="rect">
            <a:avLst/>
          </a:prstGeom>
          <a:noFill/>
        </p:spPr>
        <p:txBody>
          <a:bodyPr wrap="square" lIns="0" rIns="0" tIns="0" bIns="0" anchor="ctr">
            <a:noAutofit/>
          </a:bodyPr>
          <a:lstStyle/>
          <a:p>
            <a:pPr algn="ctr">
              <a:spcAft>
                <a:spcPts val="0"/>
              </a:spcAft>
            </a:pPr>
            <a:r>
              <a:rPr sz="1700" b="1" i="0" lang="es-MX">
                <a:solidFill>
                  <a:srgbClr val="FBBF24"/>
                </a:solidFill>
                <a:latin typeface="Calibri"/>
              </a:rPr>
              <a:t>72</a:t>
            </a:r>
          </a:p>
        </p:txBody>
      </p:sp>
      <p:sp>
        <p:nvSpPr>
          <p:cNvPr id="35" name="TextBox 34"/>
          <p:cNvSpPr txBox="1"/>
          <p:nvPr/>
        </p:nvSpPr>
        <p:spPr>
          <a:xfrm>
            <a:off x="7635240" y="4974336"/>
            <a:ext cx="1097280" cy="256032"/>
          </a:xfrm>
          <a:prstGeom prst="rect">
            <a:avLst/>
          </a:prstGeom>
          <a:noFill/>
        </p:spPr>
        <p:txBody>
          <a:bodyPr wrap="square" lIns="0" rIns="0" tIns="0" bIns="0" anchor="t">
            <a:noAutofit/>
          </a:bodyPr>
          <a:lstStyle/>
          <a:p>
            <a:pPr algn="ctr">
              <a:spcAft>
                <a:spcPts val="0"/>
              </a:spcAft>
            </a:pPr>
            <a:r>
              <a:rPr sz="1000" b="0" i="0" lang="es-MX">
                <a:solidFill>
                  <a:srgbClr val="DDD6EE"/>
                </a:solidFill>
                <a:latin typeface="Calibri"/>
              </a:rPr>
              <a:t>Rend.</a:t>
            </a:r>
          </a:p>
        </p:txBody>
      </p:sp>
      <p:sp>
        <p:nvSpPr>
          <p:cNvPr id="36" name="Donut 35"/>
          <p:cNvSpPr/>
          <p:nvPr/>
        </p:nvSpPr>
        <p:spPr>
          <a:xfrm>
            <a:off x="8796528" y="4197096"/>
            <a:ext cx="749808" cy="749808"/>
          </a:xfrm>
          <a:prstGeom prst="donut">
            <a:avLst>
              <a:gd name="adj" fmla="val 10365"/>
            </a:avLst>
          </a:prstGeom>
          <a:solidFill>
            <a:srgbClr val="FFFFFF">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onut 36"/>
          <p:cNvSpPr/>
          <p:nvPr/>
        </p:nvSpPr>
        <p:spPr>
          <a:xfrm>
            <a:off x="8796528" y="4197096"/>
            <a:ext cx="749808" cy="749808"/>
          </a:xfrm>
          <a:prstGeom prst="donut">
            <a:avLst>
              <a:gd name="adj" fmla="val 10365"/>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96528" y="4197096"/>
            <a:ext cx="749808" cy="749808"/>
          </a:xfrm>
          <a:prstGeom prst="rect">
            <a:avLst/>
          </a:prstGeom>
          <a:noFill/>
        </p:spPr>
        <p:txBody>
          <a:bodyPr wrap="square" lIns="0" rIns="0" tIns="0" bIns="0" anchor="ctr">
            <a:noAutofit/>
          </a:bodyPr>
          <a:lstStyle/>
          <a:p>
            <a:pPr algn="ctr">
              <a:spcAft>
                <a:spcPts val="0"/>
              </a:spcAft>
            </a:pPr>
            <a:r>
              <a:rPr sz="1700" b="1" i="0" lang="es-MX">
                <a:solidFill>
                  <a:srgbClr val="34D399"/>
                </a:solidFill>
                <a:latin typeface="Calibri"/>
              </a:rPr>
              <a:t>100</a:t>
            </a:r>
          </a:p>
        </p:txBody>
      </p:sp>
      <p:sp>
        <p:nvSpPr>
          <p:cNvPr id="39" name="TextBox 38"/>
          <p:cNvSpPr txBox="1"/>
          <p:nvPr/>
        </p:nvSpPr>
        <p:spPr>
          <a:xfrm>
            <a:off x="8622792" y="4974336"/>
            <a:ext cx="1097280" cy="256032"/>
          </a:xfrm>
          <a:prstGeom prst="rect">
            <a:avLst/>
          </a:prstGeom>
          <a:noFill/>
        </p:spPr>
        <p:txBody>
          <a:bodyPr wrap="square" lIns="0" rIns="0" tIns="0" bIns="0" anchor="t">
            <a:noAutofit/>
          </a:bodyPr>
          <a:lstStyle/>
          <a:p>
            <a:pPr algn="ctr">
              <a:spcAft>
                <a:spcPts val="0"/>
              </a:spcAft>
            </a:pPr>
            <a:r>
              <a:rPr sz="1000" b="0" i="0" lang="es-MX">
                <a:solidFill>
                  <a:srgbClr val="DDD6EE"/>
                </a:solidFill>
                <a:latin typeface="Calibri"/>
              </a:rPr>
              <a:t>Accesib.</a:t>
            </a:r>
          </a:p>
        </p:txBody>
      </p:sp>
      <p:sp>
        <p:nvSpPr>
          <p:cNvPr id="40" name="Donut 39"/>
          <p:cNvSpPr/>
          <p:nvPr/>
        </p:nvSpPr>
        <p:spPr>
          <a:xfrm>
            <a:off x="9784080" y="4197096"/>
            <a:ext cx="749808" cy="749808"/>
          </a:xfrm>
          <a:prstGeom prst="donut">
            <a:avLst>
              <a:gd name="adj" fmla="val 10365"/>
            </a:avLst>
          </a:prstGeom>
          <a:solidFill>
            <a:srgbClr val="FFFFFF">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lock Arc 40"/>
          <p:cNvSpPr/>
          <p:nvPr/>
        </p:nvSpPr>
        <p:spPr>
          <a:xfrm>
            <a:off x="9784080" y="4197096"/>
            <a:ext cx="749808" cy="749808"/>
          </a:xfrm>
          <a:prstGeom prst="blockArc">
            <a:avLst>
              <a:gd name="adj1" fmla="val 16200000"/>
              <a:gd name="adj2" fmla="val 14687999"/>
              <a:gd name="adj3" fmla="val 10365"/>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84080" y="4197096"/>
            <a:ext cx="749808" cy="749808"/>
          </a:xfrm>
          <a:prstGeom prst="rect">
            <a:avLst/>
          </a:prstGeom>
          <a:noFill/>
        </p:spPr>
        <p:txBody>
          <a:bodyPr wrap="square" lIns="0" rIns="0" tIns="0" bIns="0" anchor="ctr">
            <a:noAutofit/>
          </a:bodyPr>
          <a:lstStyle/>
          <a:p>
            <a:pPr algn="ctr">
              <a:spcAft>
                <a:spcPts val="0"/>
              </a:spcAft>
            </a:pPr>
            <a:r>
              <a:rPr sz="1700" b="1" i="0" lang="es-MX">
                <a:solidFill>
                  <a:srgbClr val="34D399"/>
                </a:solidFill>
                <a:latin typeface="Calibri"/>
              </a:rPr>
              <a:t>93</a:t>
            </a:r>
          </a:p>
        </p:txBody>
      </p:sp>
      <p:sp>
        <p:nvSpPr>
          <p:cNvPr id="43" name="TextBox 42"/>
          <p:cNvSpPr txBox="1"/>
          <p:nvPr/>
        </p:nvSpPr>
        <p:spPr>
          <a:xfrm>
            <a:off x="9610344" y="4974336"/>
            <a:ext cx="1097280" cy="256032"/>
          </a:xfrm>
          <a:prstGeom prst="rect">
            <a:avLst/>
          </a:prstGeom>
          <a:noFill/>
        </p:spPr>
        <p:txBody>
          <a:bodyPr wrap="square" lIns="0" rIns="0" tIns="0" bIns="0" anchor="t">
            <a:noAutofit/>
          </a:bodyPr>
          <a:lstStyle/>
          <a:p>
            <a:pPr algn="ctr">
              <a:spcAft>
                <a:spcPts val="0"/>
              </a:spcAft>
            </a:pPr>
            <a:r>
              <a:rPr sz="1000" b="0" i="0" lang="es-MX">
                <a:solidFill>
                  <a:srgbClr val="DDD6EE"/>
                </a:solidFill>
                <a:latin typeface="Calibri"/>
              </a:rPr>
              <a:t>Buenas pr.</a:t>
            </a:r>
          </a:p>
        </p:txBody>
      </p:sp>
      <p:sp>
        <p:nvSpPr>
          <p:cNvPr id="44" name="Donut 43"/>
          <p:cNvSpPr/>
          <p:nvPr/>
        </p:nvSpPr>
        <p:spPr>
          <a:xfrm>
            <a:off x="10771632" y="4197096"/>
            <a:ext cx="749808" cy="749808"/>
          </a:xfrm>
          <a:prstGeom prst="donut">
            <a:avLst>
              <a:gd name="adj" fmla="val 10365"/>
            </a:avLst>
          </a:prstGeom>
          <a:solidFill>
            <a:srgbClr val="FFFFFF">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Donut 44"/>
          <p:cNvSpPr/>
          <p:nvPr/>
        </p:nvSpPr>
        <p:spPr>
          <a:xfrm>
            <a:off x="10771632" y="4197096"/>
            <a:ext cx="749808" cy="749808"/>
          </a:xfrm>
          <a:prstGeom prst="donut">
            <a:avLst>
              <a:gd name="adj" fmla="val 10365"/>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771632" y="4197096"/>
            <a:ext cx="749808" cy="749808"/>
          </a:xfrm>
          <a:prstGeom prst="rect">
            <a:avLst/>
          </a:prstGeom>
          <a:noFill/>
        </p:spPr>
        <p:txBody>
          <a:bodyPr wrap="square" lIns="0" rIns="0" tIns="0" bIns="0" anchor="ctr">
            <a:noAutofit/>
          </a:bodyPr>
          <a:lstStyle/>
          <a:p>
            <a:pPr algn="ctr">
              <a:spcAft>
                <a:spcPts val="0"/>
              </a:spcAft>
            </a:pPr>
            <a:r>
              <a:rPr sz="1700" b="1" i="0" lang="es-MX">
                <a:solidFill>
                  <a:srgbClr val="34D399"/>
                </a:solidFill>
                <a:latin typeface="Calibri"/>
              </a:rPr>
              <a:t>100</a:t>
            </a:r>
          </a:p>
        </p:txBody>
      </p:sp>
      <p:sp>
        <p:nvSpPr>
          <p:cNvPr id="47" name="TextBox 46"/>
          <p:cNvSpPr txBox="1"/>
          <p:nvPr/>
        </p:nvSpPr>
        <p:spPr>
          <a:xfrm>
            <a:off x="10597896" y="4974336"/>
            <a:ext cx="1097280" cy="256032"/>
          </a:xfrm>
          <a:prstGeom prst="rect">
            <a:avLst/>
          </a:prstGeom>
          <a:noFill/>
        </p:spPr>
        <p:txBody>
          <a:bodyPr wrap="square" lIns="0" rIns="0" tIns="0" bIns="0" anchor="t">
            <a:noAutofit/>
          </a:bodyPr>
          <a:lstStyle/>
          <a:p>
            <a:pPr algn="ctr">
              <a:spcAft>
                <a:spcPts val="0"/>
              </a:spcAft>
            </a:pPr>
            <a:r>
              <a:rPr sz="1000" b="0" i="0" lang="es-MX">
                <a:solidFill>
                  <a:srgbClr val="DDD6EE"/>
                </a:solidFill>
                <a:latin typeface="Calibri"/>
              </a:rPr>
              <a:t>SEO</a:t>
            </a:r>
          </a:p>
        </p:txBody>
      </p:sp>
      <p:sp>
        <p:nvSpPr>
          <p:cNvPr id="48" name="TextBox 47"/>
          <p:cNvSpPr txBox="1"/>
          <p:nvPr/>
        </p:nvSpPr>
        <p:spPr>
          <a:xfrm>
            <a:off x="7699248" y="5303520"/>
            <a:ext cx="3840480" cy="594360"/>
          </a:xfrm>
          <a:prstGeom prst="rect">
            <a:avLst/>
          </a:prstGeom>
          <a:noFill/>
        </p:spPr>
        <p:txBody>
          <a:bodyPr wrap="square" lIns="0" rIns="0" tIns="0" bIns="0" anchor="t">
            <a:noAutofit/>
          </a:bodyPr>
          <a:lstStyle/>
          <a:p>
            <a:pPr algn="l">
              <a:spcAft>
                <a:spcPts val="100"/>
              </a:spcAft>
            </a:pPr>
            <a:r>
              <a:rPr sz="1050" b="0" i="0" lang="es-MX">
                <a:solidFill>
                  <a:srgbClr val="DDD6EE"/>
                </a:solidFill>
                <a:latin typeface="Calibri"/>
              </a:rPr>
              <a:t>0 ms de bloqueo · CLS 0 · FCP 3.2 s / 3.6 s</a:t>
            </a:r>
          </a:p>
          <a:p>
            <a:pPr algn="l">
              <a:spcAft>
                <a:spcPts val="0"/>
              </a:spcAft>
            </a:pPr>
            <a:r>
              <a:rPr sz="900" b="0" i="0" lang="es-MX">
                <a:solidFill>
                  <a:srgbClr val="8E84AB"/>
                </a:solidFill>
                <a:latin typeface="Calibri"/>
              </a:rPr>
              <a:t>mediana de 3 corridas · Lighthouse 12.8.2 · móvil · 11 ago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s-MX">
                <a:solidFill>
                  <a:srgbClr val="FFFFFF"/>
                </a:solidFill>
                <a:latin typeface="Calibri Light"/>
              </a:rPr>
              <a:t>Respuestas a las preguntas de investigación</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s-MX" spc="250">
                <a:solidFill>
                  <a:srgbClr val="B57BFF"/>
                </a:solidFill>
                <a:latin typeface="Calibri"/>
              </a:rPr>
              <a:t>CONCLUSIONES</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s-MX">
                <a:solidFill>
                  <a:srgbClr val="8E84AB"/>
                </a:solidFill>
                <a:latin typeface="Calibri"/>
              </a:rPr>
              <a:t>17 / 19</a:t>
            </a:r>
          </a:p>
        </p:txBody>
      </p:sp>
      <p:sp>
        <p:nvSpPr>
          <p:cNvPr id="100" name="Visual RQ1  Viabilidad">
            <a:extLst>
              <a:ext uri="{FF2B5EF4-FFF2-40B4-BE49-F238E27FC236}">
                <a16:creationId xmlns:a16="http://schemas.microsoft.com/office/drawing/2014/main" id="{7EF5E263-48F8-4D13-9D32-8940D02E8942}"/>
              </a:ext>
            </a:extLst>
          </p:cNvPr>
          <p:cNvSpPr>
            <a:spLocks noGrp="1"/>
          </p:cNvSpPr>
          <p:nvPr/>
        </p:nvSpPr>
        <p:spPr>
          <a:xfrm>
            <a:off x="666750" y="1990725"/>
            <a:ext cx="3333750" cy="361950"/>
          </a:xfrm>
          <a:prstGeom prst="rect">
            <a:avLst/>
          </a:prstGeom>
          <a:noFill/>
          <a:ln w="0">
            <a:noFill/>
          </a:ln>
        </p:spPr>
        <p:txBody>
          <a:bodyPr anchor="t">
            <a:noAutofit/>
          </a:bodyPr>
          <a:lstStyle/>
          <a:p>
            <a:pPr algn="l">
              <a:defRPr sz="1875" b="1">
                <a:solidFill>
                  <a:srgbClr val="BD8CFF"/>
                </a:solidFill>
                <a:latin typeface="Calibri"/>
                <a:ea typeface="Calibri"/>
                <a:cs typeface="Calibri"/>
              </a:defRPr>
            </a:pPr>
            <a:r>
              <a:rPr sz="1875" b="1">
                <a:solidFill>
                  <a:srgbClr val="BD8CFF"/>
                </a:solidFill>
                <a:latin typeface="Calibri"/>
                <a:ea typeface="Calibri"/>
                <a:cs typeface="Calibri"/>
              </a:rPr>
              <a:t>RQ1  Viabilidad</a:t>
            </a:r>
          </a:p>
        </p:txBody>
      </p:sp>
      <p:sp>
        <p:nvSpPr>
          <p:cNvPr id="101" name="Visual 10 / 2 / 6">
            <a:extLst>
              <a:ext uri="{FF2B5EF4-FFF2-40B4-BE49-F238E27FC236}">
                <a16:creationId xmlns:a16="http://schemas.microsoft.com/office/drawing/2014/main" id="{D663407E-93EC-4931-8594-55450DB6E222}"/>
              </a:ext>
            </a:extLst>
          </p:cNvPr>
          <p:cNvSpPr>
            <a:spLocks noGrp="1"/>
          </p:cNvSpPr>
          <p:nvPr/>
        </p:nvSpPr>
        <p:spPr>
          <a:xfrm>
            <a:off x="666750" y="2676525"/>
            <a:ext cx="3429000" cy="809625"/>
          </a:xfrm>
          <a:prstGeom prst="rect">
            <a:avLst/>
          </a:prstGeom>
          <a:noFill/>
          <a:ln w="0">
            <a:noFill/>
          </a:ln>
        </p:spPr>
        <p:txBody>
          <a:bodyPr anchor="t">
            <a:noAutofit/>
          </a:bodyPr>
          <a:lstStyle/>
          <a:p>
            <a:pPr algn="l">
              <a:defRPr sz="3900" b="1">
                <a:solidFill>
                  <a:srgbClr val="3ED4BA"/>
                </a:solidFill>
                <a:latin typeface="Calibri"/>
                <a:ea typeface="Calibri"/>
                <a:cs typeface="Calibri"/>
              </a:defRPr>
            </a:pPr>
            <a:r>
              <a:rPr sz="3900" b="1">
                <a:solidFill>
                  <a:srgbClr val="3ED4BA"/>
                </a:solidFill>
                <a:latin typeface="Calibri"/>
                <a:ea typeface="Calibri"/>
                <a:cs typeface="Calibri"/>
              </a:rPr>
              <a:t>10 / 2 / 6</a:t>
            </a:r>
          </a:p>
        </p:txBody>
      </p:sp>
      <p:sp>
        <p:nvSpPr>
          <p:cNvPr id="102" name="Visual dimensiones / hechos / vi">
            <a:extLst>
              <a:ext uri="{FF2B5EF4-FFF2-40B4-BE49-F238E27FC236}">
                <a16:creationId xmlns:a16="http://schemas.microsoft.com/office/drawing/2014/main" id="{1CD34B6F-3075-4A80-AE1C-1A489ED9FB99}"/>
              </a:ext>
            </a:extLst>
          </p:cNvPr>
          <p:cNvSpPr>
            <a:spLocks noGrp="1"/>
          </p:cNvSpPr>
          <p:nvPr/>
        </p:nvSpPr>
        <p:spPr>
          <a:xfrm>
            <a:off x="666750" y="3524250"/>
            <a:ext cx="3333750" cy="457200"/>
          </a:xfrm>
          <a:prstGeom prst="rect">
            <a:avLst/>
          </a:prstGeom>
          <a:noFill/>
          <a:ln w="0">
            <a:noFill/>
          </a:ln>
        </p:spPr>
        <p:txBody>
          <a:bodyPr anchor="t">
            <a:noAutofit/>
          </a:bodyPr>
          <a:lstStyle/>
          <a:p>
            <a:pPr algn="l">
              <a:defRPr sz="1575" b="0">
                <a:solidFill>
                  <a:srgbClr val="CEC4DF"/>
                </a:solidFill>
                <a:latin typeface="Calibri"/>
                <a:ea typeface="Calibri"/>
                <a:cs typeface="Calibri"/>
              </a:defRPr>
            </a:pPr>
            <a:r>
              <a:rPr sz="1575" b="0">
                <a:solidFill>
                  <a:srgbClr val="CEC4DF"/>
                </a:solidFill>
                <a:latin typeface="Calibri"/>
                <a:ea typeface="Calibri"/>
                <a:cs typeface="Calibri"/>
              </a:rPr>
              <a:t>dimensiones / hechos / vistas</a:t>
            </a:r>
          </a:p>
        </p:txBody>
      </p:sp>
      <p:sp>
        <p:nvSpPr>
          <p:cNvPr id="103" name="Visual Consultas analíticas en m">
            <a:extLst>
              <a:ext uri="{FF2B5EF4-FFF2-40B4-BE49-F238E27FC236}">
                <a16:creationId xmlns:a16="http://schemas.microsoft.com/office/drawing/2014/main" id="{262A7ED9-EE57-4147-81D8-BEF81C9378B0}"/>
              </a:ext>
            </a:extLst>
          </p:cNvPr>
          <p:cNvSpPr>
            <a:spLocks noGrp="1"/>
          </p:cNvSpPr>
          <p:nvPr/>
        </p:nvSpPr>
        <p:spPr>
          <a:xfrm>
            <a:off x="666750" y="4229100"/>
            <a:ext cx="3333750" cy="1047750"/>
          </a:xfrm>
          <a:prstGeom prst="rect">
            <a:avLst/>
          </a:prstGeom>
          <a:noFill/>
          <a:ln w="0">
            <a:noFill/>
          </a:ln>
        </p:spPr>
        <p:txBody>
          <a:bodyPr anchor="t">
            <a:noAutofit/>
          </a:bodyPr>
          <a:lstStyle/>
          <a:p>
            <a:pPr algn="l">
              <a:defRPr sz="1725" b="0">
                <a:solidFill>
                  <a:srgbClr val="F7F4FF"/>
                </a:solidFill>
                <a:latin typeface="Calibri"/>
                <a:ea typeface="Calibri"/>
                <a:cs typeface="Calibri"/>
              </a:defRPr>
            </a:pPr>
            <a:r>
              <a:rPr sz="1725" b="0">
                <a:solidFill>
                  <a:srgbClr val="F7F4FF"/>
                </a:solidFill>
                <a:latin typeface="Calibri"/>
                <a:ea typeface="Calibri"/>
                <a:cs typeface="Calibri"/>
              </a:rPr>
              <a:t>Consultas analíticas en milisegundos. El límite observado está en la entrega de la API.</a:t>
            </a:r>
          </a:p>
        </p:txBody>
      </p:sp>
      <p:sp>
        <p:nvSpPr>
          <p:cNvPr id="104" name="Visual RQ2  Un solo esquema">
            <a:extLst>
              <a:ext uri="{FF2B5EF4-FFF2-40B4-BE49-F238E27FC236}">
                <a16:creationId xmlns:a16="http://schemas.microsoft.com/office/drawing/2014/main" id="{31BE16B2-D6EA-45B6-9530-DDFA2623674E}"/>
              </a:ext>
            </a:extLst>
          </p:cNvPr>
          <p:cNvSpPr>
            <a:spLocks noGrp="1"/>
          </p:cNvSpPr>
          <p:nvPr/>
        </p:nvSpPr>
        <p:spPr>
          <a:xfrm>
            <a:off x="4419600" y="1990725"/>
            <a:ext cx="3333750" cy="361950"/>
          </a:xfrm>
          <a:prstGeom prst="rect">
            <a:avLst/>
          </a:prstGeom>
          <a:noFill/>
          <a:ln w="0">
            <a:noFill/>
          </a:ln>
        </p:spPr>
        <p:txBody>
          <a:bodyPr anchor="t">
            <a:noAutofit/>
          </a:bodyPr>
          <a:lstStyle/>
          <a:p>
            <a:pPr algn="l">
              <a:defRPr sz="1875" b="1">
                <a:solidFill>
                  <a:srgbClr val="BD8CFF"/>
                </a:solidFill>
                <a:latin typeface="Calibri"/>
                <a:ea typeface="Calibri"/>
                <a:cs typeface="Calibri"/>
              </a:defRPr>
            </a:pPr>
            <a:r>
              <a:rPr sz="1875" b="1">
                <a:solidFill>
                  <a:srgbClr val="BD8CFF"/>
                </a:solidFill>
                <a:latin typeface="Calibri"/>
                <a:ea typeface="Calibri"/>
                <a:cs typeface="Calibri"/>
              </a:rPr>
              <a:t>RQ2  Un solo esquema</a:t>
            </a:r>
          </a:p>
        </p:txBody>
      </p:sp>
      <p:sp>
        <p:nvSpPr>
          <p:cNvPr id="105" name="Visual 5 SCD 2">
            <a:extLst>
              <a:ext uri="{FF2B5EF4-FFF2-40B4-BE49-F238E27FC236}">
                <a16:creationId xmlns:a16="http://schemas.microsoft.com/office/drawing/2014/main" id="{04077D37-843F-4948-804F-249DE7835DE7}"/>
              </a:ext>
            </a:extLst>
          </p:cNvPr>
          <p:cNvSpPr>
            <a:spLocks noGrp="1"/>
          </p:cNvSpPr>
          <p:nvPr/>
        </p:nvSpPr>
        <p:spPr>
          <a:xfrm>
            <a:off x="4419600" y="2676525"/>
            <a:ext cx="3429000" cy="809625"/>
          </a:xfrm>
          <a:prstGeom prst="rect">
            <a:avLst/>
          </a:prstGeom>
          <a:noFill/>
          <a:ln w="0">
            <a:noFill/>
          </a:ln>
        </p:spPr>
        <p:txBody>
          <a:bodyPr anchor="t">
            <a:noAutofit/>
          </a:bodyPr>
          <a:lstStyle/>
          <a:p>
            <a:pPr algn="l">
              <a:defRPr sz="3900" b="1">
                <a:solidFill>
                  <a:srgbClr val="3ED4BA"/>
                </a:solidFill>
                <a:latin typeface="Calibri"/>
                <a:ea typeface="Calibri"/>
                <a:cs typeface="Calibri"/>
              </a:defRPr>
            </a:pPr>
            <a:r>
              <a:rPr sz="3900" b="1">
                <a:solidFill>
                  <a:srgbClr val="3ED4BA"/>
                </a:solidFill>
                <a:latin typeface="Calibri"/>
                <a:ea typeface="Calibri"/>
                <a:cs typeface="Calibri"/>
              </a:rPr>
              <a:t>5 SCD 2</a:t>
            </a:r>
          </a:p>
        </p:txBody>
      </p:sp>
      <p:sp>
        <p:nvSpPr>
          <p:cNvPr id="106" name="Visual entidades con historia au">
            <a:extLst>
              <a:ext uri="{FF2B5EF4-FFF2-40B4-BE49-F238E27FC236}">
                <a16:creationId xmlns:a16="http://schemas.microsoft.com/office/drawing/2014/main" id="{FC704A57-4F5B-4547-8A0A-9A3206C58FBE}"/>
              </a:ext>
            </a:extLst>
          </p:cNvPr>
          <p:cNvSpPr>
            <a:spLocks noGrp="1"/>
          </p:cNvSpPr>
          <p:nvPr/>
        </p:nvSpPr>
        <p:spPr>
          <a:xfrm>
            <a:off x="4419600" y="3524250"/>
            <a:ext cx="3333750" cy="457200"/>
          </a:xfrm>
          <a:prstGeom prst="rect">
            <a:avLst/>
          </a:prstGeom>
          <a:noFill/>
          <a:ln w="0">
            <a:noFill/>
          </a:ln>
        </p:spPr>
        <p:txBody>
          <a:bodyPr anchor="t">
            <a:noAutofit/>
          </a:bodyPr>
          <a:lstStyle/>
          <a:p>
            <a:pPr algn="l">
              <a:defRPr sz="1575" b="0">
                <a:solidFill>
                  <a:srgbClr val="CEC4DF"/>
                </a:solidFill>
                <a:latin typeface="Calibri"/>
                <a:ea typeface="Calibri"/>
                <a:cs typeface="Calibri"/>
              </a:defRPr>
            </a:pPr>
            <a:r>
              <a:rPr sz="1575" b="0">
                <a:solidFill>
                  <a:srgbClr val="CEC4DF"/>
                </a:solidFill>
                <a:latin typeface="Calibri"/>
                <a:ea typeface="Calibri"/>
                <a:cs typeface="Calibri"/>
              </a:rPr>
              <a:t>entidades con historia auditable</a:t>
            </a:r>
          </a:p>
        </p:txBody>
      </p:sp>
      <p:sp>
        <p:nvSpPr>
          <p:cNvPr id="107" name="Visual Un hecho por evento y un ">
            <a:extLst>
              <a:ext uri="{FF2B5EF4-FFF2-40B4-BE49-F238E27FC236}">
                <a16:creationId xmlns:a16="http://schemas.microsoft.com/office/drawing/2014/main" id="{F112F1F5-90BA-4832-8B05-B36854D949CD}"/>
              </a:ext>
            </a:extLst>
          </p:cNvPr>
          <p:cNvSpPr>
            <a:spLocks noGrp="1"/>
          </p:cNvSpPr>
          <p:nvPr/>
        </p:nvSpPr>
        <p:spPr>
          <a:xfrm>
            <a:off x="4419600" y="4229100"/>
            <a:ext cx="3333750" cy="1047750"/>
          </a:xfrm>
          <a:prstGeom prst="rect">
            <a:avLst/>
          </a:prstGeom>
          <a:noFill/>
          <a:ln w="0">
            <a:noFill/>
          </a:ln>
        </p:spPr>
        <p:txBody>
          <a:bodyPr anchor="t">
            <a:noAutofit/>
          </a:bodyPr>
          <a:lstStyle/>
          <a:p>
            <a:pPr algn="l">
              <a:defRPr sz="1725" b="0">
                <a:solidFill>
                  <a:srgbClr val="F7F4FF"/>
                </a:solidFill>
                <a:latin typeface="Calibri"/>
                <a:ea typeface="Calibri"/>
                <a:cs typeface="Calibri"/>
              </a:defRPr>
            </a:pPr>
            <a:r>
              <a:rPr sz="1725" b="0">
                <a:solidFill>
                  <a:srgbClr val="F7F4FF"/>
                </a:solidFill>
                <a:latin typeface="Calibri"/>
                <a:ea typeface="Calibri"/>
                <a:cs typeface="Calibri"/>
              </a:rPr>
              <a:t>Un hecho por evento y un snapshot obra × mes sirven alertas, presupuesto y participación.</a:t>
            </a:r>
          </a:p>
        </p:txBody>
      </p:sp>
      <p:sp>
        <p:nvSpPr>
          <p:cNvPr id="108" name="Visual RQ3  Alcance de la regla">
            <a:extLst>
              <a:ext uri="{FF2B5EF4-FFF2-40B4-BE49-F238E27FC236}">
                <a16:creationId xmlns:a16="http://schemas.microsoft.com/office/drawing/2014/main" id="{B6F82819-F0F1-4626-A663-EE2BA3A34CA4}"/>
              </a:ext>
            </a:extLst>
          </p:cNvPr>
          <p:cNvSpPr>
            <a:spLocks noGrp="1"/>
          </p:cNvSpPr>
          <p:nvPr/>
        </p:nvSpPr>
        <p:spPr>
          <a:xfrm>
            <a:off x="8172450" y="1990725"/>
            <a:ext cx="3333750" cy="361950"/>
          </a:xfrm>
          <a:prstGeom prst="rect">
            <a:avLst/>
          </a:prstGeom>
          <a:noFill/>
          <a:ln w="0">
            <a:noFill/>
          </a:ln>
        </p:spPr>
        <p:txBody>
          <a:bodyPr anchor="t">
            <a:noAutofit/>
          </a:bodyPr>
          <a:lstStyle/>
          <a:p>
            <a:pPr algn="l">
              <a:defRPr sz="1875" b="1">
                <a:solidFill>
                  <a:srgbClr val="BD8CFF"/>
                </a:solidFill>
                <a:latin typeface="Calibri"/>
                <a:ea typeface="Calibri"/>
                <a:cs typeface="Calibri"/>
              </a:defRPr>
            </a:pPr>
            <a:r>
              <a:rPr sz="1875" b="1">
                <a:solidFill>
                  <a:srgbClr val="BD8CFF"/>
                </a:solidFill>
                <a:latin typeface="Calibri"/>
                <a:ea typeface="Calibri"/>
                <a:cs typeface="Calibri"/>
              </a:rPr>
              <a:t>RQ3  Alcance de la regla</a:t>
            </a:r>
          </a:p>
        </p:txBody>
      </p:sp>
      <p:sp>
        <p:nvSpPr>
          <p:cNvPr id="109" name="Visual 0.46 / 0.35">
            <a:extLst>
              <a:ext uri="{FF2B5EF4-FFF2-40B4-BE49-F238E27FC236}">
                <a16:creationId xmlns:a16="http://schemas.microsoft.com/office/drawing/2014/main" id="{E04228CD-B4E0-44D2-9E08-8466A8BC0F9E}"/>
              </a:ext>
            </a:extLst>
          </p:cNvPr>
          <p:cNvSpPr>
            <a:spLocks noGrp="1"/>
          </p:cNvSpPr>
          <p:nvPr/>
        </p:nvSpPr>
        <p:spPr>
          <a:xfrm>
            <a:off x="8172450" y="2676525"/>
            <a:ext cx="3429000" cy="809625"/>
          </a:xfrm>
          <a:prstGeom prst="rect">
            <a:avLst/>
          </a:prstGeom>
          <a:noFill/>
          <a:ln w="0">
            <a:noFill/>
          </a:ln>
        </p:spPr>
        <p:txBody>
          <a:bodyPr anchor="t">
            <a:noAutofit/>
          </a:bodyPr>
          <a:lstStyle/>
          <a:p>
            <a:pPr algn="l">
              <a:defRPr sz="3900" b="1">
                <a:solidFill>
                  <a:srgbClr val="F4C259"/>
                </a:solidFill>
                <a:latin typeface="Calibri"/>
                <a:ea typeface="Calibri"/>
                <a:cs typeface="Calibri"/>
              </a:defRPr>
            </a:pPr>
            <a:r>
              <a:rPr sz="3900" b="1">
                <a:solidFill>
                  <a:srgbClr val="F4C259"/>
                </a:solidFill>
                <a:latin typeface="Calibri"/>
                <a:ea typeface="Calibri"/>
                <a:cs typeface="Calibri"/>
              </a:rPr>
              <a:t>0.46 / 0.35</a:t>
            </a:r>
          </a:p>
        </p:txBody>
      </p:sp>
      <p:sp>
        <p:nvSpPr>
          <p:cNvPr id="110" name="Visual precisión / exhaustividad">
            <a:extLst>
              <a:ext uri="{FF2B5EF4-FFF2-40B4-BE49-F238E27FC236}">
                <a16:creationId xmlns:a16="http://schemas.microsoft.com/office/drawing/2014/main" id="{61C2856B-CD69-4198-AAFB-750254887747}"/>
              </a:ext>
            </a:extLst>
          </p:cNvPr>
          <p:cNvSpPr>
            <a:spLocks noGrp="1"/>
          </p:cNvSpPr>
          <p:nvPr/>
        </p:nvSpPr>
        <p:spPr>
          <a:xfrm>
            <a:off x="8172450" y="3524250"/>
            <a:ext cx="3333750" cy="457200"/>
          </a:xfrm>
          <a:prstGeom prst="rect">
            <a:avLst/>
          </a:prstGeom>
          <a:noFill/>
          <a:ln w="0">
            <a:noFill/>
          </a:ln>
        </p:spPr>
        <p:txBody>
          <a:bodyPr anchor="t">
            <a:noAutofit/>
          </a:bodyPr>
          <a:lstStyle/>
          <a:p>
            <a:pPr algn="l">
              <a:defRPr sz="1575" b="0">
                <a:solidFill>
                  <a:srgbClr val="CEC4DF"/>
                </a:solidFill>
                <a:latin typeface="Calibri"/>
                <a:ea typeface="Calibri"/>
                <a:cs typeface="Calibri"/>
              </a:defRPr>
            </a:pPr>
            <a:r>
              <a:rPr sz="1575" b="0">
                <a:solidFill>
                  <a:srgbClr val="CEC4DF"/>
                </a:solidFill>
                <a:latin typeface="Calibri"/>
                <a:ea typeface="Calibri"/>
                <a:cs typeface="Calibri"/>
              </a:rPr>
              <a:t>precisión / exhaustividad</a:t>
            </a:r>
          </a:p>
        </p:txBody>
      </p:sp>
      <p:sp>
        <p:nvSpPr>
          <p:cNvPr id="111" name="Visual Ventaja con el mismo núme">
            <a:extLst>
              <a:ext uri="{FF2B5EF4-FFF2-40B4-BE49-F238E27FC236}">
                <a16:creationId xmlns:a16="http://schemas.microsoft.com/office/drawing/2014/main" id="{A833038D-0FEA-4272-8FEF-36098D438D24}"/>
              </a:ext>
            </a:extLst>
          </p:cNvPr>
          <p:cNvSpPr>
            <a:spLocks noGrp="1"/>
          </p:cNvSpPr>
          <p:nvPr/>
        </p:nvSpPr>
        <p:spPr>
          <a:xfrm>
            <a:off x="8172450" y="4229100"/>
            <a:ext cx="3333750" cy="1047750"/>
          </a:xfrm>
          <a:prstGeom prst="rect">
            <a:avLst/>
          </a:prstGeom>
          <a:noFill/>
          <a:ln w="0">
            <a:noFill/>
          </a:ln>
        </p:spPr>
        <p:txBody>
          <a:bodyPr anchor="t">
            <a:noAutofit/>
          </a:bodyPr>
          <a:lstStyle/>
          <a:p>
            <a:pPr algn="l">
              <a:defRPr sz="1725" b="0">
                <a:solidFill>
                  <a:srgbClr val="F7F4FF"/>
                </a:solidFill>
                <a:latin typeface="Calibri"/>
                <a:ea typeface="Calibri"/>
                <a:cs typeface="Calibri"/>
              </a:defRPr>
            </a:pPr>
            <a:r>
              <a:rPr sz="1725" b="0">
                <a:solidFill>
                  <a:srgbClr val="F7F4FF"/>
                </a:solidFill>
                <a:latin typeface="Calibri"/>
                <a:ea typeface="Calibri"/>
                <a:cs typeface="Calibri"/>
              </a:rPr>
              <a:t>Ventaja con el mismo número de alertas. Isolation Forest obtiene mejores AUC.</a:t>
            </a:r>
          </a:p>
        </p:txBody>
      </p:sp>
      <p:sp>
        <p:nvSpPr>
          <p:cNvPr id="112" name="Visual Validación con carga sint">
            <a:extLst>
              <a:ext uri="{FF2B5EF4-FFF2-40B4-BE49-F238E27FC236}">
                <a16:creationId xmlns:a16="http://schemas.microsoft.com/office/drawing/2014/main" id="{CE512590-3982-4841-87A9-B5A813B70BF9}"/>
              </a:ext>
            </a:extLst>
          </p:cNvPr>
          <p:cNvSpPr>
            <a:spLocks noGrp="1"/>
          </p:cNvSpPr>
          <p:nvPr/>
        </p:nvSpPr>
        <p:spPr>
          <a:xfrm>
            <a:off x="666750" y="5591175"/>
            <a:ext cx="10810875" cy="457200"/>
          </a:xfrm>
          <a:prstGeom prst="rect">
            <a:avLst/>
          </a:prstGeom>
          <a:noFill/>
          <a:ln w="0">
            <a:noFill/>
          </a:ln>
        </p:spPr>
        <p:txBody>
          <a:bodyPr anchor="t">
            <a:noAutofit/>
          </a:bodyPr>
          <a:lstStyle/>
          <a:p>
            <a:pPr algn="l">
              <a:defRPr sz="1575" b="0">
                <a:solidFill>
                  <a:srgbClr val="F4C259"/>
                </a:solidFill>
                <a:latin typeface="Calibri"/>
                <a:ea typeface="Calibri"/>
                <a:cs typeface="Calibri"/>
              </a:defRPr>
            </a:pPr>
            <a:r>
              <a:rPr sz="1575" b="0">
                <a:solidFill>
                  <a:srgbClr val="F4C259"/>
                </a:solidFill>
                <a:latin typeface="Calibri"/>
                <a:ea typeface="Calibri"/>
                <a:cs typeface="Calibri"/>
              </a:rPr>
              <a:t>Validación con carga sintética en un stack de referencia. Sin validación con registros municipales reales.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s-MX">
                <a:solidFill>
                  <a:srgbClr val="FFFFFF"/>
                </a:solidFill>
                <a:latin typeface="Calibri Light"/>
              </a:rPr>
              <a:t>Limitaciones, y el camino hacia un lakehouse</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s-MX" spc="250">
                <a:solidFill>
                  <a:srgbClr val="B57BFF"/>
                </a:solidFill>
                <a:latin typeface="Calibri"/>
              </a:rPr>
              <a:t>TRABAJO FUTURO</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s-MX">
                <a:solidFill>
                  <a:srgbClr val="8E84AB"/>
                </a:solidFill>
                <a:latin typeface="Calibri"/>
              </a:rPr>
              <a:t>18 / 19</a:t>
            </a:r>
          </a:p>
        </p:txBody>
      </p:sp>
      <p:pic>
        <p:nvPicPr>
          <p:cNvPr id="100" name="Picture 100" descr="Embedded illustration or system screenshot"/>
          <p:cNvPicPr>
            <a:picLocks noChangeAspect="1"/>
          </p:cNvPicPr>
          <p:nvPr/>
        </p:nvPicPr>
        <p:blipFill>
          <a:blip r:embed="rId16"/>
          <a:srcRect l="0" r="66667" t="0" b="0"/>
          <a:stretch>
            <a:fillRect/>
          </a:stretch>
        </p:blipFill>
        <p:spPr>
          <a:xfrm>
            <a:off x="1428750" y="1714500"/>
            <a:ext cx="1809750" cy="1809750"/>
          </a:xfrm>
          <a:prstGeom prst="rect">
            <a:avLst/>
          </a:prstGeom>
        </p:spPr>
      </p:pic>
      <p:pic>
        <p:nvPicPr>
          <p:cNvPr id="101" name="Picture 101" descr="Embedded illustration or system screenshot"/>
          <p:cNvPicPr>
            <a:picLocks noChangeAspect="1"/>
          </p:cNvPicPr>
          <p:nvPr/>
        </p:nvPicPr>
        <p:blipFill>
          <a:blip r:embed="rId17"/>
          <a:srcRect l="33333" r="33333" t="0" b="0"/>
          <a:stretch>
            <a:fillRect/>
          </a:stretch>
        </p:blipFill>
        <p:spPr>
          <a:xfrm>
            <a:off x="5181600" y="1714500"/>
            <a:ext cx="1809750" cy="1809750"/>
          </a:xfrm>
          <a:prstGeom prst="rect">
            <a:avLst/>
          </a:prstGeom>
        </p:spPr>
      </p:pic>
      <p:pic>
        <p:nvPicPr>
          <p:cNvPr id="102" name="Picture 102" descr="Embedded illustration or system screenshot"/>
          <p:cNvPicPr>
            <a:picLocks noChangeAspect="1"/>
          </p:cNvPicPr>
          <p:nvPr/>
        </p:nvPicPr>
        <p:blipFill>
          <a:blip r:embed="rId18"/>
          <a:srcRect l="66667" r="0" t="0" b="0"/>
          <a:stretch>
            <a:fillRect/>
          </a:stretch>
        </p:blipFill>
        <p:spPr>
          <a:xfrm>
            <a:off x="8934450" y="1714500"/>
            <a:ext cx="1809750" cy="1809750"/>
          </a:xfrm>
          <a:prstGeom prst="rect">
            <a:avLst/>
          </a:prstGeom>
        </p:spPr>
      </p:pic>
      <p:sp>
        <p:nvSpPr>
          <p:cNvPr id="103" name="Visual HOY  Almacén + evidencia">
            <a:extLst>
              <a:ext uri="{FF2B5EF4-FFF2-40B4-BE49-F238E27FC236}">
                <a16:creationId xmlns:a16="http://schemas.microsoft.com/office/drawing/2014/main" id="{737C71CD-72CB-41D1-BA66-65CDDF0DEEDE}"/>
              </a:ext>
            </a:extLst>
          </p:cNvPr>
          <p:cNvSpPr>
            <a:spLocks noGrp="1"/>
          </p:cNvSpPr>
          <p:nvPr/>
        </p:nvSpPr>
        <p:spPr>
          <a:xfrm>
            <a:off x="666750" y="3657600"/>
            <a:ext cx="3381375" cy="285750"/>
          </a:xfrm>
          <a:prstGeom prst="rect">
            <a:avLst/>
          </a:prstGeom>
          <a:noFill/>
          <a:ln w="0">
            <a:noFill/>
          </a:ln>
        </p:spPr>
        <p:txBody>
          <a:bodyPr anchor="t">
            <a:noAutofit/>
          </a:bodyPr>
          <a:lstStyle/>
          <a:p>
            <a:pPr algn="l">
              <a:defRPr sz="1650" b="1">
                <a:solidFill>
                  <a:srgbClr val="BD8CFF"/>
                </a:solidFill>
                <a:latin typeface="Calibri"/>
                <a:ea typeface="Calibri"/>
                <a:cs typeface="Calibri"/>
              </a:defRPr>
            </a:pPr>
            <a:r>
              <a:rPr sz="1650" b="1">
                <a:solidFill>
                  <a:srgbClr val="BD8CFF"/>
                </a:solidFill>
                <a:latin typeface="Calibri"/>
                <a:ea typeface="Calibri"/>
                <a:cs typeface="Calibri"/>
              </a:rPr>
              <a:t>HOY  Almacén + evidencia</a:t>
            </a:r>
          </a:p>
        </p:txBody>
      </p:sp>
      <p:sp>
        <p:nvSpPr>
          <p:cNvPr id="104" name="Visual PostgreSQL y binarios en ">
            <a:extLst>
              <a:ext uri="{FF2B5EF4-FFF2-40B4-BE49-F238E27FC236}">
                <a16:creationId xmlns:a16="http://schemas.microsoft.com/office/drawing/2014/main" id="{7F854908-D618-47C8-A20E-44EE793DC24C}"/>
              </a:ext>
            </a:extLst>
          </p:cNvPr>
          <p:cNvSpPr>
            <a:spLocks noGrp="1"/>
          </p:cNvSpPr>
          <p:nvPr/>
        </p:nvSpPr>
        <p:spPr>
          <a:xfrm>
            <a:off x="666750" y="4048125"/>
            <a:ext cx="3333750" cy="704850"/>
          </a:xfrm>
          <a:prstGeom prst="rect">
            <a:avLst/>
          </a:prstGeom>
          <a:noFill/>
          <a:ln w="0">
            <a:noFill/>
          </a:ln>
        </p:spPr>
        <p:txBody>
          <a:bodyPr anchor="t">
            <a:noAutofit/>
          </a:bodyPr>
          <a:lstStyle/>
          <a:p>
            <a:pPr algn="l">
              <a:defRPr sz="1425" b="0">
                <a:solidFill>
                  <a:srgbClr val="F7F4FF"/>
                </a:solidFill>
                <a:latin typeface="Calibri"/>
                <a:ea typeface="Calibri"/>
                <a:cs typeface="Calibri"/>
              </a:defRPr>
            </a:pPr>
            <a:r>
              <a:rPr sz="1425" b="0">
                <a:solidFill>
                  <a:srgbClr val="F7F4FF"/>
                </a:solidFill>
                <a:latin typeface="Calibri"/>
                <a:ea typeface="Calibri"/>
                <a:cs typeface="Calibri"/>
              </a:rPr>
              <a:t>PostgreSQL y binarios en R2.</a:t>
            </a:r>
          </a:p>
          <a:p>
            <a:pPr algn="l">
              <a:defRPr sz="1425" b="0">
                <a:solidFill>
                  <a:srgbClr val="F7F4FF"/>
                </a:solidFill>
                <a:latin typeface="Calibri"/>
                <a:ea typeface="Calibri"/>
                <a:cs typeface="Calibri"/>
              </a:defRPr>
            </a:pPr>
            <a:r>
              <a:rPr sz="1425" b="0">
                <a:solidFill>
                  <a:srgbClr val="F7F4FF"/>
                </a:solidFill>
                <a:latin typeface="Calibri"/>
                <a:ea typeface="Calibri"/>
                <a:cs typeface="Calibri"/>
              </a:rPr>
              <a:t>El almacén de objetos aún no se consulta.</a:t>
            </a:r>
          </a:p>
        </p:txBody>
      </p:sp>
      <p:sp>
        <p:nvSpPr>
          <p:cNvPr id="105" name="Visual SIGUIENTE  Lakehouse">
            <a:extLst>
              <a:ext uri="{FF2B5EF4-FFF2-40B4-BE49-F238E27FC236}">
                <a16:creationId xmlns:a16="http://schemas.microsoft.com/office/drawing/2014/main" id="{0567C562-9180-49C2-B87D-6531256A1752}"/>
              </a:ext>
            </a:extLst>
          </p:cNvPr>
          <p:cNvSpPr>
            <a:spLocks noGrp="1"/>
          </p:cNvSpPr>
          <p:nvPr/>
        </p:nvSpPr>
        <p:spPr>
          <a:xfrm>
            <a:off x="4419600" y="3657600"/>
            <a:ext cx="3381375" cy="285750"/>
          </a:xfrm>
          <a:prstGeom prst="rect">
            <a:avLst/>
          </a:prstGeom>
          <a:noFill/>
          <a:ln w="0">
            <a:noFill/>
          </a:ln>
        </p:spPr>
        <p:txBody>
          <a:bodyPr anchor="t">
            <a:noAutofit/>
          </a:bodyPr>
          <a:lstStyle/>
          <a:p>
            <a:pPr algn="l">
              <a:defRPr sz="1650" b="1">
                <a:solidFill>
                  <a:srgbClr val="BD8CFF"/>
                </a:solidFill>
                <a:latin typeface="Calibri"/>
                <a:ea typeface="Calibri"/>
                <a:cs typeface="Calibri"/>
              </a:defRPr>
            </a:pPr>
            <a:r>
              <a:rPr sz="1650" b="1">
                <a:solidFill>
                  <a:srgbClr val="BD8CFF"/>
                </a:solidFill>
                <a:latin typeface="Calibri"/>
                <a:ea typeface="Calibri"/>
                <a:cs typeface="Calibri"/>
              </a:rPr>
              <a:t>SIGUIENTE  Lakehouse</a:t>
            </a:r>
          </a:p>
        </p:txBody>
      </p:sp>
      <p:sp>
        <p:nvSpPr>
          <p:cNvPr id="106" name="Visual Iceberg o Parquet con met">
            <a:extLst>
              <a:ext uri="{FF2B5EF4-FFF2-40B4-BE49-F238E27FC236}">
                <a16:creationId xmlns:a16="http://schemas.microsoft.com/office/drawing/2014/main" id="{35661297-4171-437E-AB53-C32CD1E0A4B8}"/>
              </a:ext>
            </a:extLst>
          </p:cNvPr>
          <p:cNvSpPr>
            <a:spLocks noGrp="1"/>
          </p:cNvSpPr>
          <p:nvPr/>
        </p:nvSpPr>
        <p:spPr>
          <a:xfrm>
            <a:off x="4419600" y="4048125"/>
            <a:ext cx="3333750" cy="704850"/>
          </a:xfrm>
          <a:prstGeom prst="rect">
            <a:avLst/>
          </a:prstGeom>
          <a:noFill/>
          <a:ln w="0">
            <a:noFill/>
          </a:ln>
        </p:spPr>
        <p:txBody>
          <a:bodyPr anchor="t">
            <a:noAutofit/>
          </a:bodyPr>
          <a:lstStyle/>
          <a:p>
            <a:pPr algn="l">
              <a:defRPr sz="1425" b="0">
                <a:solidFill>
                  <a:srgbClr val="F7F4FF"/>
                </a:solidFill>
                <a:latin typeface="Calibri"/>
                <a:ea typeface="Calibri"/>
                <a:cs typeface="Calibri"/>
              </a:defRPr>
            </a:pPr>
            <a:r>
              <a:rPr sz="1425" b="0">
                <a:solidFill>
                  <a:srgbClr val="F7F4FF"/>
                </a:solidFill>
                <a:latin typeface="Calibri"/>
                <a:ea typeface="Calibri"/>
                <a:cs typeface="Calibri"/>
              </a:rPr>
              <a:t>Iceberg o Parquet con metadatos transaccionales en R2. DuckDB o Trino.</a:t>
            </a:r>
          </a:p>
        </p:txBody>
      </p:sp>
      <p:sp>
        <p:nvSpPr>
          <p:cNvPr id="107" name="Visual DESPUÉS  Interoperabilida">
            <a:extLst>
              <a:ext uri="{FF2B5EF4-FFF2-40B4-BE49-F238E27FC236}">
                <a16:creationId xmlns:a16="http://schemas.microsoft.com/office/drawing/2014/main" id="{D0A052E1-1C55-4DC5-9703-295E162ED4B4}"/>
              </a:ext>
            </a:extLst>
          </p:cNvPr>
          <p:cNvSpPr>
            <a:spLocks noGrp="1"/>
          </p:cNvSpPr>
          <p:nvPr/>
        </p:nvSpPr>
        <p:spPr>
          <a:xfrm>
            <a:off x="8172450" y="3657600"/>
            <a:ext cx="3381375" cy="285750"/>
          </a:xfrm>
          <a:prstGeom prst="rect">
            <a:avLst/>
          </a:prstGeom>
          <a:noFill/>
          <a:ln w="0">
            <a:noFill/>
          </a:ln>
        </p:spPr>
        <p:txBody>
          <a:bodyPr anchor="t">
            <a:noAutofit/>
          </a:bodyPr>
          <a:lstStyle/>
          <a:p>
            <a:pPr algn="l">
              <a:defRPr sz="1650" b="1">
                <a:solidFill>
                  <a:srgbClr val="3ED4BA"/>
                </a:solidFill>
                <a:latin typeface="Calibri"/>
                <a:ea typeface="Calibri"/>
                <a:cs typeface="Calibri"/>
              </a:defRPr>
            </a:pPr>
            <a:r>
              <a:rPr sz="1650" b="1">
                <a:solidFill>
                  <a:srgbClr val="3ED4BA"/>
                </a:solidFill>
                <a:latin typeface="Calibri"/>
                <a:ea typeface="Calibri"/>
                <a:cs typeface="Calibri"/>
              </a:rPr>
              <a:t>DESPUÉS  Interoperabilidad</a:t>
            </a:r>
          </a:p>
        </p:txBody>
      </p:sp>
      <p:sp>
        <p:nvSpPr>
          <p:cNvPr id="108" name="Visual Vocabulario OWL y publica">
            <a:extLst>
              <a:ext uri="{FF2B5EF4-FFF2-40B4-BE49-F238E27FC236}">
                <a16:creationId xmlns:a16="http://schemas.microsoft.com/office/drawing/2014/main" id="{C6C58FEB-771E-4F63-B3AA-47DDA8759F64}"/>
              </a:ext>
            </a:extLst>
          </p:cNvPr>
          <p:cNvSpPr>
            <a:spLocks noGrp="1"/>
          </p:cNvSpPr>
          <p:nvPr/>
        </p:nvSpPr>
        <p:spPr>
          <a:xfrm>
            <a:off x="8172450" y="4048125"/>
            <a:ext cx="3333750" cy="704850"/>
          </a:xfrm>
          <a:prstGeom prst="rect">
            <a:avLst/>
          </a:prstGeom>
          <a:noFill/>
          <a:ln w="0">
            <a:noFill/>
          </a:ln>
        </p:spPr>
        <p:txBody>
          <a:bodyPr anchor="t">
            <a:noAutofit/>
          </a:bodyPr>
          <a:lstStyle/>
          <a:p>
            <a:pPr algn="l">
              <a:defRPr sz="1425" b="0">
                <a:solidFill>
                  <a:srgbClr val="F7F4FF"/>
                </a:solidFill>
                <a:latin typeface="Calibri"/>
                <a:ea typeface="Calibri"/>
                <a:cs typeface="Calibri"/>
              </a:defRPr>
            </a:pPr>
            <a:r>
              <a:rPr sz="1425" b="0">
                <a:solidFill>
                  <a:srgbClr val="F7F4FF"/>
                </a:solidFill>
                <a:latin typeface="Calibri"/>
                <a:ea typeface="Calibri"/>
                <a:cs typeface="Calibri"/>
              </a:rPr>
              <a:t>Vocabulario OWL y publicación de datos conforme a OC4IDS.</a:t>
            </a:r>
          </a:p>
        </p:txBody>
      </p:sp>
      <p:sp>
        <p:nvSpPr>
          <p:cNvPr id="109" name="Visual Límites actuales">
            <a:extLst>
              <a:ext uri="{FF2B5EF4-FFF2-40B4-BE49-F238E27FC236}">
                <a16:creationId xmlns:a16="http://schemas.microsoft.com/office/drawing/2014/main" id="{D8BAF215-079B-4136-8908-E867B1007C79}"/>
              </a:ext>
            </a:extLst>
          </p:cNvPr>
          <p:cNvSpPr>
            <a:spLocks noGrp="1"/>
          </p:cNvSpPr>
          <p:nvPr/>
        </p:nvSpPr>
        <p:spPr>
          <a:xfrm>
            <a:off x="666750" y="4867275"/>
            <a:ext cx="5172075" cy="285750"/>
          </a:xfrm>
          <a:prstGeom prst="rect">
            <a:avLst/>
          </a:prstGeom>
          <a:noFill/>
          <a:ln w="0">
            <a:noFill/>
          </a:ln>
        </p:spPr>
        <p:txBody>
          <a:bodyPr anchor="t">
            <a:noAutofit/>
          </a:bodyPr>
          <a:lstStyle/>
          <a:p>
            <a:pPr algn="l">
              <a:defRPr sz="1650" b="1">
                <a:solidFill>
                  <a:srgbClr val="F4C259"/>
                </a:solidFill>
                <a:latin typeface="Calibri"/>
                <a:ea typeface="Calibri"/>
                <a:cs typeface="Calibri"/>
              </a:defRPr>
            </a:pPr>
            <a:r>
              <a:rPr sz="1650" b="1">
                <a:solidFill>
                  <a:srgbClr val="F4C259"/>
                </a:solidFill>
                <a:latin typeface="Calibri"/>
                <a:ea typeface="Calibri"/>
                <a:cs typeface="Calibri"/>
              </a:rPr>
              <a:t>Límites actuales</a:t>
            </a:r>
          </a:p>
        </p:txBody>
      </p:sp>
      <p:sp>
        <p:nvSpPr>
          <p:cNvPr id="110" name="Visual Datos sintéticos y demo e">
            <a:extLst>
              <a:ext uri="{FF2B5EF4-FFF2-40B4-BE49-F238E27FC236}">
                <a16:creationId xmlns:a16="http://schemas.microsoft.com/office/drawing/2014/main" id="{6E3C98E9-4263-415A-8AD8-99CAC874E094}"/>
              </a:ext>
            </a:extLst>
          </p:cNvPr>
          <p:cNvSpPr>
            <a:spLocks noGrp="1"/>
          </p:cNvSpPr>
          <p:nvPr/>
        </p:nvSpPr>
        <p:spPr>
          <a:xfrm>
            <a:off x="666750" y="5219700"/>
            <a:ext cx="5172075" cy="638175"/>
          </a:xfrm>
          <a:prstGeom prst="rect">
            <a:avLst/>
          </a:prstGeom>
          <a:noFill/>
          <a:ln w="0">
            <a:noFill/>
          </a:ln>
        </p:spPr>
        <p:txBody>
          <a:bodyPr anchor="t">
            <a:noAutofit/>
          </a:bodyPr>
          <a:lstStyle/>
          <a:p>
            <a:pPr algn="l">
              <a:defRPr sz="1425" b="0">
                <a:solidFill>
                  <a:srgbClr val="CEC4DF"/>
                </a:solidFill>
                <a:latin typeface="Calibri"/>
                <a:ea typeface="Calibri"/>
                <a:cs typeface="Calibri"/>
              </a:defRPr>
            </a:pPr>
            <a:r>
              <a:rPr sz="1425" b="0">
                <a:solidFill>
                  <a:srgbClr val="CEC4DF"/>
                </a:solidFill>
                <a:latin typeface="Calibri"/>
                <a:ea typeface="Calibri"/>
                <a:cs typeface="Calibri"/>
              </a:rPr>
              <a:t>Datos sintéticos y demo estática. Lecturas del mapa separadas del DW. Acceso ligero y voto simple.</a:t>
            </a:r>
          </a:p>
        </p:txBody>
      </p:sp>
      <p:sp>
        <p:nvSpPr>
          <p:cNvPr id="111" name="Visual Validación y mejoras pend">
            <a:extLst>
              <a:ext uri="{FF2B5EF4-FFF2-40B4-BE49-F238E27FC236}">
                <a16:creationId xmlns:a16="http://schemas.microsoft.com/office/drawing/2014/main" id="{C6119FF9-1252-460D-B2C2-035D64D80647}"/>
              </a:ext>
            </a:extLst>
          </p:cNvPr>
          <p:cNvSpPr>
            <a:spLocks noGrp="1"/>
          </p:cNvSpPr>
          <p:nvPr/>
        </p:nvSpPr>
        <p:spPr>
          <a:xfrm>
            <a:off x="6286500" y="4867275"/>
            <a:ext cx="5334000" cy="285750"/>
          </a:xfrm>
          <a:prstGeom prst="rect">
            <a:avLst/>
          </a:prstGeom>
          <a:noFill/>
          <a:ln w="0">
            <a:noFill/>
          </a:ln>
        </p:spPr>
        <p:txBody>
          <a:bodyPr anchor="t">
            <a:noAutofit/>
          </a:bodyPr>
          <a:lstStyle/>
          <a:p>
            <a:pPr algn="l">
              <a:defRPr sz="1650" b="1">
                <a:solidFill>
                  <a:srgbClr val="BD8CFF"/>
                </a:solidFill>
                <a:latin typeface="Calibri"/>
                <a:ea typeface="Calibri"/>
                <a:cs typeface="Calibri"/>
              </a:defRPr>
            </a:pPr>
            <a:r>
              <a:rPr sz="1650" b="1">
                <a:solidFill>
                  <a:srgbClr val="BD8CFF"/>
                </a:solidFill>
                <a:latin typeface="Calibri"/>
                <a:ea typeface="Calibri"/>
                <a:cs typeface="Calibri"/>
              </a:rPr>
              <a:t>Validación y mejoras pendientes</a:t>
            </a:r>
          </a:p>
        </p:txBody>
      </p:sp>
      <p:sp>
        <p:nvSpPr>
          <p:cNvPr id="112" name="Visual Costo por tipo de obra, s">
            <a:extLst>
              <a:ext uri="{FF2B5EF4-FFF2-40B4-BE49-F238E27FC236}">
                <a16:creationId xmlns:a16="http://schemas.microsoft.com/office/drawing/2014/main" id="{217C7090-B889-4DA4-A062-8065209083C8}"/>
              </a:ext>
            </a:extLst>
          </p:cNvPr>
          <p:cNvSpPr>
            <a:spLocks noGrp="1"/>
          </p:cNvSpPr>
          <p:nvPr/>
        </p:nvSpPr>
        <p:spPr>
          <a:xfrm>
            <a:off x="6286500" y="5219700"/>
            <a:ext cx="5334000" cy="638175"/>
          </a:xfrm>
          <a:prstGeom prst="rect">
            <a:avLst/>
          </a:prstGeom>
          <a:noFill/>
          <a:ln w="0">
            <a:noFill/>
          </a:ln>
        </p:spPr>
        <p:txBody>
          <a:bodyPr anchor="t">
            <a:noAutofit/>
          </a:bodyPr>
          <a:lstStyle/>
          <a:p>
            <a:pPr algn="l">
              <a:defRPr sz="1425" b="0">
                <a:solidFill>
                  <a:srgbClr val="CEC4DF"/>
                </a:solidFill>
                <a:latin typeface="Calibri"/>
                <a:ea typeface="Calibri"/>
                <a:cs typeface="Calibri"/>
              </a:defRPr>
            </a:pPr>
            <a:r>
              <a:rPr sz="1425" b="0">
                <a:solidFill>
                  <a:srgbClr val="CEC4DF"/>
                </a:solidFill>
                <a:latin typeface="Calibri"/>
                <a:ea typeface="Calibri"/>
                <a:cs typeface="Calibri"/>
              </a:rPr>
              <a:t>Costo por tipo de obra, seguridad y validación municipal. Visión por computadora, pronóstico y voto cuadrático.</a:t>
            </a:r>
          </a:p>
        </p:txBody>
      </p:sp>
      <p:sp>
        <p:nvSpPr>
          <p:cNvPr id="113" name="Visual Ruta propuesta. Ilustraci">
            <a:extLst>
              <a:ext uri="{FF2B5EF4-FFF2-40B4-BE49-F238E27FC236}">
                <a16:creationId xmlns:a16="http://schemas.microsoft.com/office/drawing/2014/main" id="{4651AED6-D4F9-46B9-9C64-AE838BB3B400}"/>
              </a:ext>
            </a:extLst>
          </p:cNvPr>
          <p:cNvSpPr>
            <a:spLocks noGrp="1"/>
          </p:cNvSpPr>
          <p:nvPr/>
        </p:nvSpPr>
        <p:spPr>
          <a:xfrm>
            <a:off x="666750" y="5962650"/>
            <a:ext cx="10477500" cy="171450"/>
          </a:xfrm>
          <a:prstGeom prst="rect">
            <a:avLst/>
          </a:prstGeom>
          <a:noFill/>
          <a:ln w="0">
            <a:noFill/>
          </a:ln>
        </p:spPr>
        <p:txBody>
          <a:bodyPr anchor="t">
            <a:noAutofit/>
          </a:bodyPr>
          <a:lstStyle/>
          <a:p>
            <a:pPr algn="l">
              <a:defRPr sz="825" b="0">
                <a:solidFill>
                  <a:srgbClr val="CEC4DF"/>
                </a:solidFill>
                <a:latin typeface="Calibri"/>
                <a:ea typeface="Calibri"/>
                <a:cs typeface="Calibri"/>
              </a:defRPr>
            </a:pPr>
            <a:r>
              <a:rPr sz="825" b="0">
                <a:solidFill>
                  <a:srgbClr val="CEC4DF"/>
                </a:solidFill>
                <a:latin typeface="Calibri"/>
                <a:ea typeface="Calibri"/>
                <a:cs typeface="Calibri"/>
              </a:rPr>
              <a:t>Ruta propuesta. Ilustraciones conceptuales generadas con IA.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669280" y="502920"/>
            <a:ext cx="6172200" cy="1234440"/>
          </a:xfrm>
        </p:spPr>
        <p:txBody>
          <a:bodyPr wrap="square" lIns="0" rIns="0" tIns="0" bIns="0" anchor="ctr">
            <a:noAutofit/>
          </a:bodyPr>
          <a:lstStyle/>
          <a:p>
            <a:pPr algn="ctr">
              <a:spcAft>
                <a:spcPts val="0"/>
              </a:spcAft>
            </a:pPr>
            <a:r>
              <a:rPr sz="4000" b="0" i="0" lang="es-MX">
                <a:solidFill>
                  <a:srgbClr val="FFFFFF"/>
                </a:solidFill>
                <a:latin typeface="Calibri Light"/>
              </a:rPr>
              <a:t>Gracias — ¿preguntas?</a:t>
            </a:r>
          </a:p>
        </p:txBody>
      </p:sp>
      <p:sp>
        <p:nvSpPr>
          <p:cNvPr id="3" name="Subtitle 2"/>
          <p:cNvSpPr>
            <a:spLocks noGrp="1"/>
          </p:cNvSpPr>
          <p:nvPr>
            <p:ph type="subTitle" idx="1"/>
          </p:nvPr>
        </p:nvSpPr>
        <p:spPr>
          <a:xfrm>
            <a:off x="5669280" y="4892040"/>
            <a:ext cx="6172200" cy="1097280"/>
          </a:xfrm>
        </p:spPr>
        <p:txBody>
          <a:bodyPr wrap="square" lIns="0" rIns="0" tIns="0" bIns="0" anchor="t">
            <a:noAutofit/>
          </a:bodyPr>
          <a:lstStyle/>
          <a:p>
            <a:pPr algn="ctr">
              <a:spcAft>
                <a:spcPts val="400"/>
              </a:spcAft>
            </a:pPr>
            <a:r>
              <a:rPr sz="1500" b="0" i="0" lang="es-MX">
                <a:solidFill>
                  <a:srgbClr val="D9C5FF"/>
                </a:solidFill>
                <a:latin typeface="Calibri"/>
              </a:rPr>
              <a:t>gabrielhuav@gmail.com  ·  ghurtadoa@ipn.mx</a:t>
            </a:r>
          </a:p>
          <a:p>
            <a:pPr algn="ctr">
              <a:spcAft>
                <a:spcPts val="0"/>
              </a:spcAft>
            </a:pPr>
            <a:r>
              <a:rPr sz="1200" b="0" i="0" lang="es-MX">
                <a:solidFill>
                  <a:srgbClr val="DDD6EE"/>
                </a:solidFill>
                <a:latin typeface="Calibri"/>
              </a:rPr>
              <a:t>U. González Casiano · M. T. Maldonado Mejía · G. Hurtado Avilés — ESCOM, IPN</a:t>
            </a:r>
          </a:p>
        </p:txBody>
      </p:sp>
      <p:sp>
        <p:nvSpPr>
          <p:cNvPr id="4" name="Rounded Rectangle 3"/>
          <p:cNvSpPr/>
          <p:nvPr/>
        </p:nvSpPr>
        <p:spPr>
          <a:xfrm>
            <a:off x="6172200" y="1920240"/>
            <a:ext cx="2377440" cy="2743200"/>
          </a:xfrm>
          <a:prstGeom prst="roundRect">
            <a:avLst>
              <a:gd name="adj" fmla="val 615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qr_site.png"/>
          <p:cNvPicPr>
            <a:picLocks noChangeAspect="1"/>
          </p:cNvPicPr>
          <p:nvPr/>
        </p:nvPicPr>
        <p:blipFill>
          <a:blip r:embed="rId2"/>
          <a:stretch>
            <a:fillRect/>
          </a:stretch>
        </p:blipFill>
        <p:spPr>
          <a:xfrm>
            <a:off x="6446520" y="2029968"/>
            <a:ext cx="1828800" cy="1828800"/>
          </a:xfrm>
          <a:prstGeom prst="rect">
            <a:avLst/>
          </a:prstGeom>
        </p:spPr>
      </p:pic>
      <p:sp>
        <p:nvSpPr>
          <p:cNvPr id="6" name="TextBox 5"/>
          <p:cNvSpPr txBox="1"/>
          <p:nvPr/>
        </p:nvSpPr>
        <p:spPr>
          <a:xfrm>
            <a:off x="6172200" y="3886200"/>
            <a:ext cx="2377440" cy="731520"/>
          </a:xfrm>
          <a:prstGeom prst="rect">
            <a:avLst/>
          </a:prstGeom>
          <a:noFill/>
        </p:spPr>
        <p:txBody>
          <a:bodyPr wrap="square" lIns="0" rIns="0" tIns="0" bIns="0" anchor="ctr">
            <a:noAutofit/>
          </a:bodyPr>
          <a:lstStyle/>
          <a:p>
            <a:pPr algn="ctr">
              <a:spcAft>
                <a:spcPts val="0"/>
              </a:spcAft>
            </a:pPr>
            <a:r>
              <a:rPr sz="1400" b="1" i="0" lang="es-MX">
                <a:solidFill>
                  <a:srgbClr val="1B1530"/>
                </a:solidFill>
                <a:latin typeface="Calibri"/>
              </a:rPr>
              <a:t>Demo en línea</a:t>
            </a:r>
          </a:p>
          <a:p>
            <a:pPr algn="ctr">
              <a:spcAft>
                <a:spcPts val="0"/>
              </a:spcAft>
            </a:pPr>
            <a:r>
              <a:rPr sz="1050" b="0" i="0" lang="es-MX">
                <a:solidFill>
                  <a:srgbClr val="6B6388"/>
                </a:solidFill>
                <a:latin typeface="Calibri"/>
              </a:rPr>
              <a:t>GitHub Pages</a:t>
            </a:r>
          </a:p>
        </p:txBody>
      </p:sp>
      <p:sp>
        <p:nvSpPr>
          <p:cNvPr id="7" name="Rounded Rectangle 6"/>
          <p:cNvSpPr/>
          <p:nvPr/>
        </p:nvSpPr>
        <p:spPr>
          <a:xfrm>
            <a:off x="8961120" y="1920240"/>
            <a:ext cx="2377440" cy="2743200"/>
          </a:xfrm>
          <a:prstGeom prst="roundRect">
            <a:avLst>
              <a:gd name="adj" fmla="val 615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qr_repo.png"/>
          <p:cNvPicPr>
            <a:picLocks noChangeAspect="1"/>
          </p:cNvPicPr>
          <p:nvPr/>
        </p:nvPicPr>
        <p:blipFill>
          <a:blip r:embed="rId3"/>
          <a:stretch>
            <a:fillRect/>
          </a:stretch>
        </p:blipFill>
        <p:spPr>
          <a:xfrm>
            <a:off x="9235440" y="2029968"/>
            <a:ext cx="1828800" cy="1828800"/>
          </a:xfrm>
          <a:prstGeom prst="rect">
            <a:avLst/>
          </a:prstGeom>
        </p:spPr>
      </p:pic>
      <p:sp>
        <p:nvSpPr>
          <p:cNvPr id="9" name="TextBox 8"/>
          <p:cNvSpPr txBox="1"/>
          <p:nvPr/>
        </p:nvSpPr>
        <p:spPr>
          <a:xfrm>
            <a:off x="8961120" y="3886200"/>
            <a:ext cx="2377440" cy="731520"/>
          </a:xfrm>
          <a:prstGeom prst="rect">
            <a:avLst/>
          </a:prstGeom>
          <a:noFill/>
        </p:spPr>
        <p:txBody>
          <a:bodyPr wrap="square" lIns="0" rIns="0" tIns="0" bIns="0" anchor="ctr">
            <a:noAutofit/>
          </a:bodyPr>
          <a:lstStyle/>
          <a:p>
            <a:pPr algn="ctr">
              <a:spcAft>
                <a:spcPts val="0"/>
              </a:spcAft>
            </a:pPr>
            <a:r>
              <a:rPr sz="1400" b="1" i="0" lang="es-MX">
                <a:solidFill>
                  <a:srgbClr val="1B1530"/>
                </a:solidFill>
                <a:latin typeface="Calibri"/>
              </a:rPr>
              <a:t>Código, datos y scripts</a:t>
            </a:r>
          </a:p>
          <a:p>
            <a:pPr algn="ctr">
              <a:spcAft>
                <a:spcPts val="0"/>
              </a:spcAft>
            </a:pPr>
            <a:r>
              <a:rPr sz="1050" b="0" i="0" lang="es-MX">
                <a:solidFill>
                  <a:srgbClr val="6B6388"/>
                </a:solidFill>
                <a:latin typeface="Calibri"/>
              </a:rPr>
              <a:t>GitHub</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TotalTime>
  <Words>0</Words>
  <Application>Microsoft Office PowerPoint</Application>
  <PresentationFormat>Panorámica</PresentationFormat>
  <Paragraphs>0</Paragraphs>
  <Slides>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6</vt:i4>
      </vt:variant>
    </vt:vector>
  </HeadingPairs>
  <TitlesOfParts>
    <vt:vector size="10"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 Data Warehouse dimensional para el monitoreo geoespacial de obras públicas municipales</dc:title>
  <dc:creator>U. González Casiano, M. T. Maldonado Mejía, G. Hurtado Avilés</dc:creator>
  <cp:lastModifiedBy>Paula D. Cozaya</cp:lastModifiedBy>
  <cp:revision>2</cp:revision>
  <dcterms:created xsi:type="dcterms:W3CDTF">2026-08-21T01:27:15Z</dcterms:created>
  <dcterms:modified xsi:type="dcterms:W3CDTF">2026-08-21T01:41:18Z</dcterms:modified>
  <dc:subject>ICOKG 2026 — Paper 37</dc:subject>
</cp:coreProperties>
</file>