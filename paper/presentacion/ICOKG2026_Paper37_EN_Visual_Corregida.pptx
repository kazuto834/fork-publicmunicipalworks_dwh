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8"/>
  </p:handoutMasterIdLst>
  <p:sldIdLst>
    <p:sldId id="256" r:id="rId7"/>
    <p:sldId id="257" r:id="rId5"/>
    <p:sldId id="258" r:id="rId4"/>
    <p:sldId id="259" r:id="rId3"/>
    <p:sldId id="260" r:id="rId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notesViewPr>
    <p:cSldViewPr snapToGrid="0">
      <p:cViewPr varScale="1">
        <p:scale>
          <a:sx n="66" d="100"/>
          <a:sy n="66" d="100"/>
        </p:scale>
        <p:origin x="3134"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handoutMaster" Target="handoutMasters/handout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Threshold rule (this work)</c:v>
                </c:pt>
              </c:strCache>
            </c:strRef>
          </c:tx>
          <c:spPr>
            <a:solidFill>
              <a:srgbClr val="B57BFF"/>
            </a:solidFill>
            <a:ln>
              <a:noFill/>
            </a:ln>
          </c:spPr>
          <c:dLbls>
            <c:numFmt formatCode="#.000" sourceLinked="0"/>
            <c:txPr>
              <a:bodyPr/>
              <a:lstStyle/>
              <a:p>
                <a:pPr>
                  <a:defRPr sz="850" b="1">
                    <a:solidFill>
                      <a:srgbClr val="FFFFFF"/>
                    </a:solidFill>
                  </a:defRPr>
                </a:pPr>
              </a:p>
            </c:txPr>
            <c:dLblPos val="inBase"/>
            <c:showLegendKey val="0"/>
            <c:showVal val="1"/>
            <c:showCatName val="0"/>
            <c:showSerName val="0"/>
            <c:showPercent val="0"/>
            <c:showBubbleSize val="0"/>
            <c:showLeaderLines val="1"/>
          </c:dLbls>
          <c:errBars>
            <c:errBarType val="both"/>
            <c:errValType val="cust"/>
            <c:noEndCap val="0"/>
            <c:plus>
              <c:numLit>
                <c:formatCode>General</c:formatCode>
                <c:ptCount val="5"/>
                <c:pt idx="0">
                  <c:v>0.056</c:v>
                </c:pt>
                <c:pt idx="1">
                  <c:v>0.031</c:v>
                </c:pt>
                <c:pt idx="2">
                  <c:v>0.038</c:v>
                </c:pt>
                <c:pt idx="3">
                  <c:v>0.022</c:v>
                </c:pt>
                <c:pt idx="4">
                  <c:v>0.052</c:v>
                </c:pt>
              </c:numLit>
            </c:plus>
            <c:minus>
              <c:numLit>
                <c:formatCode>General</c:formatCode>
                <c:ptCount val="5"/>
                <c:pt idx="0">
                  <c:v>0.056</c:v>
                </c:pt>
                <c:pt idx="1">
                  <c:v>0.031</c:v>
                </c:pt>
                <c:pt idx="2">
                  <c:v>0.038</c:v>
                </c:pt>
                <c:pt idx="3">
                  <c:v>0.022</c:v>
                </c:pt>
                <c:pt idx="4">
                  <c:v>0.052</c:v>
                </c:pt>
              </c:numLit>
            </c:minus>
            <c:spPr>
              <a:ln w="15875">
                <a:solidFill>
                  <a:srgbClr val="FFFFFF"/>
                </a:solidFill>
              </a:ln>
            </c:spPr>
          </c:errBars>
          <c:cat>
            <c:strRef>
              <c:f>Sheet1!$A$2:$A$6</c:f>
              <c:strCache>
                <c:ptCount val="5"/>
                <c:pt idx="0">
                  <c:v>Precision</c:v>
                </c:pt>
                <c:pt idx="1">
                  <c:v>Recall</c:v>
                </c:pt>
                <c:pt idx="2">
                  <c:v>F1</c:v>
                </c:pt>
                <c:pt idx="3">
                  <c:v>ROC-AUC</c:v>
                </c:pt>
                <c:pt idx="4">
                  <c:v>PR-AUC</c:v>
                </c:pt>
              </c:strCache>
            </c:strRef>
          </c:cat>
          <c:val>
            <c:numRef>
              <c:f>Sheet1!$B$2:$B$6</c:f>
              <c:numCache>
                <c:formatCode>General</c:formatCode>
                <c:ptCount val="5"/>
                <c:pt idx="0">
                  <c:v>0.462</c:v>
                </c:pt>
                <c:pt idx="1">
                  <c:v>0.351</c:v>
                </c:pt>
                <c:pt idx="2">
                  <c:v>0.397</c:v>
                </c:pt>
                <c:pt idx="3">
                  <c:v>0.63</c:v>
                </c:pt>
                <c:pt idx="4">
                  <c:v>0.31</c:v>
                </c:pt>
              </c:numCache>
            </c:numRef>
          </c:val>
        </c:ser>
        <c:ser>
          <c:idx val="1"/>
          <c:order val="1"/>
          <c:tx>
            <c:strRef>
              <c:f>Sheet1!$C$1</c:f>
              <c:strCache>
                <c:ptCount val="1"/>
                <c:pt idx="0">
                  <c:v>Isolation Forest (default)</c:v>
                </c:pt>
              </c:strCache>
            </c:strRef>
          </c:tx>
          <c:spPr>
            <a:solidFill>
              <a:srgbClr val="94A3B8"/>
            </a:solidFill>
            <a:ln>
              <a:noFill/>
            </a:ln>
          </c:spPr>
          <c:dLbls>
            <c:numFmt formatCode="#.000" sourceLinked="0"/>
            <c:txPr>
              <a:bodyPr/>
              <a:lstStyle/>
              <a:p>
                <a:pPr>
                  <a:defRPr sz="850" b="1">
                    <a:solidFill>
                      <a:srgbClr val="1B1530"/>
                    </a:solidFill>
                  </a:defRPr>
                </a:pPr>
              </a:p>
            </c:txPr>
            <c:dLblPos val="inBase"/>
            <c:showLegendKey val="0"/>
            <c:showVal val="1"/>
            <c:showCatName val="0"/>
            <c:showSerName val="0"/>
            <c:showPercent val="0"/>
            <c:showBubbleSize val="0"/>
            <c:showLeaderLines val="1"/>
          </c:dLbls>
          <c:errBars>
            <c:errBarType val="both"/>
            <c:errValType val="cust"/>
            <c:noEndCap val="0"/>
            <c:plus>
              <c:numLit>
                <c:formatCode>General</c:formatCode>
                <c:ptCount val="5"/>
                <c:pt idx="0">
                  <c:v>0.053</c:v>
                </c:pt>
                <c:pt idx="1">
                  <c:v>0.031</c:v>
                </c:pt>
                <c:pt idx="2">
                  <c:v>0.037</c:v>
                </c:pt>
                <c:pt idx="3">
                  <c:v>0.029</c:v>
                </c:pt>
                <c:pt idx="4">
                  <c:v>0.052</c:v>
                </c:pt>
              </c:numLit>
            </c:plus>
            <c:minus>
              <c:numLit>
                <c:formatCode>General</c:formatCode>
                <c:ptCount val="5"/>
                <c:pt idx="0">
                  <c:v>0.053</c:v>
                </c:pt>
                <c:pt idx="1">
                  <c:v>0.031</c:v>
                </c:pt>
                <c:pt idx="2">
                  <c:v>0.037</c:v>
                </c:pt>
                <c:pt idx="3">
                  <c:v>0.029</c:v>
                </c:pt>
                <c:pt idx="4">
                  <c:v>0.052</c:v>
                </c:pt>
              </c:numLit>
            </c:minus>
            <c:spPr>
              <a:ln w="15875">
                <a:solidFill>
                  <a:srgbClr val="FFFFFF"/>
                </a:solidFill>
              </a:ln>
            </c:spPr>
          </c:errBars>
          <c:cat>
            <c:strRef>
              <c:f>Sheet1!$A$2:$A$6</c:f>
              <c:strCache>
                <c:ptCount val="5"/>
                <c:pt idx="0">
                  <c:v>Precision</c:v>
                </c:pt>
                <c:pt idx="1">
                  <c:v>Recall</c:v>
                </c:pt>
                <c:pt idx="2">
                  <c:v>F1</c:v>
                </c:pt>
                <c:pt idx="3">
                  <c:v>ROC-AUC</c:v>
                </c:pt>
                <c:pt idx="4">
                  <c:v>PR-AUC</c:v>
                </c:pt>
              </c:strCache>
            </c:strRef>
          </c:cat>
          <c:val>
            <c:numRef>
              <c:f>Sheet1!$C$2:$C$6</c:f>
              <c:numCache>
                <c:formatCode>General</c:formatCode>
                <c:ptCount val="5"/>
                <c:pt idx="0">
                  <c:v>0.369</c:v>
                </c:pt>
                <c:pt idx="1">
                  <c:v>0.321</c:v>
                </c:pt>
                <c:pt idx="2">
                  <c:v>0.342</c:v>
                </c:pt>
                <c:pt idx="3">
                  <c:v>0.65</c:v>
                </c:pt>
                <c:pt idx="4">
                  <c:v>0.342</c:v>
                </c:pt>
              </c:numCache>
            </c:numRef>
          </c:val>
        </c:ser>
        <c:ser>
          <c:idx val="2"/>
          <c:order val="2"/>
          <c:tx>
            <c:strRef>
              <c:f>Sheet1!$D$1</c:f>
              <c:strCache>
                <c:ptCount val="1"/>
                <c:pt idx="0">
                  <c:v>Isolation Forest (matched budget)</c:v>
                </c:pt>
              </c:strCache>
            </c:strRef>
          </c:tx>
          <c:spPr>
            <a:solidFill>
              <a:srgbClr val="2DD4BF"/>
            </a:solidFill>
            <a:ln>
              <a:noFill/>
            </a:ln>
          </c:spPr>
          <c:dLbls>
            <c:numFmt formatCode="#.000" sourceLinked="0"/>
            <c:txPr>
              <a:bodyPr/>
              <a:lstStyle/>
              <a:p>
                <a:pPr>
                  <a:defRPr sz="850" b="1">
                    <a:solidFill>
                      <a:srgbClr val="1B1530"/>
                    </a:solidFill>
                  </a:defRPr>
                </a:pPr>
              </a:p>
            </c:txPr>
            <c:dLblPos val="inBase"/>
            <c:showLegendKey val="0"/>
            <c:showVal val="1"/>
            <c:showCatName val="0"/>
            <c:showSerName val="0"/>
            <c:showPercent val="0"/>
            <c:showBubbleSize val="0"/>
            <c:showLeaderLines val="1"/>
          </c:dLbls>
          <c:errBars>
            <c:errBarType val="both"/>
            <c:errValType val="cust"/>
            <c:noEndCap val="0"/>
            <c:plus>
              <c:numLit>
                <c:formatCode>General</c:formatCode>
                <c:ptCount val="5"/>
                <c:pt idx="0">
                  <c:v>0.054</c:v>
                </c:pt>
                <c:pt idx="1">
                  <c:v>0.033</c:v>
                </c:pt>
                <c:pt idx="2">
                  <c:v>0.038</c:v>
                </c:pt>
                <c:pt idx="3">
                  <c:v>0.029</c:v>
                </c:pt>
                <c:pt idx="4">
                  <c:v>0.052</c:v>
                </c:pt>
              </c:numLit>
            </c:plus>
            <c:minus>
              <c:numLit>
                <c:formatCode>General</c:formatCode>
                <c:ptCount val="5"/>
                <c:pt idx="0">
                  <c:v>0.054</c:v>
                </c:pt>
                <c:pt idx="1">
                  <c:v>0.033</c:v>
                </c:pt>
                <c:pt idx="2">
                  <c:v>0.038</c:v>
                </c:pt>
                <c:pt idx="3">
                  <c:v>0.029</c:v>
                </c:pt>
                <c:pt idx="4">
                  <c:v>0.052</c:v>
                </c:pt>
              </c:numLit>
            </c:minus>
            <c:spPr>
              <a:ln w="15875">
                <a:solidFill>
                  <a:srgbClr val="FFFFFF"/>
                </a:solidFill>
              </a:ln>
            </c:spPr>
          </c:errBars>
          <c:cat>
            <c:strRef>
              <c:f>Sheet1!$A$2:$A$6</c:f>
              <c:strCache>
                <c:ptCount val="5"/>
                <c:pt idx="0">
                  <c:v>Precision</c:v>
                </c:pt>
                <c:pt idx="1">
                  <c:v>Recall</c:v>
                </c:pt>
                <c:pt idx="2">
                  <c:v>F1</c:v>
                </c:pt>
                <c:pt idx="3">
                  <c:v>ROC-AUC</c:v>
                </c:pt>
                <c:pt idx="4">
                  <c:v>PR-AUC</c:v>
                </c:pt>
              </c:strCache>
            </c:strRef>
          </c:cat>
          <c:val>
            <c:numRef>
              <c:f>Sheet1!$D$2:$D$6</c:f>
              <c:numCache>
                <c:formatCode>General</c:formatCode>
                <c:ptCount val="5"/>
                <c:pt idx="0">
                  <c:v>0.387</c:v>
                </c:pt>
                <c:pt idx="1">
                  <c:v>0.294</c:v>
                </c:pt>
                <c:pt idx="2">
                  <c:v>0.333</c:v>
                </c:pt>
                <c:pt idx="3">
                  <c:v>0.65</c:v>
                </c:pt>
                <c:pt idx="4">
                  <c:v>0.342</c:v>
                </c:pt>
              </c:numCache>
            </c:numRef>
          </c:val>
        </c:ser>
        <c:gapWidth val="55"/>
        <c:overlap val="-6"/>
        <c:axId val="100001"/>
        <c:axId val="100002"/>
      </c:barChart>
      <c:catAx>
        <c:axId val="100001"/>
        <c:scaling>
          <c:orientation val="minMax"/>
        </c:scaling>
        <c:delete val="0"/>
        <c:axPos val="b"/>
        <c:majorTickMark val="none"/>
        <c:minorTickMark val="none"/>
        <c:tickLblPos val="nextTo"/>
        <c:spPr>
          <a:ln>
            <a:solidFill>
              <a:srgbClr val="7A6E9E"/>
            </a:solidFill>
          </a:ln>
        </c:spPr>
        <c:txPr>
          <a:bodyPr/>
          <a:lstStyle/>
          <a:p>
            <a:pPr>
              <a:defRPr sz="1200">
                <a:solidFill>
                  <a:srgbClr val="FFFFFF"/>
                </a:solidFill>
              </a:defRPr>
            </a:pPr>
          </a:p>
        </c:txPr>
        <c:crossAx val="100002"/>
        <c:crosses val="autoZero"/>
        <c:auto val="1"/>
        <c:lblAlgn val="ctr"/>
        <c:lblOffset val="100"/>
        <c:noMultiLvlLbl val="0"/>
      </c:catAx>
      <c:valAx>
        <c:axId val="100002"/>
        <c:scaling>
          <c:max val="0.8"/>
          <c:min val="0.0"/>
        </c:scaling>
        <c:delete val="0"/>
        <c:axPos val="l"/>
        <c:majorGridlines>
          <c:spPr>
            <a:ln w="6350">
              <a:solidFill>
                <a:srgbClr val="5A4F7C"/>
              </a:solidFill>
            </a:ln>
          </c:spPr>
        </c:majorGridlines>
        <c:numFmt formatCode="0.0" sourceLinked="0"/>
        <c:majorTickMark val="none"/>
        <c:minorTickMark val="none"/>
        <c:tickLblPos val="nextTo"/>
        <c:spPr>
          <a:ln>
            <a:noFill/>
          </a:ln>
        </c:spPr>
        <c:txPr>
          <a:bodyPr/>
          <a:lstStyle/>
          <a:p>
            <a:pPr>
              <a:defRPr sz="1000">
                <a:solidFill>
                  <a:srgbClr val="ADA3C8"/>
                </a:solidFill>
              </a:defRPr>
            </a:pPr>
          </a:p>
        </c:txPr>
        <c:crossAx val="100001"/>
        <c:crosses val="autoZero"/>
        <c:majorUnit val="0.2"/>
      </c:valAx>
      <c:spPr>
        <a:noFill/>
        <a:ln>
          <a:noFill/>
        </a:ln>
      </c:spPr>
    </c:plotArea>
    <c:legend>
      <c:legendPos val="b"/>
      <c:overlay val="0"/>
      <c:txPr>
        <a:bodyPr/>
        <a:lstStyle/>
        <a:p>
          <a:pPr>
            <a:defRPr sz="1050">
              <a:solidFill>
                <a:srgbClr val="DDD6EE"/>
              </a:solidFill>
            </a:defRPr>
          </a:pPr>
        </a:p>
      </c:txPr>
    </c:legend>
    <c:dispBlanksAs val="gap"/>
  </c:chart>
  <c:spPr>
    <a:noFill/>
    <a:ln>
      <a:noFill/>
    </a:ln>
  </c:spPr>
  <c:txPr>
    <a:bodyPr/>
    <a:lstStyle/>
    <a:p>
      <a:pPr>
        <a:defRPr sz="1100">
          <a:solidFill>
            <a:srgbClr val="DDD6EE"/>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Recall</c:v>
                </c:pt>
              </c:strCache>
            </c:strRef>
          </c:tx>
          <c:spPr>
            <a:ln>
              <a:noFill/>
            </a:ln>
          </c:spPr>
          <c:dPt>
            <c:idx val="0"/>
            <c:spPr>
              <a:solidFill>
                <a:srgbClr val="B57BFF"/>
              </a:solidFill>
              <a:ln>
                <a:noFill/>
              </a:ln>
            </c:spPr>
          </c:dPt>
          <c:dPt>
            <c:idx val="1"/>
            <c:spPr>
              <a:solidFill>
                <a:srgbClr val="B57BFF"/>
              </a:solidFill>
              <a:ln>
                <a:noFill/>
              </a:ln>
            </c:spPr>
          </c:dPt>
          <c:dPt>
            <c:idx val="2"/>
            <c:spPr>
              <a:solidFill>
                <a:srgbClr val="B57BFF"/>
              </a:solidFill>
              <a:ln>
                <a:noFill/>
              </a:ln>
            </c:spPr>
          </c:dPt>
          <c:dPt>
            <c:idx val="3"/>
            <c:spPr>
              <a:solidFill>
                <a:srgbClr val="F87171"/>
              </a:solidFill>
              <a:ln>
                <a:noFill/>
              </a:ln>
            </c:spPr>
          </c:dPt>
          <c:dPt>
            <c:idx val="4"/>
            <c:spPr>
              <a:solidFill>
                <a:srgbClr val="F87171"/>
              </a:solidFill>
              <a:ln>
                <a:noFill/>
              </a:ln>
            </c:spPr>
          </c:dPt>
          <c:dLbls>
            <c:dLbl>
              <c:idx val="0"/>
              <c:tx>
                <c:rich>
                  <a:bodyPr/>
                  <a:lstStyle/>
                  <a:p>
                    <a:r>
                      <a:rPr sz="1100" b="1">
                        <a:solidFill>
                          <a:srgbClr val="FFFFFF"/>
                        </a:solidFill>
                      </a:rPr>
                      <a:t>.548 ± .059</a:t>
                    </a:r>
                  </a:p>
                </c:rich>
              </c:tx>
              <c:dLblPos val="outEnd"/>
              <c:showLegendKey val="0"/>
              <c:showVal val="1"/>
              <c:showCatName val="0"/>
              <c:showSerName val="0"/>
              <c:showPercent val="0"/>
              <c:showBubbleSize val="0"/>
            </c:dLbl>
            <c:dLbl>
              <c:idx val="1"/>
              <c:tx>
                <c:rich>
                  <a:bodyPr/>
                  <a:lstStyle/>
                  <a:p>
                    <a:r>
                      <a:rPr sz="1100" b="1">
                        <a:solidFill>
                          <a:srgbClr val="FFFFFF"/>
                        </a:solidFill>
                      </a:rPr>
                      <a:t>.474 ± .024</a:t>
                    </a:r>
                  </a:p>
                </c:rich>
              </c:tx>
              <c:dLblPos val="outEnd"/>
              <c:showLegendKey val="0"/>
              <c:showVal val="1"/>
              <c:showCatName val="0"/>
              <c:showSerName val="0"/>
              <c:showPercent val="0"/>
              <c:showBubbleSize val="0"/>
            </c:dLbl>
            <c:dLbl>
              <c:idx val="2"/>
              <c:tx>
                <c:rich>
                  <a:bodyPr/>
                  <a:lstStyle/>
                  <a:p>
                    <a:r>
                      <a:rPr sz="1100" b="1">
                        <a:solidFill>
                          <a:srgbClr val="FFFFFF"/>
                        </a:solidFill>
                      </a:rPr>
                      <a:t>.386 ± .012</a:t>
                    </a:r>
                  </a:p>
                </c:rich>
              </c:tx>
              <c:dLblPos val="outEnd"/>
              <c:showLegendKey val="0"/>
              <c:showVal val="1"/>
              <c:showCatName val="0"/>
              <c:showSerName val="0"/>
              <c:showPercent val="0"/>
              <c:showBubbleSize val="0"/>
            </c:dLbl>
            <c:dLbl>
              <c:idx val="3"/>
              <c:tx>
                <c:rich>
                  <a:bodyPr/>
                  <a:lstStyle/>
                  <a:p>
                    <a:r>
                      <a:rPr sz="1100" b="1">
                        <a:solidFill>
                          <a:srgbClr val="F87171"/>
                        </a:solidFill>
                      </a:rPr>
                      <a:t>.093 ± .051</a:t>
                    </a:r>
                  </a:p>
                </c:rich>
              </c:tx>
              <c:dLblPos val="outEnd"/>
              <c:showLegendKey val="0"/>
              <c:showVal val="1"/>
              <c:showCatName val="0"/>
              <c:showSerName val="0"/>
              <c:showPercent val="0"/>
              <c:showBubbleSize val="0"/>
            </c:dLbl>
            <c:dLbl>
              <c:idx val="4"/>
              <c:tx>
                <c:rich>
                  <a:bodyPr/>
                  <a:lstStyle/>
                  <a:p>
                    <a:r>
                      <a:rPr sz="1100" b="1">
                        <a:solidFill>
                          <a:srgbClr val="F87171"/>
                        </a:solidFill>
                      </a:rPr>
                      <a:t>.061 ± .034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Unproductive contractor</c:v>
                </c:pt>
                <c:pt idx="1">
                  <c:v>Ghost work</c:v>
                </c:pt>
                <c:pt idx="2">
                  <c:v>Stopped work</c:v>
                </c:pt>
                <c:pt idx="3">
                  <c:v>Overpricing</c:v>
                </c:pt>
                <c:pt idx="4">
                  <c:v>Payments ahead of execution</c:v>
                </c:pt>
              </c:strCache>
            </c:strRef>
          </c:cat>
          <c:val>
            <c:numRef>
              <c:f>Sheet1!$B$2:$B$6</c:f>
              <c:numCache>
                <c:formatCode>General</c:formatCode>
                <c:ptCount val="5"/>
                <c:pt idx="0">
                  <c:v>0.548</c:v>
                </c:pt>
                <c:pt idx="1">
                  <c:v>0.474</c:v>
                </c:pt>
                <c:pt idx="2">
                  <c:v>0.386</c:v>
                </c:pt>
                <c:pt idx="3">
                  <c:v>0.093</c:v>
                </c:pt>
                <c:pt idx="4">
                  <c:v>0.061</c:v>
                </c:pt>
              </c:numCache>
            </c:numRef>
          </c:val>
        </c:ser>
        <c:gapWidth val="45"/>
        <c:axId val="100001"/>
        <c:axId val="100002"/>
      </c:barChart>
      <c:catAx>
        <c:axId val="100001"/>
        <c:scaling>
          <c:orientation val="maxMin"/>
        </c:scaling>
        <c:delete val="0"/>
        <c:axPos val="l"/>
        <c:majorTickMark val="none"/>
        <c:minorTickMark val="none"/>
        <c:tickLblPos val="nextTo"/>
        <c:spPr>
          <a:ln>
            <a:solidFill>
              <a:srgbClr val="7A6E9E"/>
            </a:solidFill>
          </a:ln>
        </c:spPr>
        <c:txPr>
          <a:bodyPr/>
          <a:lstStyle/>
          <a:p>
            <a:pPr>
              <a:defRPr sz="1250">
                <a:solidFill>
                  <a:srgbClr val="FFFFFF"/>
                </a:solidFill>
              </a:defRPr>
            </a:pPr>
          </a:p>
        </c:txPr>
        <c:crossAx val="100002"/>
        <c:crosses val="autoZero"/>
        <c:auto val="1"/>
        <c:lblAlgn val="ctr"/>
        <c:lblOffset val="100"/>
        <c:noMultiLvlLbl val="0"/>
      </c:catAx>
      <c:valAx>
        <c:axId val="100002"/>
        <c:scaling>
          <c:max val="0.8"/>
          <c:min val="0.0"/>
        </c:scaling>
        <c:delete val="0"/>
        <c:axPos val="b"/>
        <c:majorGridlines>
          <c:spPr>
            <a:ln w="6350">
              <a:solidFill>
                <a:srgbClr val="5A4F7C"/>
              </a:solidFill>
            </a:ln>
          </c:spPr>
        </c:majorGridlines>
        <c:numFmt formatCode="0.0" sourceLinked="0"/>
        <c:majorTickMark val="none"/>
        <c:minorTickMark val="none"/>
        <c:tickLblPos val="nextTo"/>
        <c:spPr>
          <a:ln>
            <a:noFill/>
          </a:ln>
        </c:spPr>
        <c:txPr>
          <a:bodyPr/>
          <a:lstStyle/>
          <a:p>
            <a:pPr>
              <a:defRPr sz="1000">
                <a:solidFill>
                  <a:srgbClr val="ADA3C8"/>
                </a:solidFill>
              </a:defRPr>
            </a:pPr>
          </a:p>
        </c:txPr>
        <c:crossAx val="100001"/>
        <c:crosses val="max"/>
        <c:majorUnit val="0.2"/>
      </c:valAx>
      <c:spPr>
        <a:noFill/>
        <a:ln>
          <a:noFill/>
        </a:ln>
      </c:spPr>
    </c:plotArea>
    <c:dispBlanksAs val="gap"/>
  </c:chart>
  <c:spPr>
    <a:noFill/>
    <a:ln>
      <a:noFill/>
    </a:ln>
  </c:spPr>
  <c:txPr>
    <a:bodyPr/>
    <a:lstStyle/>
    <a:p>
      <a:pPr>
        <a:defRPr sz="1100">
          <a:solidFill>
            <a:srgbClr val="DDD6EE"/>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ms</c:v>
                </c:pt>
              </c:strCache>
            </c:strRef>
          </c:tx>
          <c:dPt>
            <c:idx val="0"/>
            <c:spPr>
              <a:solidFill>
                <a:srgbClr val="B57BFF"/>
              </a:solidFill>
              <a:ln>
                <a:noFill/>
              </a:ln>
            </c:spPr>
          </c:dPt>
          <c:dPt>
            <c:idx val="1"/>
            <c:spPr>
              <a:solidFill>
                <a:srgbClr val="B57BFF"/>
              </a:solidFill>
              <a:ln>
                <a:noFill/>
              </a:ln>
            </c:spPr>
          </c:dPt>
          <c:dPt>
            <c:idx val="2"/>
            <c:spPr>
              <a:solidFill>
                <a:srgbClr val="B57BFF"/>
              </a:solidFill>
              <a:ln>
                <a:noFill/>
              </a:ln>
            </c:spPr>
          </c:dPt>
          <c:dPt>
            <c:idx val="3"/>
            <c:spPr>
              <a:solidFill>
                <a:srgbClr val="FBBF24"/>
              </a:solidFill>
              <a:ln>
                <a:noFill/>
              </a:ln>
            </c:spPr>
          </c:dPt>
          <c:dPt>
            <c:idx val="4"/>
            <c:spPr>
              <a:solidFill>
                <a:srgbClr val="FBBF24"/>
              </a:solidFill>
              <a:ln>
                <a:noFill/>
              </a:ln>
            </c:spPr>
          </c:dPt>
          <c:dPt>
            <c:idx val="5"/>
            <c:spPr>
              <a:solidFill>
                <a:srgbClr val="B57BFF"/>
              </a:solidFill>
              <a:ln>
                <a:noFill/>
              </a:ln>
            </c:spPr>
          </c:dPt>
          <c:dPt>
            <c:idx val="6"/>
            <c:spPr>
              <a:solidFill>
                <a:srgbClr val="FBBF24"/>
              </a:solidFill>
              <a:ln>
                <a:noFill/>
              </a:ln>
            </c:spPr>
          </c:dPt>
          <c:dPt>
            <c:idx val="7"/>
            <c:spPr>
              <a:solidFill>
                <a:srgbClr val="FBBF24"/>
              </a:solidFill>
              <a:ln>
                <a:noFill/>
              </a:ln>
            </c:spPr>
          </c:dPt>
          <c:dLbls>
            <c:dLbl>
              <c:idx val="0"/>
              <c:tx>
                <c:rich>
                  <a:bodyPr/>
                  <a:lstStyle/>
                  <a:p>
                    <a:r>
                      <a:rPr sz="1050" b="1">
                        <a:solidFill>
                          <a:srgbClr val="FFFFFF"/>
                        </a:solidFill>
                      </a:rPr>
                      <a:t>0.1 ms</a:t>
                    </a:r>
                  </a:p>
                </c:rich>
              </c:tx>
              <c:dLblPos val="outEnd"/>
              <c:showLegendKey val="0"/>
              <c:showVal val="1"/>
              <c:showCatName val="0"/>
              <c:showSerName val="0"/>
              <c:showPercent val="0"/>
              <c:showBubbleSize val="0"/>
            </c:dLbl>
            <c:dLbl>
              <c:idx val="1"/>
              <c:tx>
                <c:rich>
                  <a:bodyPr/>
                  <a:lstStyle/>
                  <a:p>
                    <a:r>
                      <a:rPr sz="1050" b="1">
                        <a:solidFill>
                          <a:srgbClr val="FFFFFF"/>
                        </a:solidFill>
                      </a:rPr>
                      <a:t>2 ms</a:t>
                    </a:r>
                  </a:p>
                </c:rich>
              </c:tx>
              <c:dLblPos val="outEnd"/>
              <c:showLegendKey val="0"/>
              <c:showVal val="1"/>
              <c:showCatName val="0"/>
              <c:showSerName val="0"/>
              <c:showPercent val="0"/>
              <c:showBubbleSize val="0"/>
            </c:dLbl>
            <c:dLbl>
              <c:idx val="2"/>
              <c:tx>
                <c:rich>
                  <a:bodyPr/>
                  <a:lstStyle/>
                  <a:p>
                    <a:r>
                      <a:rPr sz="1050" b="1">
                        <a:solidFill>
                          <a:srgbClr val="FFFFFF"/>
                        </a:solidFill>
                      </a:rPr>
                      <a:t>5.2 ms</a:t>
                    </a:r>
                  </a:p>
                </c:rich>
              </c:tx>
              <c:dLblPos val="outEnd"/>
              <c:showLegendKey val="0"/>
              <c:showVal val="1"/>
              <c:showCatName val="0"/>
              <c:showSerName val="0"/>
              <c:showPercent val="0"/>
              <c:showBubbleSize val="0"/>
            </c:dLbl>
            <c:dLbl>
              <c:idx val="3"/>
              <c:tx>
                <c:rich>
                  <a:bodyPr/>
                  <a:lstStyle/>
                  <a:p>
                    <a:r>
                      <a:rPr sz="1050" b="1">
                        <a:solidFill>
                          <a:srgbClr val="FFFFFF"/>
                        </a:solidFill>
                      </a:rPr>
                      <a:t>10.9 ms</a:t>
                    </a:r>
                  </a:p>
                </c:rich>
              </c:tx>
              <c:dLblPos val="outEnd"/>
              <c:showLegendKey val="0"/>
              <c:showVal val="1"/>
              <c:showCatName val="0"/>
              <c:showSerName val="0"/>
              <c:showPercent val="0"/>
              <c:showBubbleSize val="0"/>
            </c:dLbl>
            <c:dLbl>
              <c:idx val="4"/>
              <c:tx>
                <c:rich>
                  <a:bodyPr/>
                  <a:lstStyle/>
                  <a:p>
                    <a:r>
                      <a:rPr sz="1050" b="1">
                        <a:solidFill>
                          <a:srgbClr val="FFFFFF"/>
                        </a:solidFill>
                      </a:rPr>
                      <a:t>18.3 ms</a:t>
                    </a:r>
                  </a:p>
                </c:rich>
              </c:tx>
              <c:dLblPos val="outEnd"/>
              <c:showLegendKey val="0"/>
              <c:showVal val="1"/>
              <c:showCatName val="0"/>
              <c:showSerName val="0"/>
              <c:showPercent val="0"/>
              <c:showBubbleSize val="0"/>
            </c:dLbl>
            <c:dLbl>
              <c:idx val="5"/>
              <c:tx>
                <c:rich>
                  <a:bodyPr/>
                  <a:lstStyle/>
                  <a:p>
                    <a:r>
                      <a:rPr sz="1050" b="1">
                        <a:solidFill>
                          <a:srgbClr val="FFFFFF"/>
                        </a:solidFill>
                      </a:rPr>
                      <a:t>23.8 ms</a:t>
                    </a:r>
                  </a:p>
                </c:rich>
              </c:tx>
              <c:dLblPos val="outEnd"/>
              <c:showLegendKey val="0"/>
              <c:showVal val="1"/>
              <c:showCatName val="0"/>
              <c:showSerName val="0"/>
              <c:showPercent val="0"/>
              <c:showBubbleSize val="0"/>
            </c:dLbl>
            <c:dLbl>
              <c:idx val="6"/>
              <c:tx>
                <c:rich>
                  <a:bodyPr/>
                  <a:lstStyle/>
                  <a:p>
                    <a:r>
                      <a:rPr sz="1050" b="1">
                        <a:solidFill>
                          <a:srgbClr val="FFFFFF"/>
                        </a:solidFill>
                      </a:rPr>
                      <a:t>544 ms</a:t>
                    </a:r>
                  </a:p>
                </c:rich>
              </c:tx>
              <c:dLblPos val="outEnd"/>
              <c:showLegendKey val="0"/>
              <c:showVal val="1"/>
              <c:showCatName val="0"/>
              <c:showSerName val="0"/>
              <c:showPercent val="0"/>
              <c:showBubbleSize val="0"/>
            </c:dLbl>
            <c:dLbl>
              <c:idx val="7"/>
              <c:tx>
                <c:rich>
                  <a:bodyPr/>
                  <a:lstStyle/>
                  <a:p>
                    <a:r>
                      <a:rPr sz="1050" b="1">
                        <a:solidFill>
                          <a:srgbClr val="FFFFFF"/>
                        </a:solidFill>
                      </a:rPr>
                      <a:t>566 ms</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Insert firing the SCD 2 trigger</c:v>
                </c:pt>
                <c:pt idx="1">
                  <c:v>v_delayed_works</c:v>
                </c:pt>
                <c:pt idx="2">
                  <c:v>v_budget_executed</c:v>
                </c:pt>
                <c:pt idx="3">
                  <c:v>/api/public/regiones</c:v>
                </c:pt>
                <c:pt idx="4">
                  <c:v>/api/analitica/anomalias</c:v>
                </c:pt>
                <c:pt idx="5">
                  <c:v>v_anomalies_detection</c:v>
                </c:pt>
                <c:pt idx="6">
                  <c:v>/api/public/resumen</c:v>
                </c:pt>
                <c:pt idx="7">
                  <c:v>/api/public/obras (753 kB)</c:v>
                </c:pt>
              </c:strCache>
            </c:strRef>
          </c:cat>
          <c:val>
            <c:numRef>
              <c:f>Sheet1!$B$2:$B$9</c:f>
              <c:numCache>
                <c:formatCode>General</c:formatCode>
                <c:ptCount val="8"/>
                <c:pt idx="0">
                  <c:v>0.1</c:v>
                </c:pt>
                <c:pt idx="1">
                  <c:v>2.0</c:v>
                </c:pt>
                <c:pt idx="2">
                  <c:v>5.2</c:v>
                </c:pt>
                <c:pt idx="3">
                  <c:v>10.9</c:v>
                </c:pt>
                <c:pt idx="4">
                  <c:v>18.3</c:v>
                </c:pt>
                <c:pt idx="5">
                  <c:v>23.8</c:v>
                </c:pt>
                <c:pt idx="6">
                  <c:v>544</c:v>
                </c:pt>
                <c:pt idx="7">
                  <c:v>566</c:v>
                </c:pt>
              </c:numCache>
            </c:numRef>
          </c:val>
        </c:ser>
        <c:gapWidth val="40"/>
        <c:axId val="100001"/>
        <c:axId val="100002"/>
      </c:barChart>
      <c:catAx>
        <c:axId val="100001"/>
        <c:scaling>
          <c:orientation val="maxMin"/>
        </c:scaling>
        <c:delete val="0"/>
        <c:axPos val="l"/>
        <c:majorTickMark val="none"/>
        <c:minorTickMark val="none"/>
        <c:tickLblPos val="nextTo"/>
        <c:spPr>
          <a:ln>
            <a:solidFill>
              <a:srgbClr val="7A6E9E"/>
            </a:solidFill>
          </a:ln>
        </c:spPr>
        <c:txPr>
          <a:bodyPr/>
          <a:lstStyle/>
          <a:p>
            <a:pPr>
              <a:defRPr sz="1050">
                <a:solidFill>
                  <a:srgbClr val="FFFFFF"/>
                </a:solidFill>
              </a:defRPr>
            </a:pPr>
          </a:p>
        </c:txPr>
        <c:crossAx val="100002"/>
        <c:crosses val="min"/>
        <c:auto val="1"/>
        <c:lblAlgn val="ctr"/>
        <c:lblOffset val="100"/>
        <c:noMultiLvlLbl val="0"/>
      </c:catAx>
      <c:valAx>
        <c:axId val="100002"/>
        <c:scaling>
          <c:logBase val="10"/>
          <c:max val="10000.0"/>
          <c:min val="0.01"/>
        </c:scaling>
        <c:delete val="0"/>
        <c:axPos val="b"/>
        <c:majorGridlines>
          <c:spPr>
            <a:ln w="6350">
              <a:solidFill>
                <a:srgbClr val="5A4F7C"/>
              </a:solidFill>
            </a:ln>
          </c:spPr>
        </c:majorGridlines>
        <c:numFmt formatCode="General" sourceLinked="0"/>
        <c:majorTickMark val="none"/>
        <c:minorTickMark val="none"/>
        <c:tickLblPos val="nextTo"/>
        <c:spPr>
          <a:ln>
            <a:noFill/>
          </a:ln>
        </c:spPr>
        <c:txPr>
          <a:bodyPr/>
          <a:lstStyle/>
          <a:p>
            <a:pPr>
              <a:defRPr sz="1000">
                <a:solidFill>
                  <a:srgbClr val="ADA3C8"/>
                </a:solidFill>
              </a:defRPr>
            </a:pPr>
          </a:p>
        </c:txPr>
        <c:crossAx val="100001"/>
        <c:crosses val="max"/>
      </c:valAx>
      <c:spPr>
        <a:noFill/>
        <a:ln>
          <a:noFill/>
        </a:ln>
      </c:spPr>
    </c:plotArea>
    <c:dispBlanksAs val="gap"/>
  </c:chart>
  <c:spPr>
    <a:noFill/>
    <a:ln>
      <a:noFill/>
    </a:ln>
  </c:spPr>
  <c:txPr>
    <a:bodyPr/>
    <a:lstStyle/>
    <a:p>
      <a:pPr>
        <a:defRPr sz="1100">
          <a:solidFill>
            <a:srgbClr val="DDD6EE"/>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BC36F1F-2033-47B5-9DDB-5B60266EA76D}" type="datetimeFigureOut">
              <a:rPr lang="es-MX" smtClean="0"/>
              <a:t>20/08/2026</a:t>
            </a:fld>
            <a:endParaRPr lang="es-MX"/>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A5E7A3-30F3-4E37-9EF6-783CE7CDBF05}" type="slidenum">
              <a:rPr lang="es-MX" smtClean="0"/>
              <a:t>‹Nº›</a:t>
            </a:fld>
            <a:endParaRPr lang="es-MX"/>
          </a:p>
        </p:txBody>
      </p:sp>
    </p:spTree>
    <p:extLst>
      <p:ext uri="{BB962C8B-B14F-4D97-AF65-F5344CB8AC3E}">
        <p14:creationId xmlns:p14="http://schemas.microsoft.com/office/powerpoint/2010/main" val="449142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Good afternoon. I am presenting joint work with Uriel González Casiano and Marco Tulio Maldonado Mejía, from ESCOM at the Instituto Politécnico Nacional: a dimensional data warehouse for the geospatial monitoring of municipal public works — and, deliberately, only an evolution path toward a lakehouse, not a lakehouse.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The setting is Temascaltepec, in the State of Mexico: about 65 thousand inhabitants spread over 55 communities in a mountainous area. A public-works office there juggles contractors, budgets, field supervisors, progress photographs and hand-over records — usually in spreadsheets, shared folders or isolated transactional systems. Photos and PDFs are detached from the record, and when a budget changes the old value is simply overwritten. The result: no historical analysis, no early detection of delays, and citizens who at best get a static download portal.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Three questions drive the work. RQ1: can a dimensional warehouse on commodity managed services give auditable history at this scale, without enterprise lakehouse platforms? RQ2: which design decisions — fact grain, slowly changing dimension type per entity, view strategy — let delay detection, budget alerts and participation share one schema? RQ3: how good is a simple threshold rule over the warehouse at recovering anomalies, compared with an unsupervised baseline, and where does it fail? The three contributions map onto them: a reference architecture, a geospatial exploration interface, and a non-circular evaluation.</a:t>
            </a:r>
          </a:p>
          <a:p>
            <a:r>
              <a:t>RQ1
Can a dimensional DW on commodity managed services (PostgreSQL/Supabase + S3-compatible storage) give auditable history of public works at rural-municipality scale — without enterprise lakehouse platforms?
→ Architecture · warehouse · cost
RQ2
Which design decisions — fact grain, SCD type per entity, view materialisation — let delay detection, budget alerts and citizen participation share one analytical schema?
→ Grain · SCD · views
RQ3
How well does a threshold rule over the warehouse views recover execution anomalies, compared with an unsupervised baseline — and which anomaly classes does it miss?
→ Detection evaluation
CONTRIBUTIONS
1
Reference architecture: warehouse with SCDs + S3-compatible evidence + REST API
2
Geospatial map as a graph-like exploration interface
3
Non-circular evaluation against latent causes, with per-class failure analysis</a:t>
            </a:r>
          </a:p>
          <a:p>
            <a:r>
              <a:t>Fuente / Source: paper/main_camera_ready.tex and paper/main_camera_ready.pdf.</a:t>
            </a:r>
          </a:p>
          <a:p>
            <a:r>
              <a:t>Conceptual illustrations generated with the built-in OpenAI image generation tool. They do not represent real municipal records or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How does this relate to knowledge-graph work, the home of this conference? Geospatial knowledge graphs such as KnowWhereGraph or Zaragoza's municipal graph give a formal semantic layer that we do not have. OC4IDS defines what to disclose about infrastructure, not how a small municipality produces and historises it. Geospatial lakehouses offer far greater scale, at enterprise cost. Our position is the intersection of two things: temporal auditability — the record as it was on a given date — and binary evidence linked back to the analytical store, at municipal scale. That is a position, not a claim that nobody else does it: we did not run a systematic review.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architecture has four layers. Actors use role-specific web pages. A Flask REST API — nine blueprints, 56 routes, eleven of them public and read-only — routes structured data to the operational schema and binary files to Cloudflare R2. Database triggers, not an external ETL job, populate the warehouse: ten dimensions, two fact tables, six views. The presentation layer is OLAP queries, the detection module, and the geospatial viewer, which reads the public endpoints and the evidence URLs. Solid arrows are structured data; dashed arrows are binary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The core is a star schema. Two fact tables: audit events, at the grain of one immutable action — 17 event types, partitioned by year — and a monthly snapshot of each work. Stating the grain matters: because the monthly table is a snapshot, aggregating cost over months means taking the last snapshot, not a sum, and the views encapsulate that rule. Ten dimensions: the five on the left are SCD Type 2 — works, regions, contractors, staff and budget — and carry the history. On the right, time and event type are fixed catalogues, and source, citizen and proposal are Type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Why Type 2? Because it answers the auditor's question: what did this record look like the day the budget was modified? When a budget changes, a trigger closes the current version and opens a new one, so a payment authorised in May joins the version that was in force in May. The same mechanism keeps earlier progress attributed to the original contractor after a reassignment, and prevents a merged community from rewriting the investment history. Citizens and proposals are deliberately Type 1: keeping superseded names and national identity codes would be a personal-data liability with no analytical return. A script checks the schema against these declared types, so they cannot drift apart. The values in the table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There is no ETL job. Twelve triggers do the work: eight keep the dimensions in sync, applying SCD 2 where needed, and four emit audit rows when a progress report, a cost, an image or a vote is registered. Six standard — not materialised — views sit on top. At around ten thousand fact rows they run in milliseconds; alerts must be actionable the moment a supervisor uploads a report; and there is no refresh job that can fail. If this scales to several municipalities, the aggregation-heavy views can be materialised and refreshed concurrently after each nightly load, keeping the alert views 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Evidence lives in Cloudflare R2, S3-compatible, with zero egress cost. Keys follow a hive-partitioned convention by work and period, and every object's metadata is persisted in the warehouse, so the link goes both ways. The images on the left are the artefact's gallery for one work — AI-generated illustrations, each stamped ILUSTRATIVO in the file, not municipal evidence. One honest caveat: the upload is compensated, not atomic. If the database fails, the API deletes what it just uploaded, best effort; a crash in between can still leave an orphaned object.</a:t>
            </a:r>
          </a:p>
          <a:p>
            <a:r>
              <a:t>BEFORE
AFTER
Work OBR-001 in the artefact's gallery — AI-generated illustrations, each stamped ILUSTRATIVO; not municipal evidence
Hive-partitioned object keys
works/
{work_id}
/reports/
{year}-{month}
/
{ts}_{slug}
.{ext}
explore by work and by period, straight from the bucket
…and one warehouse-side metadata row per object:
public URL
original name
MIME type
size (bytes)
upload date
1
Supervisor attaches photos / PDFs to a progress report
2
The API computes the object key
3
Uploads through the S3 SDK to Cloudflare R2 (zero egress cost)
4
Records the metadata in the warehouse, returns the public URL
Compensated, not atomic. 
On a database failure the API deletes what it just uploaded (best effort); a crash in between can leave an orphan — no reconciliation sweep yet.</a:t>
            </a:r>
          </a:p>
          <a:p>
            <a:r>
              <a:t>Fuente / Source: paper/main_camera_ready.tex and paper/main_camera_ready.pdf.</a:t>
            </a:r>
          </a:p>
          <a:p>
            <a:r>
              <a:t>Captura del sitio publicado / Published site screenshot, 2026-09-17: https://gabrielhuav.github.io/PublicMunicipalWorks_DWH/director/director.html . Synthetic demonstration. Gallery work photographs are AI-generated illustrations, not municipal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The geospatial viewer is Figure 3 of the paper. Markers are colour-coded by state — green completed, amber in progress, red delayed — and sit on the real coordinates of each community, resolved from OpenStreetMap, with a small deterministic offset. Selecting a work opens its technical card: case file, budget, contractor, dates, physical progress and images from the object store — here, a delayed classroom and a completed retaining wall. The analysis layer surfaces days of slippage and the physical-versus-financial gap. It is an implicit graph derived from the foreign keys of the dimensional model — not an OWL knowledge graph; publishing the vocabulary is future work.</a:t>
            </a:r>
          </a:p>
          <a:p>
            <a:r>
              <a:t>Fig. 3 of the paper · base map © OpenStreetMap contributors, © CARTO · Leaflet
● 
● 
● 
Markers by state: completed · in progress · delayed
Technical card: 
case file, budget, contractor, dates, physical progress, images from R2
Analysis layer: 
days of slippage (C2) · physical vs financial progress (C3)
Relations derive from foreign keys — not an OWL/RDF graph (future work)</a:t>
            </a:r>
          </a:p>
          <a:p>
            <a:r>
              <a:t>Fuente / Source: paper/main_camera_ready.tex and paper/main_camera_ready.pdf.</a:t>
            </a:r>
          </a:p>
          <a:p>
            <a:r>
              <a:t>Source: Figure 3 and work-detail screenshots embedded in the original supplied deck. OpenStreetMap contributors, CARTO and Leaflet. Synthetic dataset.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Everything is live as a static site on GitHub Pages — static on purpose, so it keeps working with no backend running. It preserves the prototype's interface: the four role workspaces — works director, supervisor, budget planner and records office — plus citizen proposals and the map, in Spanish and English, with two themes in light and dark. Credentials are printed on the page, the form accepts anything, and all data is synthetic and lives only in your own browser tab, so nobody can affect anybody else. Scan the code to try it. The Flask API and the PostgreSQL warehouse are distributed as a Docker stack you can run from the repository.</a:t>
            </a:r>
          </a:p>
          <a:p>
            <a:r>
              <a:t>No backend: synthetic data in your tab
Spanish / English
2 themes × light / dark
Open access: demo credentials on the page
Works director · registered works
Supervisor · report book
Budget planner
Community proposals
Try it now
gabrielhuav.github.io/PublicMunicipalWorks_DWH
Flask API + PostgreSQL: runnable with Docker from the repository</a:t>
            </a:r>
          </a:p>
          <a:p>
            <a:r>
              <a:t>Fuente / Source: paper/main_camera_ready.tex and paper/main_camera_ready.pdf.</a:t>
            </a:r>
          </a:p>
          <a:p>
            <a:r>
              <a:t>Captura del sitio publicado / Published site screenshot, 2026-09-17: https://gabrielhuav.github.io/PublicMunicipalWorks_DWH/director/director.html . Synthetic demonstration. Gallery work photographs are AI-generated illustrations, not municipal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Before the numbers, their scope. There are three synthetic populations and we never mix them. The published site holds six works in the visitor's browser tab and supports only interface claims and the Lighthouse audit. The seeded warehouse — 1,247 works in 55 communities, 127.4 million pesos, almost nine thousand audit events — supports the structural claims and the latencies. And a separate detection simulation, about 2,580 work-period records per seed, supports the detection table and nothing else. No number here is a measurement on real municipal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The detection module flags a work-month if any of three operational criteria holds: C1, a cost more than three standard deviations from the mean; C2, a recorded delay over 120 days; C3, physical progress below 30 percent with financial progress above 80 — paid for, but not built. The score takes the maximum of the three terms and flags above 3; we also use it for ranking metrics. Importantly, the rule is implemented as a SQL view over the monthly fact table and served read-only, so the rule we evaluate is exactly the rule an operator runs.</a:t>
            </a:r>
          </a:p>
          <a:p>
            <a:r>
              <a:t>C1  
Cost outlier
|b
i
 − μ
b
| / σ
b
 &gt; 3
executed budget more than 3 σ from the mean
C2  
Extreme delay
d
i
 &gt; 120 days
recorded slippage beyond 120 days
C3  
Progress inconsistency
physical &lt; 30 % ∧ financial &gt; 80 %
paid for, but not built
ANOMALY SCORE
flag if s
i
 &gt; 3
s
i
 = max( |b
i
 − μ
b
| / σ
b
 ,  (d
i
 / 120) · 𝟙[d
i
 &gt; 120] ,  3.5 · 𝟙[C3] )
v_anomalies_detection
SQL view over the monthly fact
/api/analitica/anomalias
served read-only
the rule evaluated = the rule an operator runs</a:t>
            </a:r>
          </a:p>
          <a:p>
            <a:r>
              <a:t>Fuente / Source: paper/main_camera_ready.tex and paper/main_camera_ready.pdf.</a:t>
            </a:r>
          </a:p>
          <a:p>
            <a:r>
              <a:t>Conceptual illustrations generated with the built-in OpenAI image generation tool. They do not represent real municipal records or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evaluation is designed not to be circular. Anomalies are latent process states — an inflated price, an unproductive contractor, payments ahead of execution, a stopped work, a ghost work — whose observable magnitudes overlap the normal range, so some are undetectable and some healthy works look irregular. Ten seeds, four prevalences, and an Isolation Forest baseline, also evaluated at a matched alert budget. The rule reaches 0.46 precision at 0.35 recall. It does not dominate: Isolation Forest ranks better on both AUCs. Its advantage is the operating point: with the same number of alerts it is more precise and recovers more — which is what matters to an office that reviews a fixed number of files per period. Both improve with prevalence.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Per cause, the failures are diagnostic. The rule recovers unproductive contractors, ghost works and stopped works reasonably, but overpricing only 9 percent of the time and payments ahead of execution 6 percent. The reason is structural, not a matter of tuning. C1 compares an absolute amount with the mean of its period, so it flags big works, not overpriced ones: a school inflated by 30 percent is still cheaper than an honest road. And no criterion looks at the physical-financial gap unless physical progress falls below 30 percent, so a work paid steadily ahead of its execution passes if it eventually finishes. It is a schedule-failure filter with a narrow ghost-work check — not a cost-anomaly detector.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Latency, measured on the Docker reference stack with the seeded population. The warehouse answers in single-digit milliseconds: the delayed-works view in 2 ms, an insert that fires the SCD 2 trigger in 0.1 ms. The time goes into delivery: the public works endpoint serialises the whole portfolio, 753 kB, in 566 ms, and sustained throughput is 3.4 requests per second with two synchronous workers. Pagination and more workers fix that without touching the dimensional design. On the right, the static front end: 100 in accessibility on both pages — reached by fixing what the audit reported, not by restating it. Performance is limited by delivery weight inherited from the prototype.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So, answering the questions. RQ1: yes — and in this version measured, on commodity services, with the analytical layer answering in milliseconds; the caveat is a reference stack under synthetic load, not a production installation. RQ2: an event-grain transaction fact plus a work-month snapshot, with SCD 2 restricted to the five audit-relevant entities, serves all three uses from one schema. RQ3: partly — 0.46 precision at 0.35 recall, out-ranked by Isolation Forest, with failures concentrated in cost anomalies, whose criterion is mis-specified. Overall: transparency with analytical capability, georeferenced evidence and participation, without enterprise-platform costs.</a:t>
            </a:r>
          </a:p>
          <a:p>
            <a:r>
              <a:t>RQ1
Yes — and measured
10 dimensions (5 SCD 2), 2 facts and 6 views on commodity managed services; the analytical layer answers in single-digit ms and the limit is the delivery layer. Caveat: a reference stack under synthetic load, not a production municipality.
RQ2
One schema serves all three uses
An event-grain transaction fact plus a work × month snapshot, with SCD 2 restricted to the five audit-relevant entities, serves delay detection, budget alerting and participation analytics.
RQ3
Partly
0.46 precision at 0.35 recall against latent causes; out-ranked by Isolation Forest; failures concentrate in cost anomalies, whose criterion is mis-specified.
Transparency with analytical capability, georeferenced evidence and citizen participation — without enterprise-platform costs.</a:t>
            </a:r>
          </a:p>
          <a:p>
            <a:r>
              <a:t>Fuente / Source: paper/main_camera_ready.tex and paper/main_camera_ready.pdf.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Limitations: there is no hosted dynamic deployment, all data is synthetic, the object store is not queried analytically, the map reads the operational schema, and access control is lightweight. The main road ahead is a real lakehouse: an open table format — Iceberg, or Parquet with transactional metadata — on R2, queried by a lightweight engine such as DuckDB or Trino, without Spark; then the schema as an OWL vocabulary and an OC4IDS-conformant projection, so the data becomes comparable with other jurisdictions. Also: computer vision on progress photos, quadratic voting, completion forecasting, a per-work-type cost criterion, and validation in more municipalities.</a:t>
            </a:r>
          </a:p>
          <a:p>
            <a:r>
              <a:t>TODAY
Dimensional DW + evidence store
PostgreSQL warehouse · R2 holds binaries, not queried
NEXT
Open table format on the lake
Iceberg or Parquet + transactional metadata on R2, queried by DuckDB / Trino — no Spark
THEN
Linked, comparable data
schema as an OWL vocabulary · OC4IDS-conformant projection
Limitations
No hosted dynamic deployment: permanence rests on the static artefact
All analytical results come from synthetic data
The object store holds evidence but is not queried analytically
Public map endpoints read the operational schema, not the views
Lightweight access control: header role, session token without expiry
Simple voting may under-represent minorities
Also next
Computer vision on progress photos
Quadratic voting for minority proposals
Time-series forecasts of completion dates
Cost criterion per work type, re-evaluated
More municipalities, pre/post measurement
Harden auth: expiry, rotation, no header role</a:t>
            </a:r>
          </a:p>
          <a:p>
            <a:r>
              <a:t>Fuente / Source: paper/main_camera_ready.tex and paper/main_camera_ready.pdf.</a:t>
            </a:r>
          </a:p>
          <a:p>
            <a:r>
              <a:t>Conceptual illustrations generated with the built-in OpenAI image generation tool. They do not represent real municipal records or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Thank you. The live demo and the repository — code, data generators and evaluation scripts — are behind these two QR codes. I am happy to take questions.</a:t>
            </a:r>
          </a:p>
          <a:p/>
          <a:p>
            <a:r>
              <a:t>Backup answers:</a:t>
            </a:r>
          </a:p>
          <a:p>
            <a:r>
              <a:t>• Why not a knowledge graph? The relations already live in the foreign keys; publishing the schema as an OWL vocabulary is the first step of future work, and OC4IDS alignment the second.</a:t>
            </a:r>
          </a:p>
          <a:p>
            <a:r>
              <a:t>• Why not a lakehouse now? At municipal scale (~10^4 fact rows) PostgreSQL answers in milliseconds; the open-table-format step is planned without Spark (DuckDB/Trino over R2).</a:t>
            </a:r>
          </a:p>
          <a:p>
            <a:r>
              <a:t>• Is any number real? No — three synthetic populations; no claim about Temascaltepec's actual public works is made.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609492" y="1117966"/>
            <a:ext cx="6453554" cy="2387600"/>
          </a:xfrm>
        </p:spPr>
        <p:txBody>
          <a:bodyPr anchor="b"/>
          <a:lstStyle>
            <a:lvl1pPr algn="ctr">
              <a:defRPr sz="6000"/>
            </a:lvl1pPr>
          </a:lstStyle>
          <a:p>
            <a:r>
              <a:rPr lang="es-ES" dirty="0" smtClean="0"/>
              <a:t>Haga clic para modificar el estilo de título del patrón</a:t>
            </a:r>
            <a:endParaRPr lang="es-MX" dirty="0"/>
          </a:p>
        </p:txBody>
      </p:sp>
      <p:sp>
        <p:nvSpPr>
          <p:cNvPr id="3" name="Subtítulo 2"/>
          <p:cNvSpPr>
            <a:spLocks noGrp="1"/>
          </p:cNvSpPr>
          <p:nvPr>
            <p:ph type="subTitle" idx="1"/>
          </p:nvPr>
        </p:nvSpPr>
        <p:spPr>
          <a:xfrm>
            <a:off x="5609492" y="4002088"/>
            <a:ext cx="645355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pic>
        <p:nvPicPr>
          <p:cNvPr id="8" name="Imagen 7"/>
          <p:cNvPicPr>
            <a:picLocks noChangeAspect="1"/>
          </p:cNvPicPr>
          <p:nvPr userDrawn="1"/>
        </p:nvPicPr>
        <p:blipFill rotWithShape="1">
          <a:blip r:embed="rId2">
            <a:extLst>
              <a:ext uri="{28A0092B-C50C-407E-A947-70E740481C1C}">
                <a14:useLocalDpi xmlns:a14="http://schemas.microsoft.com/office/drawing/2010/main" val="0"/>
              </a:ext>
            </a:extLst>
          </a:blip>
          <a:srcRect b="12564"/>
          <a:stretch/>
        </p:blipFill>
        <p:spPr>
          <a:xfrm>
            <a:off x="0" y="10746"/>
            <a:ext cx="5486400" cy="5996354"/>
          </a:xfrm>
          <a:prstGeom prst="rect">
            <a:avLst/>
          </a:prstGeom>
        </p:spPr>
      </p:pic>
    </p:spTree>
    <p:extLst>
      <p:ext uri="{BB962C8B-B14F-4D97-AF65-F5344CB8AC3E}">
        <p14:creationId xmlns:p14="http://schemas.microsoft.com/office/powerpoint/2010/main" val="2516979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1016169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800772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1918CC1C-BDE7-40A2-A17E-8A8E06553619}" type="datetimeFigureOut">
              <a:rPr lang="es-MX" smtClean="0"/>
              <a:t>20/08/2026</a:t>
            </a:fld>
            <a:endParaRPr lang="es-MX"/>
          </a:p>
        </p:txBody>
      </p:sp>
      <p:sp>
        <p:nvSpPr>
          <p:cNvPr id="7" name="Marcador de número de diapositiva 6"/>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133287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2998176" y="365125"/>
            <a:ext cx="8357211"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1918CC1C-BDE7-40A2-A17E-8A8E06553619}" type="datetimeFigureOut">
              <a:rPr lang="es-MX" smtClean="0"/>
              <a:t>20/08/2026</a:t>
            </a:fld>
            <a:endParaRPr lang="es-MX"/>
          </a:p>
        </p:txBody>
      </p:sp>
      <p:sp>
        <p:nvSpPr>
          <p:cNvPr id="8" name="Marcador de pie de página 7"/>
          <p:cNvSpPr>
            <a:spLocks noGrp="1"/>
          </p:cNvSpPr>
          <p:nvPr>
            <p:ph type="ftr" sz="quarter" idx="11"/>
          </p:nvPr>
        </p:nvSpPr>
        <p:spPr>
          <a:xfrm>
            <a:off x="4038600" y="6356349"/>
            <a:ext cx="4114800" cy="365125"/>
          </a:xfrm>
          <a:prstGeom prst="rect">
            <a:avLst/>
          </a:prstGeom>
        </p:spPr>
        <p:txBody>
          <a:bodyPr/>
          <a:lstStyle/>
          <a:p>
            <a:endParaRPr lang="es-MX"/>
          </a:p>
        </p:txBody>
      </p:sp>
      <p:sp>
        <p:nvSpPr>
          <p:cNvPr id="9" name="Marcador de número de diapositiva 8"/>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602962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1918CC1C-BDE7-40A2-A17E-8A8E06553619}" type="datetimeFigureOut">
              <a:rPr lang="es-MX" smtClean="0"/>
              <a:t>20/08/2026</a:t>
            </a:fld>
            <a:endParaRPr lang="es-MX"/>
          </a:p>
        </p:txBody>
      </p:sp>
      <p:sp>
        <p:nvSpPr>
          <p:cNvPr id="5" name="Marcador de número de diapositiva 4"/>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3428029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918CC1C-BDE7-40A2-A17E-8A8E06553619}" type="datetimeFigureOut">
              <a:rPr lang="es-MX" smtClean="0"/>
              <a:t>20/08/2026</a:t>
            </a:fld>
            <a:endParaRPr lang="es-MX"/>
          </a:p>
        </p:txBody>
      </p:sp>
      <p:sp>
        <p:nvSpPr>
          <p:cNvPr id="4" name="Marcador de número de diapositiva 3"/>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3930161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5" name="Marcador de pie de página 4"/>
          <p:cNvSpPr>
            <a:spLocks noGrp="1"/>
          </p:cNvSpPr>
          <p:nvPr>
            <p:ph type="ftr" sz="quarter" idx="11"/>
          </p:nvPr>
        </p:nvSpPr>
        <p:spPr>
          <a:xfrm>
            <a:off x="4038600" y="6356349"/>
            <a:ext cx="4114800" cy="365125"/>
          </a:xfrm>
          <a:prstGeom prst="rect">
            <a:avLst/>
          </a:prstGeom>
        </p:spPr>
        <p:txBody>
          <a:bodyPr/>
          <a:lstStyle/>
          <a:p>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4270794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918CC1C-BDE7-40A2-A17E-8A8E06553619}" type="datetimeFigureOut">
              <a:rPr lang="es-MX" smtClean="0"/>
              <a:t>20/08/2026</a:t>
            </a:fld>
            <a:endParaRPr lang="es-MX"/>
          </a:p>
        </p:txBody>
      </p:sp>
      <p:sp>
        <p:nvSpPr>
          <p:cNvPr id="5" name="Marcador de pie de página 4"/>
          <p:cNvSpPr>
            <a:spLocks noGrp="1"/>
          </p:cNvSpPr>
          <p:nvPr>
            <p:ph type="ftr" sz="quarter" idx="11"/>
          </p:nvPr>
        </p:nvSpPr>
        <p:spPr>
          <a:xfrm>
            <a:off x="4038600" y="6356349"/>
            <a:ext cx="4114800" cy="365125"/>
          </a:xfrm>
          <a:prstGeom prst="rect">
            <a:avLst/>
          </a:prstGeom>
        </p:spPr>
        <p:txBody>
          <a:bodyPr/>
          <a:lstStyle/>
          <a:p>
            <a:endParaRPr lang="es-MX"/>
          </a:p>
        </p:txBody>
      </p:sp>
      <p:sp>
        <p:nvSpPr>
          <p:cNvPr id="6" name="Marcador de número de diapositiva 5"/>
          <p:cNvSpPr>
            <a:spLocks noGrp="1"/>
          </p:cNvSpPr>
          <p:nvPr>
            <p:ph type="sldNum" sz="quarter" idx="12"/>
          </p:nvPr>
        </p:nvSpPr>
        <p:spPr/>
        <p:txBody>
          <a:bodyPr/>
          <a:lstStyle/>
          <a:p>
            <a:fld id="{C9CC731C-4015-4722-B2F6-924864FCA402}" type="slidenum">
              <a:rPr lang="es-MX" smtClean="0"/>
              <a:t>‹Nº›</a:t>
            </a:fld>
            <a:endParaRPr lang="es-MX"/>
          </a:p>
        </p:txBody>
      </p:sp>
    </p:spTree>
    <p:extLst>
      <p:ext uri="{BB962C8B-B14F-4D97-AF65-F5344CB8AC3E}">
        <p14:creationId xmlns:p14="http://schemas.microsoft.com/office/powerpoint/2010/main" val="8368215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3048000" y="365125"/>
            <a:ext cx="83058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127500"/>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18CC1C-BDE7-40A2-A17E-8A8E06553619}" type="datetimeFigureOut">
              <a:rPr lang="es-MX" smtClean="0"/>
              <a:t>20/08/2026</a:t>
            </a:fld>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CC731C-4015-4722-B2F6-924864FCA402}" type="slidenum">
              <a:rPr lang="es-MX" smtClean="0"/>
              <a:t>‹Nº›</a:t>
            </a:fld>
            <a:endParaRPr lang="es-MX"/>
          </a:p>
        </p:txBody>
      </p:sp>
    </p:spTree>
    <p:extLst>
      <p:ext uri="{BB962C8B-B14F-4D97-AF65-F5344CB8AC3E}">
        <p14:creationId xmlns:p14="http://schemas.microsoft.com/office/powerpoint/2010/main" val="367174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 id="2147483659" r:id="rId9"/>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3.xml"/><Relationship Id="rId6" Type="http://schemas.openxmlformats.org/officeDocument/2006/relationships/image" Target="../media/visual_EN_1_image.png"/><Relationship Id="rId7" Type="http://schemas.openxmlformats.org/officeDocument/2006/relationships/image" Target="../media/visual_EN_1_image2.png"/><Relationship Id="rId8" Type="http://schemas.openxmlformats.org/officeDocument/2006/relationships/image" Target="../media/visual_EN_1_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12.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21.png"/><Relationship Id="rId7" Type="http://schemas.openxmlformats.org/officeDocument/2006/relationships/image" Target="../media/image19.png"/><Relationship Id="rId8" Type="http://schemas.openxmlformats.org/officeDocument/2006/relationships/image" Target="../media/image11.png"/><Relationship Id="rId9" Type="http://schemas.openxmlformats.org/officeDocument/2006/relationships/notesSlide" Target="../notesSlides/notesSlide9.xml"/><Relationship Id="rId10" Type="http://schemas.openxmlformats.org/officeDocument/2006/relationships/image" Target="../media/visual_EN_2_image.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jpg"/><Relationship Id="rId3" Type="http://schemas.openxmlformats.org/officeDocument/2006/relationships/image" Target="../media/image37.jpg"/><Relationship Id="rId4" Type="http://schemas.openxmlformats.org/officeDocument/2006/relationships/image" Target="../media/image38.jpg"/><Relationship Id="rId5" Type="http://schemas.openxmlformats.org/officeDocument/2006/relationships/notesSlide" Target="../notesSlides/notesSlide10.xml"/><Relationship Id="rId6" Type="http://schemas.openxmlformats.org/officeDocument/2006/relationships/image" Target="../media/visual_EN_3_image2.jpeg"/><Relationship Id="rId7" Type="http://schemas.openxmlformats.org/officeDocument/2006/relationships/image" Target="../media/visual_EN_3_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jpg"/><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jpg"/><Relationship Id="rId8" Type="http://schemas.openxmlformats.org/officeDocument/2006/relationships/image" Target="../media/image44.jpg"/><Relationship Id="rId9" Type="http://schemas.openxmlformats.org/officeDocument/2006/relationships/image" Target="../media/image45.jpg"/><Relationship Id="rId10" Type="http://schemas.openxmlformats.org/officeDocument/2006/relationships/image" Target="../media/image46.jpg"/><Relationship Id="rId11" Type="http://schemas.openxmlformats.org/officeDocument/2006/relationships/image" Target="../media/image47.png"/><Relationship Id="rId12" Type="http://schemas.openxmlformats.org/officeDocument/2006/relationships/notesSlide" Target="../notesSlides/notesSlide11.xml"/><Relationship Id="rId13" Type="http://schemas.openxmlformats.org/officeDocument/2006/relationships/image" Target="../media/visual_EN_4_image4.jpeg"/><Relationship Id="rId14" Type="http://schemas.openxmlformats.org/officeDocument/2006/relationships/image" Target="../media/visual_EN_4_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notesSlide" Target="../notesSlides/notesSlide13.xml"/><Relationship Id="rId6" Type="http://schemas.openxmlformats.org/officeDocument/2006/relationships/image" Target="../media/visual_EN_5_image5.png"/><Relationship Id="rId7" Type="http://schemas.openxmlformats.org/officeDocument/2006/relationships/image" Target="../media/visual_EN_5_image6.png"/><Relationship Id="rId8" Type="http://schemas.openxmlformats.org/officeDocument/2006/relationships/image" Target="../media/visual_EN_5_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image" Target="../media/image49.png"/><Relationship Id="rId4" Type="http://schemas.openxmlformats.org/officeDocument/2006/relationships/image" Target="../media/image51.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image" Target="../media/image5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1.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34.png"/><Relationship Id="rId10" Type="http://schemas.openxmlformats.org/officeDocument/2006/relationships/image" Target="../media/image59.png"/><Relationship Id="rId11" Type="http://schemas.openxmlformats.org/officeDocument/2006/relationships/image" Target="../media/image60.png"/><Relationship Id="rId12" Type="http://schemas.openxmlformats.org/officeDocument/2006/relationships/image" Target="../media/image61.png"/><Relationship Id="rId13" Type="http://schemas.openxmlformats.org/officeDocument/2006/relationships/image" Target="../media/image62.png"/><Relationship Id="rId14" Type="http://schemas.openxmlformats.org/officeDocument/2006/relationships/image" Target="../media/image27.png"/><Relationship Id="rId15" Type="http://schemas.openxmlformats.org/officeDocument/2006/relationships/notesSlide" Target="../notesSlides/notesSlide18.xml"/><Relationship Id="rId16" Type="http://schemas.openxmlformats.org/officeDocument/2006/relationships/image" Target="../media/visual_EN_7_image8.png"/><Relationship Id="rId17" Type="http://schemas.openxmlformats.org/officeDocument/2006/relationships/image" Target="../media/visual_EN_7_image9.png"/><Relationship Id="rId18" Type="http://schemas.openxmlformats.org/officeDocument/2006/relationships/image" Target="../media/visual_EN_7_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 Id="rId3" Type="http://schemas.openxmlformats.org/officeDocument/2006/relationships/image" Target="../media/image63.png"/><Relationship Id="rId4"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669280" y="960120"/>
            <a:ext cx="6172200" cy="2331720"/>
          </a:xfrm>
        </p:spPr>
        <p:txBody>
          <a:bodyPr wrap="square" lIns="0" rIns="0" tIns="0" bIns="0" anchor="b">
            <a:noAutofit/>
          </a:bodyPr>
          <a:lstStyle/>
          <a:p>
            <a:pPr algn="ctr">
              <a:lnSpc>
                <a:spcPct val="95000"/>
              </a:lnSpc>
              <a:spcAft>
                <a:spcPts val="800"/>
              </a:spcAft>
            </a:pPr>
            <a:r>
              <a:rPr sz="2900" b="0" i="0" lang="en-US">
                <a:solidFill>
                  <a:srgbClr val="FFFFFF"/>
                </a:solidFill>
                <a:latin typeface="Calibri Light"/>
              </a:rPr>
              <a:t>A Dimensional Data Warehouse for Geospatial Monitoring of Municipal Public Works</a:t>
            </a:r>
          </a:p>
          <a:p>
            <a:pPr algn="ctr">
              <a:lnSpc>
                <a:spcPct val="95000"/>
              </a:lnSpc>
              <a:spcAft>
                <a:spcPts val="0"/>
              </a:spcAft>
            </a:pPr>
            <a:r>
              <a:rPr sz="1800" b="0" i="0" lang="en-US">
                <a:solidFill>
                  <a:srgbClr val="D9C5FF"/>
                </a:solidFill>
                <a:latin typeface="Calibri Light"/>
              </a:rPr>
              <a:t>with an Evolution Path Toward a Lakehouse Architecture</a:t>
            </a:r>
          </a:p>
        </p:txBody>
      </p:sp>
      <p:sp>
        <p:nvSpPr>
          <p:cNvPr id="3" name="Subtitle 2"/>
          <p:cNvSpPr>
            <a:spLocks noGrp="1"/>
          </p:cNvSpPr>
          <p:nvPr>
            <p:ph type="subTitle" idx="1"/>
          </p:nvPr>
        </p:nvSpPr>
        <p:spPr>
          <a:xfrm>
            <a:off x="5669280" y="3474720"/>
            <a:ext cx="6172200" cy="1051560"/>
          </a:xfrm>
        </p:spPr>
        <p:txBody>
          <a:bodyPr wrap="square" lIns="0" rIns="0" tIns="0" bIns="0" anchor="t">
            <a:noAutofit/>
          </a:bodyPr>
          <a:lstStyle/>
          <a:p>
            <a:pPr algn="ctr">
              <a:spcAft>
                <a:spcPts val="400"/>
              </a:spcAft>
            </a:pPr>
            <a:r>
              <a:rPr sz="1500" b="0" i="0" lang="en-US">
                <a:solidFill>
                  <a:srgbClr val="FFFFFF"/>
                </a:solidFill>
                <a:latin typeface="Calibri"/>
              </a:rPr>
              <a:t>Uriel González Casiano · Marco Tulio Maldonado Mejía · Gabriel Hurtado Avilés</a:t>
            </a:r>
          </a:p>
          <a:p>
            <a:pPr algn="ctr">
              <a:spcAft>
                <a:spcPts val="0"/>
              </a:spcAft>
            </a:pPr>
            <a:r>
              <a:rPr sz="1200" b="0" i="0" lang="en-US">
                <a:solidFill>
                  <a:srgbClr val="ADA3C8"/>
                </a:solidFill>
                <a:latin typeface="Calibri"/>
              </a:rPr>
              <a:t>Escuela Superior de Cómputo (ESCOM) · Instituto Politécnico Nacional · Mexico City</a:t>
            </a:r>
          </a:p>
        </p:txBody>
      </p:sp>
      <p:sp>
        <p:nvSpPr>
          <p:cNvPr id="4" name="Rounded Rectangle 3"/>
          <p:cNvSpPr/>
          <p:nvPr/>
        </p:nvSpPr>
        <p:spPr>
          <a:xfrm>
            <a:off x="6263640" y="4709160"/>
            <a:ext cx="4983480" cy="1097280"/>
          </a:xfrm>
          <a:prstGeom prst="roundRect">
            <a:avLst>
              <a:gd name="adj" fmla="val 11666"/>
            </a:avLst>
          </a:prstGeom>
          <a:solidFill>
            <a:srgbClr val="B57BFF">
              <a:alpha val="12000"/>
            </a:srgbClr>
          </a:solidFill>
          <a:ln w="9525">
            <a:solidFill>
              <a:srgbClr val="B5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263640" y="4773168"/>
            <a:ext cx="4983480" cy="1005840"/>
          </a:xfrm>
          <a:prstGeom prst="rect">
            <a:avLst/>
          </a:prstGeom>
          <a:noFill/>
        </p:spPr>
        <p:txBody>
          <a:bodyPr wrap="square" lIns="0" rIns="0" tIns="0" bIns="0" anchor="ctr">
            <a:noAutofit/>
          </a:bodyPr>
          <a:lstStyle/>
          <a:p>
            <a:pPr algn="ctr">
              <a:spcAft>
                <a:spcPts val="200"/>
              </a:spcAft>
            </a:pPr>
            <a:r>
              <a:rPr sz="1250" b="1" i="0" lang="en-US" spc="200">
                <a:solidFill>
                  <a:srgbClr val="B57BFF"/>
                </a:solidFill>
                <a:latin typeface="Calibri"/>
              </a:rPr>
              <a:t>ICOKG 2026 · SPRINGER</a:t>
            </a:r>
          </a:p>
          <a:p>
            <a:pPr algn="ctr">
              <a:spcAft>
                <a:spcPts val="0"/>
              </a:spcAft>
            </a:pPr>
            <a:r>
              <a:rPr sz="1250" b="0" i="0" lang="en-US">
                <a:solidFill>
                  <a:srgbClr val="FFFFFF"/>
                </a:solidFill>
                <a:latin typeface="Calibri"/>
              </a:rPr>
              <a:t>Session: Data Warehousing and Geospatial Modeling (virtual)</a:t>
            </a:r>
          </a:p>
          <a:p>
            <a:pPr algn="ctr">
              <a:spcAft>
                <a:spcPts val="0"/>
              </a:spcAft>
            </a:pPr>
            <a:r>
              <a:rPr sz="1250" b="0" i="0" lang="en-US">
                <a:solidFill>
                  <a:srgbClr val="DDD6EE"/>
                </a:solidFill>
                <a:latin typeface="Calibri"/>
              </a:rPr>
              <a:t>Thursday, September 24, 2026 · 14:00–14:20</a:t>
            </a:r>
          </a:p>
        </p:txBody>
      </p:sp>
      <p:pic>
        <p:nvPicPr>
          <p:cNvPr id="6" name="Picture 5" descr="Instituto Politécnico Nacional (IPN) logo"/>
          <p:cNvPicPr>
            <a:picLocks noChangeAspect="1"/>
          </p:cNvPicPr>
          <p:nvPr/>
        </p:nvPicPr>
        <p:blipFill>
          <a:blip r:embed="rId2"/>
          <a:stretch>
            <a:fillRect/>
          </a:stretch>
        </p:blipFill>
        <p:spPr>
          <a:xfrm>
            <a:off x="10455101" y="292608"/>
            <a:ext cx="310354" cy="530352"/>
          </a:xfrm>
          <a:prstGeom prst="rect">
            <a:avLst/>
          </a:prstGeom>
        </p:spPr>
      </p:pic>
      <p:pic>
        <p:nvPicPr>
          <p:cNvPr id="7" name="Picture 6" descr="escom_white.png"/>
          <p:cNvPicPr>
            <a:picLocks noChangeAspect="1"/>
          </p:cNvPicPr>
          <p:nvPr/>
        </p:nvPicPr>
        <p:blipFill>
          <a:blip r:embed="rId3"/>
          <a:stretch>
            <a:fillRect/>
          </a:stretch>
        </p:blipFill>
        <p:spPr>
          <a:xfrm>
            <a:off x="10927080" y="292608"/>
            <a:ext cx="694278"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The problem: public-works data without history</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CONTEXT</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2 / 19</a:t>
            </a:r>
          </a:p>
        </p:txBody>
      </p:sp>
      <p:pic>
        <p:nvPicPr>
          <p:cNvPr id="5" name="Picture 4" descr="parroquia.jpg"/>
          <p:cNvPicPr>
            <a:picLocks noChangeAspect="1"/>
          </p:cNvPicPr>
          <p:nvPr/>
        </p:nvPicPr>
        <p:blipFill>
          <a:blip r:embed="rId2"/>
          <a:srcRect l="446" r="446"/>
          <a:stretch>
            <a:fillRect/>
          </a:stretch>
        </p:blipFill>
        <p:spPr>
          <a:xfrm>
            <a:off x="548640" y="1783080"/>
            <a:ext cx="3977639" cy="2697480"/>
          </a:xfrm>
          <a:prstGeom prst="roundRect">
            <a:avLst>
              <a:gd name="adj" fmla="val 4067"/>
            </a:avLst>
          </a:prstGeom>
          <a:ln w="12700">
            <a:solidFill>
              <a:srgbClr val="D9C5FF">
                <a:alpha val="35000"/>
              </a:srgbClr>
            </a:solidFill>
          </a:ln>
          <a:effectLst>
            <a:outerShdw blurRad="177800" dist="50800" dir="5400000" algn="t" rotWithShape="0">
              <a:srgbClr val="000000">
                <a:alpha val="50000"/>
              </a:srgbClr>
            </a:outerShdw>
          </a:effectLst>
        </p:spPr>
      </p:pic>
      <p:sp>
        <p:nvSpPr>
          <p:cNvPr id="6" name="TextBox 5"/>
          <p:cNvSpPr txBox="1"/>
          <p:nvPr/>
        </p:nvSpPr>
        <p:spPr>
          <a:xfrm>
            <a:off x="548640" y="4553712"/>
            <a:ext cx="3977639" cy="274320"/>
          </a:xfrm>
          <a:prstGeom prst="rect">
            <a:avLst/>
          </a:prstGeom>
          <a:noFill/>
        </p:spPr>
        <p:txBody>
          <a:bodyPr wrap="square" lIns="0" rIns="0" tIns="0" bIns="0" anchor="t">
            <a:noAutofit/>
          </a:bodyPr>
          <a:lstStyle/>
          <a:p>
            <a:pPr algn="l">
              <a:spcAft>
                <a:spcPts val="0"/>
              </a:spcAft>
            </a:pPr>
            <a:r>
              <a:rPr sz="1150" b="0" i="0" lang="en-US">
                <a:solidFill>
                  <a:srgbClr val="DDD6EE"/>
                </a:solidFill>
                <a:latin typeface="Calibri"/>
              </a:rPr>
              <a:t>Temascaltepec de González, municipal seat</a:t>
            </a:r>
          </a:p>
        </p:txBody>
      </p:sp>
      <p:sp>
        <p:nvSpPr>
          <p:cNvPr id="7" name="TextBox 6"/>
          <p:cNvSpPr txBox="1"/>
          <p:nvPr/>
        </p:nvSpPr>
        <p:spPr>
          <a:xfrm>
            <a:off x="548640" y="4791456"/>
            <a:ext cx="3977639" cy="274320"/>
          </a:xfrm>
          <a:prstGeom prst="rect">
            <a:avLst/>
          </a:prstGeom>
          <a:noFill/>
        </p:spPr>
        <p:txBody>
          <a:bodyPr wrap="square" lIns="0" rIns="0" tIns="0" bIns="0" anchor="t">
            <a:noAutofit/>
          </a:bodyPr>
          <a:lstStyle/>
          <a:p>
            <a:pPr algn="l">
              <a:spcAft>
                <a:spcPts val="0"/>
              </a:spcAft>
            </a:pPr>
            <a:r>
              <a:rPr sz="850" b="0" i="0" lang="en-US">
                <a:solidFill>
                  <a:srgbClr val="8E84AB"/>
                </a:solidFill>
                <a:latin typeface="Calibri"/>
              </a:rPr>
              <a:t>Photo: Catedrales e Iglesias · CC BY 2.0 · Wikimedia Commons</a:t>
            </a:r>
          </a:p>
        </p:txBody>
      </p:sp>
      <p:sp>
        <p:nvSpPr>
          <p:cNvPr id="8" name="TextBox 7"/>
          <p:cNvSpPr txBox="1"/>
          <p:nvPr/>
        </p:nvSpPr>
        <p:spPr>
          <a:xfrm>
            <a:off x="548640" y="5074920"/>
            <a:ext cx="1920240" cy="566928"/>
          </a:xfrm>
          <a:prstGeom prst="rect">
            <a:avLst/>
          </a:prstGeom>
          <a:noFill/>
        </p:spPr>
        <p:txBody>
          <a:bodyPr wrap="square" lIns="0" rIns="0" tIns="0" bIns="0" anchor="t">
            <a:noAutofit/>
          </a:bodyPr>
          <a:lstStyle/>
          <a:p>
            <a:pPr algn="l">
              <a:spcAft>
                <a:spcPts val="0"/>
              </a:spcAft>
            </a:pPr>
            <a:r>
              <a:rPr sz="3400" b="1" i="0" lang="en-US">
                <a:solidFill>
                  <a:srgbClr val="D9C5FF"/>
                </a:solidFill>
                <a:latin typeface="Calibri"/>
              </a:rPr>
              <a:t>64,844</a:t>
            </a:r>
          </a:p>
        </p:txBody>
      </p:sp>
      <p:sp>
        <p:nvSpPr>
          <p:cNvPr id="9" name="TextBox 8"/>
          <p:cNvSpPr txBox="1"/>
          <p:nvPr/>
        </p:nvSpPr>
        <p:spPr>
          <a:xfrm>
            <a:off x="548640" y="5605272"/>
            <a:ext cx="1920240" cy="292608"/>
          </a:xfrm>
          <a:prstGeom prst="rect">
            <a:avLst/>
          </a:prstGeom>
          <a:noFill/>
        </p:spPr>
        <p:txBody>
          <a:bodyPr wrap="square" lIns="0" rIns="0" tIns="0" bIns="0" anchor="t">
            <a:noAutofit/>
          </a:bodyPr>
          <a:lstStyle/>
          <a:p>
            <a:pPr algn="l">
              <a:spcAft>
                <a:spcPts val="0"/>
              </a:spcAft>
            </a:pPr>
            <a:r>
              <a:rPr sz="1250" b="0" i="0" lang="en-US">
                <a:solidFill>
                  <a:srgbClr val="DDD6EE"/>
                </a:solidFill>
                <a:latin typeface="Calibri"/>
              </a:rPr>
              <a:t>inhabitants</a:t>
            </a:r>
          </a:p>
        </p:txBody>
      </p:sp>
      <p:sp>
        <p:nvSpPr>
          <p:cNvPr id="10" name="TextBox 9"/>
          <p:cNvSpPr txBox="1"/>
          <p:nvPr/>
        </p:nvSpPr>
        <p:spPr>
          <a:xfrm>
            <a:off x="2560320" y="5074920"/>
            <a:ext cx="1920240" cy="566928"/>
          </a:xfrm>
          <a:prstGeom prst="rect">
            <a:avLst/>
          </a:prstGeom>
          <a:noFill/>
        </p:spPr>
        <p:txBody>
          <a:bodyPr wrap="square" lIns="0" rIns="0" tIns="0" bIns="0" anchor="t">
            <a:noAutofit/>
          </a:bodyPr>
          <a:lstStyle/>
          <a:p>
            <a:pPr algn="l">
              <a:spcAft>
                <a:spcPts val="0"/>
              </a:spcAft>
            </a:pPr>
            <a:r>
              <a:rPr sz="3400" b="1" i="0" lang="en-US">
                <a:solidFill>
                  <a:srgbClr val="D9C5FF"/>
                </a:solidFill>
                <a:latin typeface="Calibri"/>
              </a:rPr>
              <a:t>55</a:t>
            </a:r>
          </a:p>
        </p:txBody>
      </p:sp>
      <p:sp>
        <p:nvSpPr>
          <p:cNvPr id="11" name="TextBox 10"/>
          <p:cNvSpPr txBox="1"/>
          <p:nvPr/>
        </p:nvSpPr>
        <p:spPr>
          <a:xfrm>
            <a:off x="2560320" y="5605272"/>
            <a:ext cx="1920240" cy="292608"/>
          </a:xfrm>
          <a:prstGeom prst="rect">
            <a:avLst/>
          </a:prstGeom>
          <a:noFill/>
        </p:spPr>
        <p:txBody>
          <a:bodyPr wrap="square" lIns="0" rIns="0" tIns="0" bIns="0" anchor="t">
            <a:noAutofit/>
          </a:bodyPr>
          <a:lstStyle/>
          <a:p>
            <a:pPr algn="l">
              <a:spcAft>
                <a:spcPts val="0"/>
              </a:spcAft>
            </a:pPr>
            <a:r>
              <a:rPr sz="1250" b="0" i="0" lang="en-US">
                <a:solidFill>
                  <a:srgbClr val="DDD6EE"/>
                </a:solidFill>
                <a:latin typeface="Calibri"/>
              </a:rPr>
              <a:t>communities</a:t>
            </a:r>
          </a:p>
        </p:txBody>
      </p:sp>
      <p:pic>
        <p:nvPicPr>
          <p:cNvPr id="12" name="Picture 11" descr="locator_en.png"/>
          <p:cNvPicPr>
            <a:picLocks noChangeAspect="1"/>
          </p:cNvPicPr>
          <p:nvPr/>
        </p:nvPicPr>
        <p:blipFill>
          <a:blip r:embed="rId3"/>
          <a:stretch>
            <a:fillRect/>
          </a:stretch>
        </p:blipFill>
        <p:spPr>
          <a:xfrm>
            <a:off x="4709160" y="1737360"/>
            <a:ext cx="3429000" cy="2971800"/>
          </a:xfrm>
          <a:prstGeom prst="rect">
            <a:avLst/>
          </a:prstGeom>
        </p:spPr>
      </p:pic>
      <p:sp>
        <p:nvSpPr>
          <p:cNvPr id="13" name="TextBox 12"/>
          <p:cNvSpPr txBox="1"/>
          <p:nvPr/>
        </p:nvSpPr>
        <p:spPr>
          <a:xfrm>
            <a:off x="4754880" y="4754880"/>
            <a:ext cx="3383280" cy="274320"/>
          </a:xfrm>
          <a:prstGeom prst="rect">
            <a:avLst/>
          </a:prstGeom>
          <a:noFill/>
        </p:spPr>
        <p:txBody>
          <a:bodyPr wrap="square" lIns="0" rIns="0" tIns="0" bIns="0" anchor="t">
            <a:noAutofit/>
          </a:bodyPr>
          <a:lstStyle/>
          <a:p>
            <a:pPr algn="l">
              <a:spcAft>
                <a:spcPts val="0"/>
              </a:spcAft>
            </a:pPr>
            <a:r>
              <a:rPr sz="850" b="0" i="0" lang="en-US">
                <a:solidFill>
                  <a:srgbClr val="8E84AB"/>
                </a:solidFill>
                <a:latin typeface="Calibri"/>
              </a:rPr>
              <a:t>Boundaries © OpenStreetMap contributors (ODbL)</a:t>
            </a:r>
          </a:p>
        </p:txBody>
      </p:sp>
      <p:sp>
        <p:nvSpPr>
          <p:cNvPr id="14" name="TextBox 13"/>
          <p:cNvSpPr txBox="1"/>
          <p:nvPr/>
        </p:nvSpPr>
        <p:spPr>
          <a:xfrm>
            <a:off x="8412480" y="1783080"/>
            <a:ext cx="3246120" cy="320040"/>
          </a:xfrm>
          <a:prstGeom prst="rect">
            <a:avLst/>
          </a:prstGeom>
          <a:noFill/>
        </p:spPr>
        <p:txBody>
          <a:bodyPr wrap="square" lIns="0" rIns="0" tIns="0" bIns="0" anchor="t">
            <a:noAutofit/>
          </a:bodyPr>
          <a:lstStyle/>
          <a:p>
            <a:pPr algn="l">
              <a:spcAft>
                <a:spcPts val="0"/>
              </a:spcAft>
            </a:pPr>
            <a:r>
              <a:rPr sz="1400" b="1" i="0" lang="en-US">
                <a:solidFill>
                  <a:srgbClr val="D9C5FF"/>
                </a:solidFill>
                <a:latin typeface="Calibri"/>
              </a:rPr>
              <a:t>What the office works with today</a:t>
            </a:r>
          </a:p>
        </p:txBody>
      </p:sp>
      <p:sp>
        <p:nvSpPr>
          <p:cNvPr id="15" name="Oval 14"/>
          <p:cNvSpPr/>
          <p:nvPr/>
        </p:nvSpPr>
        <p:spPr>
          <a:xfrm>
            <a:off x="8430768" y="2258568"/>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eet.png"/>
          <p:cNvPicPr>
            <a:picLocks noChangeAspect="1"/>
          </p:cNvPicPr>
          <p:nvPr/>
        </p:nvPicPr>
        <p:blipFill>
          <a:blip r:embed="rId4"/>
          <a:stretch>
            <a:fillRect/>
          </a:stretch>
        </p:blipFill>
        <p:spPr>
          <a:xfrm>
            <a:off x="8553663" y="2381463"/>
            <a:ext cx="266273" cy="266273"/>
          </a:xfrm>
          <a:prstGeom prst="rect">
            <a:avLst/>
          </a:prstGeom>
        </p:spPr>
      </p:pic>
      <p:sp>
        <p:nvSpPr>
          <p:cNvPr id="17" name="TextBox 16"/>
          <p:cNvSpPr txBox="1"/>
          <p:nvPr/>
        </p:nvSpPr>
        <p:spPr>
          <a:xfrm>
            <a:off x="9098280" y="2258568"/>
            <a:ext cx="2560320" cy="530352"/>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alibri"/>
              </a:rPr>
              <a:t>Spreadsheets and isolated transactional systems</a:t>
            </a:r>
          </a:p>
        </p:txBody>
      </p:sp>
      <p:sp>
        <p:nvSpPr>
          <p:cNvPr id="18" name="Oval 17"/>
          <p:cNvSpPr/>
          <p:nvPr/>
        </p:nvSpPr>
        <p:spPr>
          <a:xfrm>
            <a:off x="8430768" y="2944368"/>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mages.png"/>
          <p:cNvPicPr>
            <a:picLocks noChangeAspect="1"/>
          </p:cNvPicPr>
          <p:nvPr/>
        </p:nvPicPr>
        <p:blipFill>
          <a:blip r:embed="rId5"/>
          <a:stretch>
            <a:fillRect/>
          </a:stretch>
        </p:blipFill>
        <p:spPr>
          <a:xfrm>
            <a:off x="8553663" y="3067263"/>
            <a:ext cx="266273" cy="266273"/>
          </a:xfrm>
          <a:prstGeom prst="rect">
            <a:avLst/>
          </a:prstGeom>
        </p:spPr>
      </p:pic>
      <p:sp>
        <p:nvSpPr>
          <p:cNvPr id="20" name="TextBox 19"/>
          <p:cNvSpPr txBox="1"/>
          <p:nvPr/>
        </p:nvSpPr>
        <p:spPr>
          <a:xfrm>
            <a:off x="9098280" y="2944368"/>
            <a:ext cx="2560320" cy="530352"/>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alibri"/>
              </a:rPr>
              <a:t>Progress photos and PDFs detached from the record</a:t>
            </a:r>
          </a:p>
        </p:txBody>
      </p:sp>
      <p:sp>
        <p:nvSpPr>
          <p:cNvPr id="21" name="Oval 20"/>
          <p:cNvSpPr/>
          <p:nvPr/>
        </p:nvSpPr>
        <p:spPr>
          <a:xfrm>
            <a:off x="8430768" y="3630168"/>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istory.png"/>
          <p:cNvPicPr>
            <a:picLocks noChangeAspect="1"/>
          </p:cNvPicPr>
          <p:nvPr/>
        </p:nvPicPr>
        <p:blipFill>
          <a:blip r:embed="rId6"/>
          <a:stretch>
            <a:fillRect/>
          </a:stretch>
        </p:blipFill>
        <p:spPr>
          <a:xfrm>
            <a:off x="8553663" y="3753063"/>
            <a:ext cx="266273" cy="266273"/>
          </a:xfrm>
          <a:prstGeom prst="rect">
            <a:avLst/>
          </a:prstGeom>
        </p:spPr>
      </p:pic>
      <p:sp>
        <p:nvSpPr>
          <p:cNvPr id="23" name="TextBox 22"/>
          <p:cNvSpPr txBox="1"/>
          <p:nvPr/>
        </p:nvSpPr>
        <p:spPr>
          <a:xfrm>
            <a:off x="9098280" y="3630168"/>
            <a:ext cx="2560320" cy="530352"/>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alibri"/>
              </a:rPr>
              <a:t>A modified budget simply overwrites the old one</a:t>
            </a:r>
          </a:p>
        </p:txBody>
      </p:sp>
      <p:sp>
        <p:nvSpPr>
          <p:cNvPr id="24" name="Oval 23"/>
          <p:cNvSpPr/>
          <p:nvPr/>
        </p:nvSpPr>
        <p:spPr>
          <a:xfrm>
            <a:off x="8430768" y="4315968"/>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png"/>
          <p:cNvPicPr>
            <a:picLocks noChangeAspect="1"/>
          </p:cNvPicPr>
          <p:nvPr/>
        </p:nvPicPr>
        <p:blipFill>
          <a:blip r:embed="rId7"/>
          <a:stretch>
            <a:fillRect/>
          </a:stretch>
        </p:blipFill>
        <p:spPr>
          <a:xfrm>
            <a:off x="8553663" y="4438863"/>
            <a:ext cx="266273" cy="266273"/>
          </a:xfrm>
          <a:prstGeom prst="rect">
            <a:avLst/>
          </a:prstGeom>
        </p:spPr>
      </p:pic>
      <p:sp>
        <p:nvSpPr>
          <p:cNvPr id="26" name="TextBox 25"/>
          <p:cNvSpPr txBox="1"/>
          <p:nvPr/>
        </p:nvSpPr>
        <p:spPr>
          <a:xfrm>
            <a:off x="9098280" y="4315968"/>
            <a:ext cx="2560320" cy="530352"/>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alibri"/>
              </a:rPr>
              <a:t>Citizens get, at best, a static download portal</a:t>
            </a:r>
          </a:p>
        </p:txBody>
      </p:sp>
      <p:sp>
        <p:nvSpPr>
          <p:cNvPr id="27" name="Rounded Rectangle 26"/>
          <p:cNvSpPr/>
          <p:nvPr/>
        </p:nvSpPr>
        <p:spPr>
          <a:xfrm>
            <a:off x="4754880" y="5120640"/>
            <a:ext cx="6885432" cy="804672"/>
          </a:xfrm>
          <a:prstGeom prst="roundRect">
            <a:avLst>
              <a:gd name="adj" fmla="val 13636"/>
            </a:avLst>
          </a:prstGeom>
          <a:solidFill>
            <a:srgbClr val="B57BFF">
              <a:alpha val="14000"/>
            </a:srgbClr>
          </a:solidFill>
          <a:ln w="9525">
            <a:solidFill>
              <a:srgbClr val="B57BFF">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910328" y="5294376"/>
            <a:ext cx="457200" cy="457200"/>
          </a:xfrm>
          <a:prstGeom prst="ellipse">
            <a:avLst/>
          </a:prstGeom>
          <a:solidFill>
            <a:srgbClr val="FBBF24">
              <a:alpha val="20000"/>
            </a:srgbClr>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alert.png"/>
          <p:cNvPicPr>
            <a:picLocks noChangeAspect="1"/>
          </p:cNvPicPr>
          <p:nvPr/>
        </p:nvPicPr>
        <p:blipFill>
          <a:blip r:embed="rId8"/>
          <a:stretch>
            <a:fillRect/>
          </a:stretch>
        </p:blipFill>
        <p:spPr>
          <a:xfrm>
            <a:off x="5020056" y="5404104"/>
            <a:ext cx="237744" cy="237744"/>
          </a:xfrm>
          <a:prstGeom prst="rect">
            <a:avLst/>
          </a:prstGeom>
        </p:spPr>
      </p:pic>
      <p:sp>
        <p:nvSpPr>
          <p:cNvPr id="30" name="TextBox 29"/>
          <p:cNvSpPr txBox="1"/>
          <p:nvPr/>
        </p:nvSpPr>
        <p:spPr>
          <a:xfrm>
            <a:off x="5532120" y="5138928"/>
            <a:ext cx="5989320" cy="768096"/>
          </a:xfrm>
          <a:prstGeom prst="rect">
            <a:avLst/>
          </a:prstGeom>
          <a:noFill/>
        </p:spPr>
        <p:txBody>
          <a:bodyPr wrap="square" lIns="0" rIns="0" tIns="0" bIns="0" anchor="ctr">
            <a:noAutofit/>
          </a:bodyPr>
          <a:lstStyle/>
          <a:p>
            <a:pPr algn="l">
              <a:spcAft>
                <a:spcPts val="0"/>
              </a:spcAft>
            </a:pPr>
            <a:r>
              <a:rPr sz="1400" b="1" i="0" lang="en-US">
                <a:solidFill>
                  <a:srgbClr val="FBBF24"/>
                </a:solidFill>
                <a:latin typeface="Calibri"/>
              </a:rPr>
              <a:t>Result: </a:t>
            </a:r>
            <a:r>
              <a:rPr sz="1400" b="0" i="0" lang="en-US">
                <a:solidFill>
                  <a:srgbClr val="FFFFFF"/>
                </a:solidFill>
                <a:latin typeface="Calibri"/>
              </a:rPr>
              <a:t>no historical analysis, no early delay detection, no informed citizen participation.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Three research questions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RESEARCH QUESTIONS</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3 / 19</a:t>
            </a:r>
          </a:p>
        </p:txBody>
      </p:sp>
      <p:pic>
        <p:nvPicPr>
          <p:cNvPr id="100" name="Picture 100" descr="Embedded illustration or system screenshot"/>
          <p:cNvPicPr>
            <a:picLocks noChangeAspect="1"/>
          </p:cNvPicPr>
          <p:nvPr/>
        </p:nvPicPr>
        <p:blipFill>
          <a:blip r:embed="rId6"/>
          <a:srcRect l="0" r="66667" t="0" b="0"/>
          <a:stretch>
            <a:fillRect/>
          </a:stretch>
        </p:blipFill>
        <p:spPr>
          <a:xfrm>
            <a:off x="1285875" y="1724025"/>
            <a:ext cx="2095500" cy="2095500"/>
          </a:xfrm>
          <a:prstGeom prst="rect">
            <a:avLst/>
          </a:prstGeom>
        </p:spPr>
      </p:pic>
      <p:pic>
        <p:nvPicPr>
          <p:cNvPr id="101" name="Picture 101" descr="Embedded illustration or system screenshot"/>
          <p:cNvPicPr>
            <a:picLocks noChangeAspect="1"/>
          </p:cNvPicPr>
          <p:nvPr/>
        </p:nvPicPr>
        <p:blipFill>
          <a:blip r:embed="rId7"/>
          <a:srcRect l="33333" r="33333" t="0" b="0"/>
          <a:stretch>
            <a:fillRect/>
          </a:stretch>
        </p:blipFill>
        <p:spPr>
          <a:xfrm>
            <a:off x="5038725" y="1724025"/>
            <a:ext cx="2095500" cy="2095500"/>
          </a:xfrm>
          <a:prstGeom prst="rect">
            <a:avLst/>
          </a:prstGeom>
        </p:spPr>
      </p:pic>
      <p:pic>
        <p:nvPicPr>
          <p:cNvPr id="102" name="Picture 102" descr="Embedded illustration or system screenshot"/>
          <p:cNvPicPr>
            <a:picLocks noChangeAspect="1"/>
          </p:cNvPicPr>
          <p:nvPr/>
        </p:nvPicPr>
        <p:blipFill>
          <a:blip r:embed="rId8"/>
          <a:srcRect l="66667" r="0" t="0" b="0"/>
          <a:stretch>
            <a:fillRect/>
          </a:stretch>
        </p:blipFill>
        <p:spPr>
          <a:xfrm>
            <a:off x="8791575" y="1724025"/>
            <a:ext cx="2095500" cy="2095500"/>
          </a:xfrm>
          <a:prstGeom prst="rect">
            <a:avLst/>
          </a:prstGeom>
        </p:spPr>
      </p:pic>
      <p:sp>
        <p:nvSpPr>
          <p:cNvPr id="103" name="Visual RQ1  Traceability">
            <a:extLst>
              <a:ext uri="{FF2B5EF4-FFF2-40B4-BE49-F238E27FC236}">
                <a16:creationId xmlns:a16="http://schemas.microsoft.com/office/drawing/2014/main" id="{FB7E4B84-5219-4161-9DC1-DAEA6361F283}"/>
              </a:ext>
            </a:extLst>
          </p:cNvPr>
          <p:cNvSpPr>
            <a:spLocks noGrp="1"/>
          </p:cNvSpPr>
          <p:nvPr/>
        </p:nvSpPr>
        <p:spPr>
          <a:xfrm>
            <a:off x="666750" y="3933825"/>
            <a:ext cx="340995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RQ1  Traceability</a:t>
            </a:r>
          </a:p>
        </p:txBody>
      </p:sp>
      <p:sp>
        <p:nvSpPr>
          <p:cNvPr id="104" name="Visual Can a low-cost warehouse ">
            <a:extLst>
              <a:ext uri="{FF2B5EF4-FFF2-40B4-BE49-F238E27FC236}">
                <a16:creationId xmlns:a16="http://schemas.microsoft.com/office/drawing/2014/main" id="{7E97BFDB-A482-42C5-8484-9CF902989347}"/>
              </a:ext>
            </a:extLst>
          </p:cNvPr>
          <p:cNvSpPr>
            <a:spLocks noGrp="1"/>
          </p:cNvSpPr>
          <p:nvPr/>
        </p:nvSpPr>
        <p:spPr>
          <a:xfrm>
            <a:off x="666750" y="4352925"/>
            <a:ext cx="3333750" cy="942975"/>
          </a:xfrm>
          <a:prstGeom prst="rect">
            <a:avLst/>
          </a:prstGeom>
          <a:noFill/>
          <a:ln w="0">
            <a:noFill/>
          </a:ln>
        </p:spPr>
        <p:txBody>
          <a:bodyPr anchor="t">
            <a:noAutofit/>
          </a:bodyPr>
          <a:lstStyle/>
          <a:p>
            <a:pPr algn="l">
              <a:defRPr sz="1650" b="0">
                <a:solidFill>
                  <a:srgbClr val="F7F4FF"/>
                </a:solidFill>
                <a:latin typeface="Calibri"/>
                <a:ea typeface="Calibri"/>
                <a:cs typeface="Calibri"/>
              </a:defRPr>
            </a:pPr>
            <a:r>
              <a:rPr sz="1650" b="0">
                <a:solidFill>
                  <a:srgbClr val="F7F4FF"/>
                </a:solidFill>
                <a:latin typeface="Calibri"/>
                <a:ea typeface="Calibri"/>
                <a:cs typeface="Calibri"/>
              </a:rPr>
              <a:t>Can a low-cost warehouse preserve auditable history at municipal scale?</a:t>
            </a:r>
          </a:p>
        </p:txBody>
      </p:sp>
      <p:sp>
        <p:nvSpPr>
          <p:cNvPr id="105" name="Visual SCD architecture, S3 evid">
            <a:extLst>
              <a:ext uri="{FF2B5EF4-FFF2-40B4-BE49-F238E27FC236}">
                <a16:creationId xmlns:a16="http://schemas.microsoft.com/office/drawing/2014/main" id="{B47FE3E1-9ADB-48EE-9811-A4672A57D779}"/>
              </a:ext>
            </a:extLst>
          </p:cNvPr>
          <p:cNvSpPr>
            <a:spLocks noGrp="1"/>
          </p:cNvSpPr>
          <p:nvPr/>
        </p:nvSpPr>
        <p:spPr>
          <a:xfrm>
            <a:off x="666750" y="5372100"/>
            <a:ext cx="3333750" cy="495300"/>
          </a:xfrm>
          <a:prstGeom prst="rect">
            <a:avLst/>
          </a:prstGeom>
          <a:noFill/>
          <a:ln w="0">
            <a:noFill/>
          </a:ln>
        </p:spPr>
        <p:txBody>
          <a:bodyPr anchor="t">
            <a:noAutofit/>
          </a:bodyPr>
          <a:lstStyle/>
          <a:p>
            <a:pPr algn="l">
              <a:defRPr sz="1275" b="0">
                <a:solidFill>
                  <a:srgbClr val="CEC4DF"/>
                </a:solidFill>
                <a:latin typeface="Calibri"/>
                <a:ea typeface="Calibri"/>
                <a:cs typeface="Calibri"/>
              </a:defRPr>
            </a:pPr>
            <a:r>
              <a:rPr sz="1275" b="0">
                <a:solidFill>
                  <a:srgbClr val="CEC4DF"/>
                </a:solidFill>
                <a:latin typeface="Calibri"/>
                <a:ea typeface="Calibri"/>
                <a:cs typeface="Calibri"/>
              </a:rPr>
              <a:t>SCD architecture, S3 evidence and REST API</a:t>
            </a:r>
          </a:p>
        </p:txBody>
      </p:sp>
      <p:sp>
        <p:nvSpPr>
          <p:cNvPr id="106" name="Visual RQ2  Dimensional design">
            <a:extLst>
              <a:ext uri="{FF2B5EF4-FFF2-40B4-BE49-F238E27FC236}">
                <a16:creationId xmlns:a16="http://schemas.microsoft.com/office/drawing/2014/main" id="{EA96E321-D310-408F-A15D-DA07E4B6CE02}"/>
              </a:ext>
            </a:extLst>
          </p:cNvPr>
          <p:cNvSpPr>
            <a:spLocks noGrp="1"/>
          </p:cNvSpPr>
          <p:nvPr/>
        </p:nvSpPr>
        <p:spPr>
          <a:xfrm>
            <a:off x="4419600" y="3933825"/>
            <a:ext cx="340995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RQ2  Dimensional design</a:t>
            </a:r>
          </a:p>
        </p:txBody>
      </p:sp>
      <p:sp>
        <p:nvSpPr>
          <p:cNvPr id="107" name="Visual Which fact grains, SCD ty">
            <a:extLst>
              <a:ext uri="{FF2B5EF4-FFF2-40B4-BE49-F238E27FC236}">
                <a16:creationId xmlns:a16="http://schemas.microsoft.com/office/drawing/2014/main" id="{DA560232-46FE-4440-9945-A46B990BF960}"/>
              </a:ext>
            </a:extLst>
          </p:cNvPr>
          <p:cNvSpPr>
            <a:spLocks noGrp="1"/>
          </p:cNvSpPr>
          <p:nvPr/>
        </p:nvSpPr>
        <p:spPr>
          <a:xfrm>
            <a:off x="4419600" y="4352925"/>
            <a:ext cx="3333750" cy="942975"/>
          </a:xfrm>
          <a:prstGeom prst="rect">
            <a:avLst/>
          </a:prstGeom>
          <a:noFill/>
          <a:ln w="0">
            <a:noFill/>
          </a:ln>
        </p:spPr>
        <p:txBody>
          <a:bodyPr anchor="t">
            <a:noAutofit/>
          </a:bodyPr>
          <a:lstStyle/>
          <a:p>
            <a:pPr algn="l">
              <a:defRPr sz="1650" b="0">
                <a:solidFill>
                  <a:srgbClr val="F7F4FF"/>
                </a:solidFill>
                <a:latin typeface="Calibri"/>
                <a:ea typeface="Calibri"/>
                <a:cs typeface="Calibri"/>
              </a:defRPr>
            </a:pPr>
            <a:r>
              <a:rPr sz="1650" b="0">
                <a:solidFill>
                  <a:srgbClr val="F7F4FF"/>
                </a:solidFill>
                <a:latin typeface="Calibri"/>
                <a:ea typeface="Calibri"/>
                <a:cs typeface="Calibri"/>
              </a:rPr>
              <a:t>Which fact grains, SCD types and views support one analytical schema?</a:t>
            </a:r>
          </a:p>
        </p:txBody>
      </p:sp>
      <p:sp>
        <p:nvSpPr>
          <p:cNvPr id="108" name="Visual A map for exploring relat">
            <a:extLst>
              <a:ext uri="{FF2B5EF4-FFF2-40B4-BE49-F238E27FC236}">
                <a16:creationId xmlns:a16="http://schemas.microsoft.com/office/drawing/2014/main" id="{EA0AE8A8-A6CA-437A-86FD-FBEF5B38C36A}"/>
              </a:ext>
            </a:extLst>
          </p:cNvPr>
          <p:cNvSpPr>
            <a:spLocks noGrp="1"/>
          </p:cNvSpPr>
          <p:nvPr/>
        </p:nvSpPr>
        <p:spPr>
          <a:xfrm>
            <a:off x="4419600" y="5372100"/>
            <a:ext cx="3333750" cy="495300"/>
          </a:xfrm>
          <a:prstGeom prst="rect">
            <a:avLst/>
          </a:prstGeom>
          <a:noFill/>
          <a:ln w="0">
            <a:noFill/>
          </a:ln>
        </p:spPr>
        <p:txBody>
          <a:bodyPr anchor="t">
            <a:noAutofit/>
          </a:bodyPr>
          <a:lstStyle/>
          <a:p>
            <a:pPr algn="l">
              <a:defRPr sz="1275" b="0">
                <a:solidFill>
                  <a:srgbClr val="CEC4DF"/>
                </a:solidFill>
                <a:latin typeface="Calibri"/>
                <a:ea typeface="Calibri"/>
                <a:cs typeface="Calibri"/>
              </a:defRPr>
            </a:pPr>
            <a:r>
              <a:rPr sz="1275" b="0">
                <a:solidFill>
                  <a:srgbClr val="CEC4DF"/>
                </a:solidFill>
                <a:latin typeface="Calibri"/>
                <a:ea typeface="Calibri"/>
                <a:cs typeface="Calibri"/>
              </a:rPr>
              <a:t>A map for exploring relationships among entities</a:t>
            </a:r>
          </a:p>
        </p:txBody>
      </p:sp>
      <p:sp>
        <p:nvSpPr>
          <p:cNvPr id="109" name="Visual RQ3  Detection">
            <a:extLst>
              <a:ext uri="{FF2B5EF4-FFF2-40B4-BE49-F238E27FC236}">
                <a16:creationId xmlns:a16="http://schemas.microsoft.com/office/drawing/2014/main" id="{589807CA-DC11-4498-9DD8-4A7E5842FA7C}"/>
              </a:ext>
            </a:extLst>
          </p:cNvPr>
          <p:cNvSpPr>
            <a:spLocks noGrp="1"/>
          </p:cNvSpPr>
          <p:nvPr/>
        </p:nvSpPr>
        <p:spPr>
          <a:xfrm>
            <a:off x="8172450" y="3933825"/>
            <a:ext cx="340995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RQ3  Detection</a:t>
            </a:r>
          </a:p>
        </p:txBody>
      </p:sp>
      <p:sp>
        <p:nvSpPr>
          <p:cNvPr id="110" name="Visual Which anomalies does the ">
            <a:extLst>
              <a:ext uri="{FF2B5EF4-FFF2-40B4-BE49-F238E27FC236}">
                <a16:creationId xmlns:a16="http://schemas.microsoft.com/office/drawing/2014/main" id="{7F46BD87-3F2D-4BA9-AA76-17241785457D}"/>
              </a:ext>
            </a:extLst>
          </p:cNvPr>
          <p:cNvSpPr>
            <a:spLocks noGrp="1"/>
          </p:cNvSpPr>
          <p:nvPr/>
        </p:nvSpPr>
        <p:spPr>
          <a:xfrm>
            <a:off x="8172450" y="4352925"/>
            <a:ext cx="3333750" cy="942975"/>
          </a:xfrm>
          <a:prstGeom prst="rect">
            <a:avLst/>
          </a:prstGeom>
          <a:noFill/>
          <a:ln w="0">
            <a:noFill/>
          </a:ln>
        </p:spPr>
        <p:txBody>
          <a:bodyPr anchor="t">
            <a:noAutofit/>
          </a:bodyPr>
          <a:lstStyle/>
          <a:p>
            <a:pPr algn="l">
              <a:defRPr sz="1650" b="0">
                <a:solidFill>
                  <a:srgbClr val="F7F4FF"/>
                </a:solidFill>
                <a:latin typeface="Calibri"/>
                <a:ea typeface="Calibri"/>
                <a:cs typeface="Calibri"/>
              </a:defRPr>
            </a:pPr>
            <a:r>
              <a:rPr sz="1650" b="0">
                <a:solidFill>
                  <a:srgbClr val="F7F4FF"/>
                </a:solidFill>
                <a:latin typeface="Calibri"/>
                <a:ea typeface="Calibri"/>
                <a:cs typeface="Calibri"/>
              </a:rPr>
              <a:t>Which anomalies does the rule recover or miss compared with Isolation Forest?</a:t>
            </a:r>
          </a:p>
        </p:txBody>
      </p:sp>
      <p:sp>
        <p:nvSpPr>
          <p:cNvPr id="111" name="Visual Evaluation against latent">
            <a:extLst>
              <a:ext uri="{FF2B5EF4-FFF2-40B4-BE49-F238E27FC236}">
                <a16:creationId xmlns:a16="http://schemas.microsoft.com/office/drawing/2014/main" id="{639F08EF-3DE8-473A-8395-474C944AF99F}"/>
              </a:ext>
            </a:extLst>
          </p:cNvPr>
          <p:cNvSpPr>
            <a:spLocks noGrp="1"/>
          </p:cNvSpPr>
          <p:nvPr/>
        </p:nvSpPr>
        <p:spPr>
          <a:xfrm>
            <a:off x="8172450" y="5372100"/>
            <a:ext cx="3333750" cy="495300"/>
          </a:xfrm>
          <a:prstGeom prst="rect">
            <a:avLst/>
          </a:prstGeom>
          <a:noFill/>
          <a:ln w="0">
            <a:noFill/>
          </a:ln>
        </p:spPr>
        <p:txBody>
          <a:bodyPr anchor="t">
            <a:noAutofit/>
          </a:bodyPr>
          <a:lstStyle/>
          <a:p>
            <a:pPr algn="l">
              <a:defRPr sz="1275" b="0">
                <a:solidFill>
                  <a:srgbClr val="CEC4DF"/>
                </a:solidFill>
                <a:latin typeface="Calibri"/>
                <a:ea typeface="Calibri"/>
                <a:cs typeface="Calibri"/>
              </a:defRPr>
            </a:pPr>
            <a:r>
              <a:rPr sz="1275" b="0">
                <a:solidFill>
                  <a:srgbClr val="CEC4DF"/>
                </a:solidFill>
                <a:latin typeface="Calibri"/>
                <a:ea typeface="Calibri"/>
                <a:cs typeface="Calibri"/>
              </a:rPr>
              <a:t>Evaluation against latent causes and failure analysis</a:t>
            </a:r>
          </a:p>
        </p:txBody>
      </p:sp>
      <p:sp>
        <p:nvSpPr>
          <p:cNvPr id="112" name="Visual AI-generated conceptual i">
            <a:extLst>
              <a:ext uri="{FF2B5EF4-FFF2-40B4-BE49-F238E27FC236}">
                <a16:creationId xmlns:a16="http://schemas.microsoft.com/office/drawing/2014/main" id="{2923F13F-97C7-4545-9CAD-2088E55E8153}"/>
              </a:ext>
            </a:extLst>
          </p:cNvPr>
          <p:cNvSpPr>
            <a:spLocks noGrp="1"/>
          </p:cNvSpPr>
          <p:nvPr/>
        </p:nvSpPr>
        <p:spPr>
          <a:xfrm>
            <a:off x="552450" y="5934075"/>
            <a:ext cx="7143750" cy="15240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AI-generated conceptual illustrations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Where this work sits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RELATED WORK</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4 / 19</a:t>
            </a:r>
          </a:p>
        </p:txBody>
      </p:sp>
      <p:sp>
        <p:nvSpPr>
          <p:cNvPr id="5" name="Oval 4"/>
          <p:cNvSpPr/>
          <p:nvPr/>
        </p:nvSpPr>
        <p:spPr>
          <a:xfrm>
            <a:off x="1188719" y="2148839"/>
            <a:ext cx="3200400" cy="3200400"/>
          </a:xfrm>
          <a:prstGeom prst="ellipse">
            <a:avLst/>
          </a:prstGeom>
          <a:solidFill>
            <a:srgbClr val="B57BFF">
              <a:alpha val="22000"/>
            </a:srgbClr>
          </a:solidFill>
          <a:ln w="19050">
            <a:solidFill>
              <a:srgbClr val="B5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200400" y="2148839"/>
            <a:ext cx="3200400" cy="3200400"/>
          </a:xfrm>
          <a:prstGeom prst="ellipse">
            <a:avLst/>
          </a:prstGeom>
          <a:solidFill>
            <a:srgbClr val="FBBF24">
              <a:alpha val="16000"/>
            </a:srgbClr>
          </a:solidFill>
          <a:ln w="19050">
            <a:solidFill>
              <a:srgbClr val="FBBF24">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25880" y="3063240"/>
            <a:ext cx="1783080" cy="1371600"/>
          </a:xfrm>
          <a:prstGeom prst="rect">
            <a:avLst/>
          </a:prstGeom>
          <a:noFill/>
        </p:spPr>
        <p:txBody>
          <a:bodyPr wrap="square" lIns="0" rIns="0" tIns="0" bIns="0" anchor="t">
            <a:noAutofit/>
          </a:bodyPr>
          <a:lstStyle/>
          <a:p>
            <a:pPr algn="l">
              <a:spcAft>
                <a:spcPts val="400"/>
              </a:spcAft>
            </a:pPr>
            <a:r>
              <a:rPr sz="1400" b="1" i="0" lang="en-US">
                <a:solidFill>
                  <a:srgbClr val="D9C5FF"/>
                </a:solidFill>
                <a:latin typeface="Calibri"/>
              </a:rPr>
              <a:t>Temporal auditability</a:t>
            </a:r>
          </a:p>
          <a:p>
            <a:pPr algn="l">
              <a:spcAft>
                <a:spcPts val="0"/>
              </a:spcAft>
            </a:pPr>
            <a:r>
              <a:rPr sz="1100" b="0" i="0" lang="en-US">
                <a:solidFill>
                  <a:srgbClr val="DDD6EE"/>
                </a:solidFill>
                <a:latin typeface="Calibri"/>
              </a:rPr>
              <a:t>entity state at audit granularity (SCD 2)</a:t>
            </a:r>
          </a:p>
        </p:txBody>
      </p:sp>
      <p:sp>
        <p:nvSpPr>
          <p:cNvPr id="8" name="TextBox 7"/>
          <p:cNvSpPr txBox="1"/>
          <p:nvPr/>
        </p:nvSpPr>
        <p:spPr>
          <a:xfrm>
            <a:off x="4480560" y="3063240"/>
            <a:ext cx="1737360" cy="1371600"/>
          </a:xfrm>
          <a:prstGeom prst="rect">
            <a:avLst/>
          </a:prstGeom>
          <a:noFill/>
        </p:spPr>
        <p:txBody>
          <a:bodyPr wrap="square" lIns="0" rIns="0" tIns="0" bIns="0" anchor="t">
            <a:noAutofit/>
          </a:bodyPr>
          <a:lstStyle/>
          <a:p>
            <a:pPr algn="r">
              <a:spcAft>
                <a:spcPts val="400"/>
              </a:spcAft>
            </a:pPr>
            <a:r>
              <a:rPr sz="1400" b="1" i="0" lang="en-US">
                <a:solidFill>
                  <a:srgbClr val="FBBF24"/>
                </a:solidFill>
                <a:latin typeface="Calibri"/>
              </a:rPr>
              <a:t>Evidence linkage</a:t>
            </a:r>
          </a:p>
          <a:p>
            <a:pPr algn="r">
              <a:spcAft>
                <a:spcPts val="0"/>
              </a:spcAft>
            </a:pPr>
            <a:r>
              <a:rPr sz="1100" b="0" i="0" lang="en-US">
                <a:solidFill>
                  <a:srgbClr val="DDD6EE"/>
                </a:solidFill>
                <a:latin typeface="Calibri"/>
              </a:rPr>
              <a:t>binary field evidence ↔ analytical store</a:t>
            </a:r>
          </a:p>
        </p:txBody>
      </p:sp>
      <p:sp>
        <p:nvSpPr>
          <p:cNvPr id="9" name="TextBox 8"/>
          <p:cNvSpPr txBox="1"/>
          <p:nvPr/>
        </p:nvSpPr>
        <p:spPr>
          <a:xfrm>
            <a:off x="3154680" y="3401568"/>
            <a:ext cx="1280160" cy="822960"/>
          </a:xfrm>
          <a:prstGeom prst="rect">
            <a:avLst/>
          </a:prstGeom>
          <a:noFill/>
        </p:spPr>
        <p:txBody>
          <a:bodyPr wrap="square" lIns="0" rIns="0" tIns="0" bIns="0" anchor="ctr">
            <a:noAutofit/>
          </a:bodyPr>
          <a:lstStyle/>
          <a:p>
            <a:pPr algn="ctr">
              <a:spcAft>
                <a:spcPts val="0"/>
              </a:spcAft>
            </a:pPr>
            <a:r>
              <a:rPr sz="1500" b="1" i="0" lang="en-US">
                <a:solidFill>
                  <a:srgbClr val="FFFFFF"/>
                </a:solidFill>
                <a:latin typeface="Calibri"/>
              </a:rPr>
              <a:t>This work</a:t>
            </a:r>
          </a:p>
          <a:p>
            <a:pPr algn="ctr">
              <a:spcAft>
                <a:spcPts val="0"/>
              </a:spcAft>
            </a:pPr>
            <a:r>
              <a:rPr sz="1050" b="0" i="0" lang="en-US">
                <a:solidFill>
                  <a:srgbClr val="DDD6EE"/>
                </a:solidFill>
                <a:latin typeface="Calibri"/>
              </a:rPr>
              <a:t>municipal scale</a:t>
            </a:r>
          </a:p>
        </p:txBody>
      </p:sp>
      <p:sp>
        <p:nvSpPr>
          <p:cNvPr id="10" name="TextBox 9"/>
          <p:cNvSpPr txBox="1"/>
          <p:nvPr/>
        </p:nvSpPr>
        <p:spPr>
          <a:xfrm>
            <a:off x="548640" y="5486400"/>
            <a:ext cx="6309360" cy="457200"/>
          </a:xfrm>
          <a:prstGeom prst="rect">
            <a:avLst/>
          </a:prstGeom>
          <a:noFill/>
        </p:spPr>
        <p:txBody>
          <a:bodyPr wrap="square" lIns="0" rIns="0" tIns="0" bIns="0" anchor="t">
            <a:noAutofit/>
          </a:bodyPr>
          <a:lstStyle/>
          <a:p>
            <a:pPr algn="l">
              <a:spcAft>
                <a:spcPts val="0"/>
              </a:spcAft>
            </a:pPr>
            <a:r>
              <a:rPr sz="1100" b="0" i="1" lang="en-US">
                <a:solidFill>
                  <a:srgbClr val="ADA3C8"/>
                </a:solidFill>
                <a:latin typeface="Calibri"/>
              </a:rPr>
              <a:t>A position, not a claim of vacancy: no systematic review was carried out.</a:t>
            </a:r>
          </a:p>
        </p:txBody>
      </p:sp>
      <p:sp>
        <p:nvSpPr>
          <p:cNvPr id="11" name="Rounded Rectangle 10"/>
          <p:cNvSpPr/>
          <p:nvPr/>
        </p:nvSpPr>
        <p:spPr>
          <a:xfrm>
            <a:off x="6903720" y="178308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59168" y="1837943"/>
            <a:ext cx="2880359" cy="274320"/>
          </a:xfrm>
          <a:prstGeom prst="rect">
            <a:avLst/>
          </a:prstGeom>
          <a:noFill/>
        </p:spPr>
        <p:txBody>
          <a:bodyPr wrap="square" lIns="0" rIns="0" tIns="0" bIns="0" anchor="t">
            <a:noAutofit/>
          </a:bodyPr>
          <a:lstStyle/>
          <a:p>
            <a:pPr algn="l">
              <a:spcAft>
                <a:spcPts val="0"/>
              </a:spcAft>
            </a:pPr>
            <a:r>
              <a:rPr sz="1250" b="1" i="0" lang="en-US">
                <a:solidFill>
                  <a:srgbClr val="FFFFFF"/>
                </a:solidFill>
                <a:latin typeface="Calibri"/>
              </a:rPr>
              <a:t>Geospatial knowledge graphs</a:t>
            </a:r>
          </a:p>
        </p:txBody>
      </p:sp>
      <p:sp>
        <p:nvSpPr>
          <p:cNvPr id="13" name="TextBox 12"/>
          <p:cNvSpPr txBox="1"/>
          <p:nvPr/>
        </p:nvSpPr>
        <p:spPr>
          <a:xfrm>
            <a:off x="10012680" y="1856231"/>
            <a:ext cx="1508760" cy="256032"/>
          </a:xfrm>
          <a:prstGeom prst="rect">
            <a:avLst/>
          </a:prstGeom>
          <a:noFill/>
        </p:spPr>
        <p:txBody>
          <a:bodyPr wrap="square" lIns="0" rIns="0" tIns="0" bIns="0" anchor="t">
            <a:noAutofit/>
          </a:bodyPr>
          <a:lstStyle/>
          <a:p>
            <a:pPr algn="r">
              <a:spcAft>
                <a:spcPts val="0"/>
              </a:spcAft>
            </a:pPr>
            <a:r>
              <a:rPr sz="900" b="0" i="0" lang="en-US">
                <a:solidFill>
                  <a:srgbClr val="8E84AB"/>
                </a:solidFill>
                <a:latin typeface="Calibri"/>
              </a:rPr>
              <a:t>KnowWhereGraph · Zaragoza</a:t>
            </a:r>
          </a:p>
        </p:txBody>
      </p:sp>
      <p:sp>
        <p:nvSpPr>
          <p:cNvPr id="14" name="TextBox 13"/>
          <p:cNvSpPr txBox="1"/>
          <p:nvPr/>
        </p:nvSpPr>
        <p:spPr>
          <a:xfrm>
            <a:off x="7059168" y="2121408"/>
            <a:ext cx="4480560" cy="347472"/>
          </a:xfrm>
          <a:prstGeom prst="rect">
            <a:avLst/>
          </a:prstGeom>
          <a:noFill/>
        </p:spPr>
        <p:txBody>
          <a:bodyPr wrap="square" lIns="0" rIns="0" tIns="0" bIns="0" anchor="t">
            <a:noAutofit/>
          </a:bodyPr>
          <a:lstStyle/>
          <a:p>
            <a:pPr algn="l">
              <a:spcAft>
                <a:spcPts val="0"/>
              </a:spcAft>
            </a:pPr>
            <a:r>
              <a:rPr sz="1100" b="0" i="0" lang="en-US">
                <a:solidFill>
                  <a:srgbClr val="DDD6EE"/>
                </a:solidFill>
                <a:latin typeface="Calibri"/>
              </a:rPr>
              <a:t>formal semantic layer — but no record “as of” an audit date</a:t>
            </a:r>
          </a:p>
        </p:txBody>
      </p:sp>
      <p:sp>
        <p:nvSpPr>
          <p:cNvPr id="15" name="Rounded Rectangle 14"/>
          <p:cNvSpPr/>
          <p:nvPr/>
        </p:nvSpPr>
        <p:spPr>
          <a:xfrm>
            <a:off x="6903720" y="260604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059168" y="2660904"/>
            <a:ext cx="2313432" cy="274320"/>
          </a:xfrm>
          <a:prstGeom prst="rect">
            <a:avLst/>
          </a:prstGeom>
          <a:noFill/>
        </p:spPr>
        <p:txBody>
          <a:bodyPr wrap="square" lIns="0" rIns="0" tIns="0" bIns="0" anchor="t">
            <a:noAutofit/>
          </a:bodyPr>
          <a:lstStyle/>
          <a:p>
            <a:pPr algn="l">
              <a:spcAft>
                <a:spcPts val="0"/>
              </a:spcAft>
            </a:pPr>
            <a:r>
              <a:rPr sz="1250" b="1" i="0" lang="en-US">
                <a:solidFill>
                  <a:srgbClr val="FFFFFF"/>
                </a:solidFill>
                <a:latin typeface="Calibri"/>
              </a:rPr>
              <a:t>OC4IDS</a:t>
            </a:r>
          </a:p>
        </p:txBody>
      </p:sp>
      <p:sp>
        <p:nvSpPr>
          <p:cNvPr id="17" name="TextBox 16"/>
          <p:cNvSpPr txBox="1"/>
          <p:nvPr/>
        </p:nvSpPr>
        <p:spPr>
          <a:xfrm>
            <a:off x="9445752" y="2679192"/>
            <a:ext cx="2075688" cy="256032"/>
          </a:xfrm>
          <a:prstGeom prst="rect">
            <a:avLst/>
          </a:prstGeom>
          <a:noFill/>
        </p:spPr>
        <p:txBody>
          <a:bodyPr wrap="square" lIns="0" rIns="0" tIns="0" bIns="0" anchor="t">
            <a:noAutofit/>
          </a:bodyPr>
          <a:lstStyle/>
          <a:p>
            <a:pPr algn="r">
              <a:spcAft>
                <a:spcPts val="0"/>
              </a:spcAft>
            </a:pPr>
            <a:r>
              <a:rPr sz="900" b="0" i="0" lang="en-US">
                <a:solidFill>
                  <a:srgbClr val="8E84AB"/>
                </a:solidFill>
                <a:latin typeface="Calibri"/>
              </a:rPr>
              <a:t>Open Contracting Partnership · CoST</a:t>
            </a:r>
          </a:p>
        </p:txBody>
      </p:sp>
      <p:sp>
        <p:nvSpPr>
          <p:cNvPr id="18" name="TextBox 17"/>
          <p:cNvSpPr txBox="1"/>
          <p:nvPr/>
        </p:nvSpPr>
        <p:spPr>
          <a:xfrm>
            <a:off x="7059168" y="2944368"/>
            <a:ext cx="4480560" cy="347472"/>
          </a:xfrm>
          <a:prstGeom prst="rect">
            <a:avLst/>
          </a:prstGeom>
          <a:noFill/>
        </p:spPr>
        <p:txBody>
          <a:bodyPr wrap="square" lIns="0" rIns="0" tIns="0" bIns="0" anchor="t">
            <a:noAutofit/>
          </a:bodyPr>
          <a:lstStyle/>
          <a:p>
            <a:pPr algn="l">
              <a:spcAft>
                <a:spcPts val="0"/>
              </a:spcAft>
            </a:pPr>
            <a:r>
              <a:rPr sz="1100" b="0" i="0" lang="en-US">
                <a:solidFill>
                  <a:srgbClr val="DDD6EE"/>
                </a:solidFill>
                <a:latin typeface="Calibri"/>
              </a:rPr>
              <a:t>what to disclose — not how a small municipality produces and historises it</a:t>
            </a:r>
          </a:p>
        </p:txBody>
      </p:sp>
      <p:sp>
        <p:nvSpPr>
          <p:cNvPr id="19" name="Rounded Rectangle 18"/>
          <p:cNvSpPr/>
          <p:nvPr/>
        </p:nvSpPr>
        <p:spPr>
          <a:xfrm>
            <a:off x="6903720" y="342900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9168" y="3483864"/>
            <a:ext cx="3730752" cy="274320"/>
          </a:xfrm>
          <a:prstGeom prst="rect">
            <a:avLst/>
          </a:prstGeom>
          <a:noFill/>
        </p:spPr>
        <p:txBody>
          <a:bodyPr wrap="square" lIns="0" rIns="0" tIns="0" bIns="0" anchor="t">
            <a:noAutofit/>
          </a:bodyPr>
          <a:lstStyle/>
          <a:p>
            <a:pPr algn="l">
              <a:spcAft>
                <a:spcPts val="0"/>
              </a:spcAft>
            </a:pPr>
            <a:r>
              <a:rPr sz="1250" b="1" i="0" lang="en-US">
                <a:solidFill>
                  <a:srgbClr val="FFFFFF"/>
                </a:solidFill>
                <a:latin typeface="Calibri"/>
              </a:rPr>
              <a:t>Geospatial lakehouse</a:t>
            </a:r>
          </a:p>
        </p:txBody>
      </p:sp>
      <p:sp>
        <p:nvSpPr>
          <p:cNvPr id="21" name="TextBox 20"/>
          <p:cNvSpPr txBox="1"/>
          <p:nvPr/>
        </p:nvSpPr>
        <p:spPr>
          <a:xfrm>
            <a:off x="10863072" y="3502152"/>
            <a:ext cx="658368" cy="256032"/>
          </a:xfrm>
          <a:prstGeom prst="rect">
            <a:avLst/>
          </a:prstGeom>
          <a:noFill/>
        </p:spPr>
        <p:txBody>
          <a:bodyPr wrap="square" lIns="0" rIns="0" tIns="0" bIns="0" anchor="t">
            <a:noAutofit/>
          </a:bodyPr>
          <a:lstStyle/>
          <a:p>
            <a:pPr algn="r">
              <a:spcAft>
                <a:spcPts val="0"/>
              </a:spcAft>
            </a:pPr>
            <a:r>
              <a:rPr sz="900" b="0" i="0" lang="en-US">
                <a:solidFill>
                  <a:srgbClr val="8E84AB"/>
                </a:solidFill>
                <a:latin typeface="Calibri"/>
              </a:rPr>
              <a:t>Databricks</a:t>
            </a:r>
          </a:p>
        </p:txBody>
      </p:sp>
      <p:sp>
        <p:nvSpPr>
          <p:cNvPr id="22" name="TextBox 21"/>
          <p:cNvSpPr txBox="1"/>
          <p:nvPr/>
        </p:nvSpPr>
        <p:spPr>
          <a:xfrm>
            <a:off x="7059168" y="3767328"/>
            <a:ext cx="4480560" cy="347472"/>
          </a:xfrm>
          <a:prstGeom prst="rect">
            <a:avLst/>
          </a:prstGeom>
          <a:noFill/>
        </p:spPr>
        <p:txBody>
          <a:bodyPr wrap="square" lIns="0" rIns="0" tIns="0" bIns="0" anchor="t">
            <a:noAutofit/>
          </a:bodyPr>
          <a:lstStyle/>
          <a:p>
            <a:pPr algn="l">
              <a:spcAft>
                <a:spcPts val="0"/>
              </a:spcAft>
            </a:pPr>
            <a:r>
              <a:rPr sz="1100" b="0" i="0" lang="en-US">
                <a:solidFill>
                  <a:srgbClr val="DDD6EE"/>
                </a:solidFill>
                <a:latin typeface="Calibri"/>
              </a:rPr>
              <a:t>far greater scale, at enterprise-platform cost</a:t>
            </a:r>
          </a:p>
        </p:txBody>
      </p:sp>
      <p:sp>
        <p:nvSpPr>
          <p:cNvPr id="23" name="Rounded Rectangle 22"/>
          <p:cNvSpPr/>
          <p:nvPr/>
        </p:nvSpPr>
        <p:spPr>
          <a:xfrm>
            <a:off x="6903720" y="425196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59168" y="4306824"/>
            <a:ext cx="2653588" cy="274320"/>
          </a:xfrm>
          <a:prstGeom prst="rect">
            <a:avLst/>
          </a:prstGeom>
          <a:noFill/>
        </p:spPr>
        <p:txBody>
          <a:bodyPr wrap="square" lIns="0" rIns="0" tIns="0" bIns="0" anchor="t">
            <a:noAutofit/>
          </a:bodyPr>
          <a:lstStyle/>
          <a:p>
            <a:pPr algn="l">
              <a:spcAft>
                <a:spcPts val="0"/>
              </a:spcAft>
            </a:pPr>
            <a:r>
              <a:rPr sz="1250" b="1" i="0" lang="en-US">
                <a:solidFill>
                  <a:srgbClr val="FFFFFF"/>
                </a:solidFill>
                <a:latin typeface="Calibri"/>
              </a:rPr>
              <a:t>OGD download portals</a:t>
            </a:r>
          </a:p>
        </p:txBody>
      </p:sp>
      <p:sp>
        <p:nvSpPr>
          <p:cNvPr id="25" name="TextBox 24"/>
          <p:cNvSpPr txBox="1"/>
          <p:nvPr/>
        </p:nvSpPr>
        <p:spPr>
          <a:xfrm>
            <a:off x="9785908" y="4325112"/>
            <a:ext cx="1735531" cy="256032"/>
          </a:xfrm>
          <a:prstGeom prst="rect">
            <a:avLst/>
          </a:prstGeom>
          <a:noFill/>
        </p:spPr>
        <p:txBody>
          <a:bodyPr wrap="square" lIns="0" rIns="0" tIns="0" bIns="0" anchor="t">
            <a:noAutofit/>
          </a:bodyPr>
          <a:lstStyle/>
          <a:p>
            <a:pPr algn="r">
              <a:spcAft>
                <a:spcPts val="0"/>
              </a:spcAft>
            </a:pPr>
            <a:r>
              <a:rPr sz="900" b="0" i="0" lang="en-US">
                <a:solidFill>
                  <a:srgbClr val="8E84AB"/>
                </a:solidFill>
                <a:latin typeface="Calibri"/>
              </a:rPr>
              <a:t>Latin American municipalities</a:t>
            </a:r>
          </a:p>
        </p:txBody>
      </p:sp>
      <p:sp>
        <p:nvSpPr>
          <p:cNvPr id="26" name="TextBox 25"/>
          <p:cNvSpPr txBox="1"/>
          <p:nvPr/>
        </p:nvSpPr>
        <p:spPr>
          <a:xfrm>
            <a:off x="7059168" y="4590288"/>
            <a:ext cx="4480560" cy="347472"/>
          </a:xfrm>
          <a:prstGeom prst="rect">
            <a:avLst/>
          </a:prstGeom>
          <a:noFill/>
        </p:spPr>
        <p:txBody>
          <a:bodyPr wrap="square" lIns="0" rIns="0" tIns="0" bIns="0" anchor="t">
            <a:noAutofit/>
          </a:bodyPr>
          <a:lstStyle/>
          <a:p>
            <a:pPr algn="l">
              <a:spcAft>
                <a:spcPts val="0"/>
              </a:spcAft>
            </a:pPr>
            <a:r>
              <a:rPr sz="1100" b="0" i="0" lang="en-US">
                <a:solidFill>
                  <a:srgbClr val="DDD6EE"/>
                </a:solidFill>
                <a:latin typeface="Calibri"/>
              </a:rPr>
              <a:t>documents referenced by URL, no managed lifecycle</a:t>
            </a:r>
          </a:p>
        </p:txBody>
      </p:sp>
      <p:sp>
        <p:nvSpPr>
          <p:cNvPr id="27" name="Rounded Rectangle 26"/>
          <p:cNvSpPr/>
          <p:nvPr/>
        </p:nvSpPr>
        <p:spPr>
          <a:xfrm>
            <a:off x="6903720" y="5074920"/>
            <a:ext cx="4736592" cy="731520"/>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059168" y="5129783"/>
            <a:ext cx="3560673" cy="274320"/>
          </a:xfrm>
          <a:prstGeom prst="rect">
            <a:avLst/>
          </a:prstGeom>
          <a:noFill/>
        </p:spPr>
        <p:txBody>
          <a:bodyPr wrap="square" lIns="0" rIns="0" tIns="0" bIns="0" anchor="t">
            <a:noAutofit/>
          </a:bodyPr>
          <a:lstStyle/>
          <a:p>
            <a:pPr algn="l">
              <a:spcAft>
                <a:spcPts val="0"/>
              </a:spcAft>
            </a:pPr>
            <a:r>
              <a:rPr sz="1250" b="1" i="0" lang="en-US">
                <a:solidFill>
                  <a:srgbClr val="FFFFFF"/>
                </a:solidFill>
                <a:latin typeface="Calibri"/>
              </a:rPr>
              <a:t>Spatial OLAP (SOLAP)</a:t>
            </a:r>
          </a:p>
        </p:txBody>
      </p:sp>
      <p:sp>
        <p:nvSpPr>
          <p:cNvPr id="29" name="TextBox 28"/>
          <p:cNvSpPr txBox="1"/>
          <p:nvPr/>
        </p:nvSpPr>
        <p:spPr>
          <a:xfrm>
            <a:off x="10692993" y="5148072"/>
            <a:ext cx="828446" cy="256032"/>
          </a:xfrm>
          <a:prstGeom prst="rect">
            <a:avLst/>
          </a:prstGeom>
          <a:noFill/>
        </p:spPr>
        <p:txBody>
          <a:bodyPr wrap="square" lIns="0" rIns="0" tIns="0" bIns="0" anchor="t">
            <a:noAutofit/>
          </a:bodyPr>
          <a:lstStyle/>
          <a:p>
            <a:pPr algn="r">
              <a:spcAft>
                <a:spcPts val="0"/>
              </a:spcAft>
            </a:pPr>
            <a:r>
              <a:rPr sz="900" b="0" i="0" lang="en-US">
                <a:solidFill>
                  <a:srgbClr val="8E84AB"/>
                </a:solidFill>
                <a:latin typeface="Calibri"/>
              </a:rPr>
              <a:t>Rivest et al.</a:t>
            </a:r>
          </a:p>
        </p:txBody>
      </p:sp>
      <p:sp>
        <p:nvSpPr>
          <p:cNvPr id="30" name="TextBox 29"/>
          <p:cNvSpPr txBox="1"/>
          <p:nvPr/>
        </p:nvSpPr>
        <p:spPr>
          <a:xfrm>
            <a:off x="7059168" y="5413248"/>
            <a:ext cx="4480560" cy="347472"/>
          </a:xfrm>
          <a:prstGeom prst="rect">
            <a:avLst/>
          </a:prstGeom>
          <a:noFill/>
        </p:spPr>
        <p:txBody>
          <a:bodyPr wrap="square" lIns="0" rIns="0" tIns="0" bIns="0" anchor="t">
            <a:noAutofit/>
          </a:bodyPr>
          <a:lstStyle/>
          <a:p>
            <a:pPr algn="l">
              <a:spcAft>
                <a:spcPts val="0"/>
              </a:spcAft>
            </a:pPr>
            <a:r>
              <a:rPr sz="1100" b="0" i="0" lang="en-US">
                <a:solidFill>
                  <a:srgbClr val="DDD6EE"/>
                </a:solidFill>
                <a:latin typeface="Calibri"/>
              </a:rPr>
              <a:t>our map is a SOLAP client in all but name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Warehouse-centric architecture, four layers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ARCHITECTURE</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5 / 19</a:t>
            </a:r>
          </a:p>
        </p:txBody>
      </p:sp>
      <p:sp>
        <p:nvSpPr>
          <p:cNvPr id="5" name="Rounded Rectangle 4"/>
          <p:cNvSpPr/>
          <p:nvPr/>
        </p:nvSpPr>
        <p:spPr>
          <a:xfrm>
            <a:off x="548640" y="1755648"/>
            <a:ext cx="11091672" cy="822960"/>
          </a:xfrm>
          <a:prstGeom prst="roundRect">
            <a:avLst>
              <a:gd name="adj" fmla="val 11111"/>
            </a:avLst>
          </a:prstGeom>
          <a:solidFill>
            <a:srgbClr val="FFFFFF">
              <a:alpha val="3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1755648"/>
            <a:ext cx="1280160" cy="822960"/>
          </a:xfrm>
          <a:prstGeom prst="rect">
            <a:avLst/>
          </a:prstGeom>
          <a:noFill/>
        </p:spPr>
        <p:txBody>
          <a:bodyPr wrap="square" lIns="0" rIns="0" tIns="0" bIns="0" anchor="ctr">
            <a:noAutofit/>
          </a:bodyPr>
          <a:lstStyle/>
          <a:p>
            <a:pPr algn="l">
              <a:spcAft>
                <a:spcPts val="0"/>
              </a:spcAft>
            </a:pPr>
            <a:r>
              <a:rPr sz="1800" b="1" i="0" lang="en-US">
                <a:solidFill>
                  <a:srgbClr val="B57BFF"/>
                </a:solidFill>
                <a:latin typeface="Calibri"/>
              </a:rPr>
              <a:t>L1</a:t>
            </a:r>
          </a:p>
          <a:p>
            <a:pPr algn="l">
              <a:spcAft>
                <a:spcPts val="0"/>
              </a:spcAft>
            </a:pPr>
            <a:r>
              <a:rPr sz="1050" b="0" i="0" lang="en-US">
                <a:solidFill>
                  <a:srgbClr val="DDD6EE"/>
                </a:solidFill>
                <a:latin typeface="Calibri"/>
              </a:rPr>
              <a:t>Ingestion</a:t>
            </a:r>
          </a:p>
        </p:txBody>
      </p:sp>
      <p:sp>
        <p:nvSpPr>
          <p:cNvPr id="7" name="Rounded Rectangle 6"/>
          <p:cNvSpPr/>
          <p:nvPr/>
        </p:nvSpPr>
        <p:spPr>
          <a:xfrm>
            <a:off x="548640" y="2715768"/>
            <a:ext cx="11091672" cy="685800"/>
          </a:xfrm>
          <a:prstGeom prst="roundRect">
            <a:avLst>
              <a:gd name="adj" fmla="val 13333"/>
            </a:avLst>
          </a:prstGeom>
          <a:solidFill>
            <a:srgbClr val="FFFFFF">
              <a:alpha val="3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2715768"/>
            <a:ext cx="1280160" cy="685800"/>
          </a:xfrm>
          <a:prstGeom prst="rect">
            <a:avLst/>
          </a:prstGeom>
          <a:noFill/>
        </p:spPr>
        <p:txBody>
          <a:bodyPr wrap="square" lIns="0" rIns="0" tIns="0" bIns="0" anchor="ctr">
            <a:noAutofit/>
          </a:bodyPr>
          <a:lstStyle/>
          <a:p>
            <a:pPr algn="l">
              <a:spcAft>
                <a:spcPts val="0"/>
              </a:spcAft>
            </a:pPr>
            <a:r>
              <a:rPr sz="1800" b="1" i="0" lang="en-US">
                <a:solidFill>
                  <a:srgbClr val="B57BFF"/>
                </a:solidFill>
                <a:latin typeface="Calibri"/>
              </a:rPr>
              <a:t>L2</a:t>
            </a:r>
          </a:p>
          <a:p>
            <a:pPr algn="l">
              <a:spcAft>
                <a:spcPts val="0"/>
              </a:spcAft>
            </a:pPr>
            <a:r>
              <a:rPr sz="1050" b="0" i="0" lang="en-US">
                <a:solidFill>
                  <a:srgbClr val="DDD6EE"/>
                </a:solidFill>
                <a:latin typeface="Calibri"/>
              </a:rPr>
              <a:t>REST API</a:t>
            </a:r>
          </a:p>
        </p:txBody>
      </p:sp>
      <p:sp>
        <p:nvSpPr>
          <p:cNvPr id="9" name="Rounded Rectangle 8"/>
          <p:cNvSpPr/>
          <p:nvPr/>
        </p:nvSpPr>
        <p:spPr>
          <a:xfrm>
            <a:off x="548640" y="3538728"/>
            <a:ext cx="11091672" cy="1234440"/>
          </a:xfrm>
          <a:prstGeom prst="roundRect">
            <a:avLst>
              <a:gd name="adj" fmla="val 7407"/>
            </a:avLst>
          </a:prstGeom>
          <a:solidFill>
            <a:srgbClr val="FFFFFF">
              <a:alpha val="3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3538728"/>
            <a:ext cx="1280160" cy="1234440"/>
          </a:xfrm>
          <a:prstGeom prst="rect">
            <a:avLst/>
          </a:prstGeom>
          <a:noFill/>
        </p:spPr>
        <p:txBody>
          <a:bodyPr wrap="square" lIns="0" rIns="0" tIns="0" bIns="0" anchor="ctr">
            <a:noAutofit/>
          </a:bodyPr>
          <a:lstStyle/>
          <a:p>
            <a:pPr algn="l">
              <a:spcAft>
                <a:spcPts val="0"/>
              </a:spcAft>
            </a:pPr>
            <a:r>
              <a:rPr sz="1800" b="1" i="0" lang="en-US">
                <a:solidFill>
                  <a:srgbClr val="B57BFF"/>
                </a:solidFill>
                <a:latin typeface="Calibri"/>
              </a:rPr>
              <a:t>L3</a:t>
            </a:r>
          </a:p>
          <a:p>
            <a:pPr algn="l">
              <a:spcAft>
                <a:spcPts val="0"/>
              </a:spcAft>
            </a:pPr>
            <a:r>
              <a:rPr sz="1050" b="0" i="0" lang="en-US">
                <a:solidFill>
                  <a:srgbClr val="DDD6EE"/>
                </a:solidFill>
                <a:latin typeface="Calibri"/>
              </a:rPr>
              <a:t>Storage</a:t>
            </a:r>
          </a:p>
        </p:txBody>
      </p:sp>
      <p:sp>
        <p:nvSpPr>
          <p:cNvPr id="11" name="Rounded Rectangle 10"/>
          <p:cNvSpPr/>
          <p:nvPr/>
        </p:nvSpPr>
        <p:spPr>
          <a:xfrm>
            <a:off x="548640" y="4910328"/>
            <a:ext cx="11091672" cy="1005840"/>
          </a:xfrm>
          <a:prstGeom prst="roundRect">
            <a:avLst>
              <a:gd name="adj" fmla="val 9090"/>
            </a:avLst>
          </a:prstGeom>
          <a:solidFill>
            <a:srgbClr val="FFFFFF">
              <a:alpha val="3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8368" y="4910328"/>
            <a:ext cx="1280160" cy="1005840"/>
          </a:xfrm>
          <a:prstGeom prst="rect">
            <a:avLst/>
          </a:prstGeom>
          <a:noFill/>
        </p:spPr>
        <p:txBody>
          <a:bodyPr wrap="square" lIns="0" rIns="0" tIns="0" bIns="0" anchor="ctr">
            <a:noAutofit/>
          </a:bodyPr>
          <a:lstStyle/>
          <a:p>
            <a:pPr algn="l">
              <a:spcAft>
                <a:spcPts val="0"/>
              </a:spcAft>
            </a:pPr>
            <a:r>
              <a:rPr sz="1800" b="1" i="0" lang="en-US">
                <a:solidFill>
                  <a:srgbClr val="B57BFF"/>
                </a:solidFill>
                <a:latin typeface="Calibri"/>
              </a:rPr>
              <a:t>L4</a:t>
            </a:r>
          </a:p>
          <a:p>
            <a:pPr algn="l">
              <a:spcAft>
                <a:spcPts val="0"/>
              </a:spcAft>
            </a:pPr>
            <a:r>
              <a:rPr sz="1050" b="0" i="0" lang="en-US">
                <a:solidFill>
                  <a:srgbClr val="DDD6EE"/>
                </a:solidFill>
                <a:latin typeface="Calibri"/>
              </a:rPr>
              <a:t>Presentation</a:t>
            </a:r>
          </a:p>
        </p:txBody>
      </p:sp>
      <p:sp>
        <p:nvSpPr>
          <p:cNvPr id="13" name="Rounded Rectangle 12"/>
          <p:cNvSpPr/>
          <p:nvPr/>
        </p:nvSpPr>
        <p:spPr>
          <a:xfrm>
            <a:off x="2057400" y="1874519"/>
            <a:ext cx="3749039" cy="585216"/>
          </a:xfrm>
          <a:prstGeom prst="roundRect">
            <a:avLst>
              <a:gd name="adj" fmla="val 15625"/>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32888" y="1874519"/>
            <a:ext cx="3145535" cy="585216"/>
          </a:xfrm>
          <a:prstGeom prst="rect">
            <a:avLst/>
          </a:prstGeom>
          <a:noFill/>
        </p:spPr>
        <p:txBody>
          <a:bodyPr wrap="square" lIns="0" rIns="0" tIns="0" bIns="0" anchor="ctr">
            <a:noAutofit/>
          </a:bodyPr>
          <a:lstStyle/>
          <a:p>
            <a:pPr algn="l">
              <a:spcAft>
                <a:spcPts val="0"/>
              </a:spcAft>
            </a:pPr>
            <a:r>
              <a:rPr sz="1150" b="0" i="0" lang="en-US">
                <a:solidFill>
                  <a:srgbClr val="FFFFFF"/>
                </a:solidFill>
                <a:latin typeface="Calibri"/>
              </a:rPr>
              <a:t>Actors: director · supervisor · secretary · planner · citizen</a:t>
            </a:r>
          </a:p>
        </p:txBody>
      </p:sp>
      <p:pic>
        <p:nvPicPr>
          <p:cNvPr id="15" name="Picture 14" descr="users.png"/>
          <p:cNvPicPr>
            <a:picLocks noChangeAspect="1"/>
          </p:cNvPicPr>
          <p:nvPr/>
        </p:nvPicPr>
        <p:blipFill>
          <a:blip r:embed="rId2"/>
          <a:stretch>
            <a:fillRect/>
          </a:stretch>
        </p:blipFill>
        <p:spPr>
          <a:xfrm>
            <a:off x="2185416" y="2029967"/>
            <a:ext cx="274320" cy="274320"/>
          </a:xfrm>
          <a:prstGeom prst="rect">
            <a:avLst/>
          </a:prstGeom>
        </p:spPr>
      </p:pic>
      <p:sp>
        <p:nvSpPr>
          <p:cNvPr id="16" name="Rounded Rectangle 15"/>
          <p:cNvSpPr/>
          <p:nvPr/>
        </p:nvSpPr>
        <p:spPr>
          <a:xfrm>
            <a:off x="6720840" y="1874519"/>
            <a:ext cx="4663440" cy="585216"/>
          </a:xfrm>
          <a:prstGeom prst="roundRect">
            <a:avLst>
              <a:gd name="adj" fmla="val 15625"/>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48855" y="1874519"/>
            <a:ext cx="3712463" cy="585216"/>
          </a:xfrm>
          <a:prstGeom prst="rect">
            <a:avLst/>
          </a:prstGeom>
          <a:noFill/>
        </p:spPr>
        <p:txBody>
          <a:bodyPr wrap="square" lIns="0" rIns="0" tIns="0" bIns="0" anchor="ctr">
            <a:noAutofit/>
          </a:bodyPr>
          <a:lstStyle/>
          <a:p>
            <a:pPr algn="l">
              <a:spcAft>
                <a:spcPts val="0"/>
              </a:spcAft>
            </a:pPr>
            <a:r>
              <a:rPr sz="1150" b="0" i="0" lang="en-US">
                <a:solidFill>
                  <a:srgbClr val="FFFFFF"/>
                </a:solidFill>
                <a:latin typeface="Calibri"/>
              </a:rPr>
              <a:t>Role-specific web application · HTML5 / CSS3 / JS</a:t>
            </a:r>
          </a:p>
        </p:txBody>
      </p:sp>
      <p:pic>
        <p:nvPicPr>
          <p:cNvPr id="18" name="Picture 17" descr="html5.png"/>
          <p:cNvPicPr>
            <a:picLocks noChangeAspect="1"/>
          </p:cNvPicPr>
          <p:nvPr/>
        </p:nvPicPr>
        <p:blipFill>
          <a:blip r:embed="rId3"/>
          <a:stretch>
            <a:fillRect/>
          </a:stretch>
        </p:blipFill>
        <p:spPr>
          <a:xfrm>
            <a:off x="10634472" y="2029967"/>
            <a:ext cx="274320" cy="274320"/>
          </a:xfrm>
          <a:prstGeom prst="rect">
            <a:avLst/>
          </a:prstGeom>
        </p:spPr>
      </p:pic>
      <p:pic>
        <p:nvPicPr>
          <p:cNvPr id="19" name="Picture 18" descr="javascript.png"/>
          <p:cNvPicPr>
            <a:picLocks noChangeAspect="1"/>
          </p:cNvPicPr>
          <p:nvPr/>
        </p:nvPicPr>
        <p:blipFill>
          <a:blip r:embed="rId4"/>
          <a:stretch>
            <a:fillRect/>
          </a:stretch>
        </p:blipFill>
        <p:spPr>
          <a:xfrm>
            <a:off x="10981944" y="2029967"/>
            <a:ext cx="274320" cy="274320"/>
          </a:xfrm>
          <a:prstGeom prst="rect">
            <a:avLst/>
          </a:prstGeom>
        </p:spPr>
      </p:pic>
      <p:cxnSp>
        <p:nvCxnSpPr>
          <p:cNvPr id="20" name="Connector 19"/>
          <p:cNvCxnSpPr/>
          <p:nvPr/>
        </p:nvCxnSpPr>
        <p:spPr>
          <a:xfrm>
            <a:off x="5806440" y="2167128"/>
            <a:ext cx="914400"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057400" y="2788920"/>
            <a:ext cx="9326880" cy="539496"/>
          </a:xfrm>
          <a:prstGeom prst="roundRect">
            <a:avLst>
              <a:gd name="adj" fmla="val 16949"/>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880360" y="2788920"/>
            <a:ext cx="8375904" cy="539496"/>
          </a:xfrm>
          <a:prstGeom prst="rect">
            <a:avLst/>
          </a:prstGeom>
          <a:noFill/>
        </p:spPr>
        <p:txBody>
          <a:bodyPr wrap="square" lIns="0" rIns="0" tIns="0" bIns="0" anchor="ctr">
            <a:noAutofit/>
          </a:bodyPr>
          <a:lstStyle/>
          <a:p>
            <a:pPr algn="l">
              <a:spcAft>
                <a:spcPts val="0"/>
              </a:spcAft>
            </a:pPr>
            <a:r>
              <a:rPr sz="1150" b="1" i="0" lang="en-US">
                <a:solidFill>
                  <a:srgbClr val="FFFFFF"/>
                </a:solidFill>
                <a:latin typeface="Calibri"/>
              </a:rPr>
              <a:t>Flask / Python REST API</a:t>
            </a:r>
            <a:r>
              <a:rPr sz="1150" b="0" i="0" lang="en-US">
                <a:solidFill>
                  <a:srgbClr val="DDD6EE"/>
                </a:solidFill>
                <a:latin typeface="Calibri"/>
              </a:rPr>
              <a:t>  ·  9 blueprints  ·  56 routes  ·  11 unauthenticated read-only  ·  role check + signed session token</a:t>
            </a:r>
          </a:p>
        </p:txBody>
      </p:sp>
      <p:pic>
        <p:nvPicPr>
          <p:cNvPr id="23" name="Picture 22" descr="flask.png"/>
          <p:cNvPicPr>
            <a:picLocks noChangeAspect="1"/>
          </p:cNvPicPr>
          <p:nvPr/>
        </p:nvPicPr>
        <p:blipFill>
          <a:blip r:embed="rId5"/>
          <a:stretch>
            <a:fillRect/>
          </a:stretch>
        </p:blipFill>
        <p:spPr>
          <a:xfrm>
            <a:off x="2185416" y="2921508"/>
            <a:ext cx="274320" cy="274320"/>
          </a:xfrm>
          <a:prstGeom prst="rect">
            <a:avLst/>
          </a:prstGeom>
        </p:spPr>
      </p:pic>
      <p:pic>
        <p:nvPicPr>
          <p:cNvPr id="24" name="Picture 23" descr="python.png"/>
          <p:cNvPicPr>
            <a:picLocks noChangeAspect="1"/>
          </p:cNvPicPr>
          <p:nvPr/>
        </p:nvPicPr>
        <p:blipFill>
          <a:blip r:embed="rId6"/>
          <a:stretch>
            <a:fillRect/>
          </a:stretch>
        </p:blipFill>
        <p:spPr>
          <a:xfrm>
            <a:off x="2532888" y="2921508"/>
            <a:ext cx="274320" cy="274320"/>
          </a:xfrm>
          <a:prstGeom prst="rect">
            <a:avLst/>
          </a:prstGeom>
        </p:spPr>
      </p:pic>
      <p:cxnSp>
        <p:nvCxnSpPr>
          <p:cNvPr id="25" name="Connector 24"/>
          <p:cNvCxnSpPr/>
          <p:nvPr/>
        </p:nvCxnSpPr>
        <p:spPr>
          <a:xfrm>
            <a:off x="9052560" y="2459736"/>
            <a:ext cx="0" cy="329184"/>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057400" y="3840480"/>
            <a:ext cx="2194560" cy="594360"/>
          </a:xfrm>
          <a:prstGeom prst="roundRect">
            <a:avLst>
              <a:gd name="adj" fmla="val 15384"/>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185416" y="3840480"/>
            <a:ext cx="1938528" cy="594360"/>
          </a:xfrm>
          <a:prstGeom prst="rect">
            <a:avLst/>
          </a:prstGeom>
          <a:noFill/>
        </p:spPr>
        <p:txBody>
          <a:bodyPr wrap="square" lIns="0" rIns="0" tIns="0" bIns="0" anchor="ctr">
            <a:noAutofit/>
          </a:bodyPr>
          <a:lstStyle/>
          <a:p>
            <a:pPr algn="l">
              <a:spcAft>
                <a:spcPts val="0"/>
              </a:spcAft>
            </a:pPr>
            <a:r>
              <a:rPr sz="1150" b="0" i="0" lang="en-US">
                <a:solidFill>
                  <a:srgbClr val="FFFFFF"/>
                </a:solidFill>
                <a:latin typeface="Calibri"/>
              </a:rPr>
              <a:t>Operational schema (OLTP)</a:t>
            </a:r>
          </a:p>
        </p:txBody>
      </p:sp>
      <p:sp>
        <p:nvSpPr>
          <p:cNvPr id="28" name="Rounded Rectangle 27"/>
          <p:cNvSpPr/>
          <p:nvPr/>
        </p:nvSpPr>
        <p:spPr>
          <a:xfrm>
            <a:off x="5257800" y="3657600"/>
            <a:ext cx="2697480" cy="987552"/>
          </a:xfrm>
          <a:prstGeom prst="roundRect">
            <a:avLst>
              <a:gd name="adj" fmla="val 9259"/>
            </a:avLst>
          </a:prstGeom>
          <a:solidFill>
            <a:srgbClr val="B57BFF">
              <a:alpha val="20000"/>
            </a:srgbClr>
          </a:solidFill>
          <a:ln w="9525">
            <a:solidFill>
              <a:srgbClr val="B5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385816" y="3657600"/>
            <a:ext cx="1709928" cy="987552"/>
          </a:xfrm>
          <a:prstGeom prst="rect">
            <a:avLst/>
          </a:prstGeom>
          <a:noFill/>
        </p:spPr>
        <p:txBody>
          <a:bodyPr wrap="square" lIns="0" rIns="0" tIns="0" bIns="0" anchor="ctr">
            <a:noAutofit/>
          </a:bodyPr>
          <a:lstStyle/>
          <a:p>
            <a:pPr algn="l">
              <a:spcAft>
                <a:spcPts val="200"/>
              </a:spcAft>
            </a:pPr>
            <a:r>
              <a:rPr sz="1300" b="1" i="0" lang="en-US">
                <a:solidFill>
                  <a:srgbClr val="FFFFFF"/>
                </a:solidFill>
                <a:latin typeface="Calibri"/>
              </a:rPr>
              <a:t>Data Warehouse</a:t>
            </a:r>
          </a:p>
          <a:p>
            <a:pPr algn="l">
              <a:spcAft>
                <a:spcPts val="0"/>
              </a:spcAft>
            </a:pPr>
            <a:r>
              <a:rPr sz="1100" b="0" i="0" lang="en-US">
                <a:solidFill>
                  <a:srgbClr val="DDD6EE"/>
                </a:solidFill>
                <a:latin typeface="Calibri"/>
              </a:rPr>
              <a:t>10 dims · 2 facts · 6 views</a:t>
            </a:r>
          </a:p>
        </p:txBody>
      </p:sp>
      <p:pic>
        <p:nvPicPr>
          <p:cNvPr id="30" name="Picture 29" descr="postgresql.png"/>
          <p:cNvPicPr>
            <a:picLocks noChangeAspect="1"/>
          </p:cNvPicPr>
          <p:nvPr/>
        </p:nvPicPr>
        <p:blipFill>
          <a:blip r:embed="rId7"/>
          <a:stretch>
            <a:fillRect/>
          </a:stretch>
        </p:blipFill>
        <p:spPr>
          <a:xfrm>
            <a:off x="7168895" y="4005072"/>
            <a:ext cx="292608" cy="292608"/>
          </a:xfrm>
          <a:prstGeom prst="rect">
            <a:avLst/>
          </a:prstGeom>
        </p:spPr>
      </p:pic>
      <p:pic>
        <p:nvPicPr>
          <p:cNvPr id="31" name="Picture 30" descr="supabase.png"/>
          <p:cNvPicPr>
            <a:picLocks noChangeAspect="1"/>
          </p:cNvPicPr>
          <p:nvPr/>
        </p:nvPicPr>
        <p:blipFill>
          <a:blip r:embed="rId8"/>
          <a:stretch>
            <a:fillRect/>
          </a:stretch>
        </p:blipFill>
        <p:spPr>
          <a:xfrm>
            <a:off x="7534655" y="4005072"/>
            <a:ext cx="292608" cy="292608"/>
          </a:xfrm>
          <a:prstGeom prst="rect">
            <a:avLst/>
          </a:prstGeom>
        </p:spPr>
      </p:pic>
      <p:sp>
        <p:nvSpPr>
          <p:cNvPr id="32" name="Rounded Rectangle 31"/>
          <p:cNvSpPr/>
          <p:nvPr/>
        </p:nvSpPr>
        <p:spPr>
          <a:xfrm>
            <a:off x="8595360" y="3749039"/>
            <a:ext cx="1847088" cy="777240"/>
          </a:xfrm>
          <a:prstGeom prst="roundRect">
            <a:avLst>
              <a:gd name="adj" fmla="val 11764"/>
            </a:avLst>
          </a:prstGeom>
          <a:solidFill>
            <a:srgbClr val="FBBF24">
              <a:alpha val="10000"/>
            </a:srgbClr>
          </a:solidFill>
          <a:ln w="9525">
            <a:solidFill>
              <a:srgbClr val="FBBF24">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686800" y="3749039"/>
            <a:ext cx="1316736" cy="777240"/>
          </a:xfrm>
          <a:prstGeom prst="rect">
            <a:avLst/>
          </a:prstGeom>
          <a:noFill/>
        </p:spPr>
        <p:txBody>
          <a:bodyPr wrap="square" lIns="0" rIns="0" tIns="0" bIns="0" anchor="ctr">
            <a:noAutofit/>
          </a:bodyPr>
          <a:lstStyle/>
          <a:p>
            <a:pPr algn="l">
              <a:spcAft>
                <a:spcPts val="0"/>
              </a:spcAft>
            </a:pPr>
            <a:r>
              <a:rPr sz="1150" b="1" i="0" lang="en-US">
                <a:solidFill>
                  <a:srgbClr val="FFFFFF"/>
                </a:solidFill>
                <a:latin typeface="Calibri"/>
              </a:rPr>
              <a:t>Object store</a:t>
            </a:r>
          </a:p>
          <a:p>
            <a:pPr algn="l">
              <a:spcAft>
                <a:spcPts val="0"/>
              </a:spcAft>
            </a:pPr>
            <a:r>
              <a:rPr sz="1000" b="0" i="0" lang="en-US">
                <a:solidFill>
                  <a:srgbClr val="DDD6EE"/>
                </a:solidFill>
                <a:latin typeface="Calibri"/>
              </a:rPr>
              <a:t>Cloudflare R2 · binary evidence</a:t>
            </a:r>
          </a:p>
        </p:txBody>
      </p:sp>
      <p:pic>
        <p:nvPicPr>
          <p:cNvPr id="34" name="Picture 33" descr="cloudflare.png"/>
          <p:cNvPicPr>
            <a:picLocks noChangeAspect="1"/>
          </p:cNvPicPr>
          <p:nvPr/>
        </p:nvPicPr>
        <p:blipFill>
          <a:blip r:embed="rId9"/>
          <a:stretch>
            <a:fillRect/>
          </a:stretch>
        </p:blipFill>
        <p:spPr>
          <a:xfrm>
            <a:off x="10076688" y="4000500"/>
            <a:ext cx="274320" cy="274320"/>
          </a:xfrm>
          <a:prstGeom prst="rect">
            <a:avLst/>
          </a:prstGeom>
        </p:spPr>
      </p:pic>
      <p:cxnSp>
        <p:nvCxnSpPr>
          <p:cNvPr id="35" name="Connector 34"/>
          <p:cNvCxnSpPr/>
          <p:nvPr/>
        </p:nvCxnSpPr>
        <p:spPr>
          <a:xfrm>
            <a:off x="3154680" y="3328416"/>
            <a:ext cx="0" cy="512064"/>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246120" y="3401568"/>
            <a:ext cx="1371600" cy="274320"/>
          </a:xfrm>
          <a:prstGeom prst="rect">
            <a:avLst/>
          </a:prstGeom>
          <a:noFill/>
        </p:spPr>
        <p:txBody>
          <a:bodyPr wrap="square" lIns="0" rIns="0" tIns="0" bIns="0" anchor="t">
            <a:noAutofit/>
          </a:bodyPr>
          <a:lstStyle/>
          <a:p>
            <a:pPr algn="l">
              <a:spcAft>
                <a:spcPts val="0"/>
              </a:spcAft>
            </a:pPr>
            <a:r>
              <a:rPr sz="850" b="0" i="0" lang="en-US">
                <a:solidFill>
                  <a:srgbClr val="ADA3C8"/>
                </a:solidFill>
                <a:latin typeface="Calibri"/>
              </a:rPr>
              <a:t>INSERT / UPDATE</a:t>
            </a:r>
          </a:p>
        </p:txBody>
      </p:sp>
      <p:cxnSp>
        <p:nvCxnSpPr>
          <p:cNvPr id="37" name="Connector 36"/>
          <p:cNvCxnSpPr/>
          <p:nvPr/>
        </p:nvCxnSpPr>
        <p:spPr>
          <a:xfrm>
            <a:off x="9518904" y="3328416"/>
            <a:ext cx="0" cy="420623"/>
          </a:xfrm>
          <a:prstGeom prst="line">
            <a:avLst/>
          </a:prstGeom>
          <a:ln w="19050">
            <a:solidFill>
              <a:srgbClr val="FBBF2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01200" y="3401568"/>
            <a:ext cx="1188720" cy="274320"/>
          </a:xfrm>
          <a:prstGeom prst="rect">
            <a:avLst/>
          </a:prstGeom>
          <a:noFill/>
        </p:spPr>
        <p:txBody>
          <a:bodyPr wrap="square" lIns="0" rIns="0" tIns="0" bIns="0" anchor="t">
            <a:noAutofit/>
          </a:bodyPr>
          <a:lstStyle/>
          <a:p>
            <a:pPr algn="l">
              <a:spcAft>
                <a:spcPts val="0"/>
              </a:spcAft>
            </a:pPr>
            <a:r>
              <a:rPr sz="850" b="0" i="0" lang="en-US">
                <a:solidFill>
                  <a:srgbClr val="FBBF24"/>
                </a:solidFill>
                <a:latin typeface="Calibri"/>
              </a:rPr>
              <a:t>S3 PutObject</a:t>
            </a:r>
          </a:p>
        </p:txBody>
      </p:sp>
      <p:cxnSp>
        <p:nvCxnSpPr>
          <p:cNvPr id="39" name="Connector 38"/>
          <p:cNvCxnSpPr/>
          <p:nvPr/>
        </p:nvCxnSpPr>
        <p:spPr>
          <a:xfrm>
            <a:off x="4251960" y="4142232"/>
            <a:ext cx="1005840"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261104" y="3767328"/>
            <a:ext cx="987552" cy="365760"/>
          </a:xfrm>
          <a:prstGeom prst="rect">
            <a:avLst/>
          </a:prstGeom>
          <a:noFill/>
        </p:spPr>
        <p:txBody>
          <a:bodyPr wrap="square" lIns="0" rIns="0" tIns="0" bIns="0" anchor="t">
            <a:noAutofit/>
          </a:bodyPr>
          <a:lstStyle/>
          <a:p>
            <a:pPr algn="ctr">
              <a:lnSpc>
                <a:spcPct val="90000"/>
              </a:lnSpc>
              <a:spcAft>
                <a:spcPts val="0"/>
              </a:spcAft>
            </a:pPr>
            <a:r>
              <a:rPr sz="850" b="0" i="0" lang="en-US">
                <a:solidFill>
                  <a:srgbClr val="ADA3C8"/>
                </a:solidFill>
                <a:latin typeface="Calibri"/>
              </a:rPr>
              <a:t>triggers</a:t>
            </a:r>
          </a:p>
          <a:p>
            <a:pPr algn="ctr">
              <a:lnSpc>
                <a:spcPct val="90000"/>
              </a:lnSpc>
              <a:spcAft>
                <a:spcPts val="0"/>
              </a:spcAft>
            </a:pPr>
            <a:r>
              <a:rPr sz="850" b="0" i="0" lang="en-US">
                <a:solidFill>
                  <a:srgbClr val="ADA3C8"/>
                </a:solidFill>
                <a:latin typeface="Calibri"/>
              </a:rPr>
              <a:t>(SCD 2)</a:t>
            </a:r>
          </a:p>
        </p:txBody>
      </p:sp>
      <p:sp>
        <p:nvSpPr>
          <p:cNvPr id="41" name="Rounded Rectangle 40"/>
          <p:cNvSpPr/>
          <p:nvPr/>
        </p:nvSpPr>
        <p:spPr>
          <a:xfrm>
            <a:off x="2057400" y="5074920"/>
            <a:ext cx="2377440" cy="658368"/>
          </a:xfrm>
          <a:prstGeom prst="roundRect">
            <a:avLst>
              <a:gd name="adj" fmla="val 13888"/>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2185416" y="5074920"/>
            <a:ext cx="2121408" cy="658368"/>
          </a:xfrm>
          <a:prstGeom prst="rect">
            <a:avLst/>
          </a:prstGeom>
          <a:noFill/>
        </p:spPr>
        <p:txBody>
          <a:bodyPr wrap="square" lIns="0" rIns="0" tIns="0" bIns="0" anchor="ctr">
            <a:noAutofit/>
          </a:bodyPr>
          <a:lstStyle/>
          <a:p>
            <a:pPr algn="l">
              <a:spcAft>
                <a:spcPts val="0"/>
              </a:spcAft>
            </a:pPr>
            <a:r>
              <a:rPr sz="1150" b="0" i="0" lang="en-US">
                <a:solidFill>
                  <a:srgbClr val="FFFFFF"/>
                </a:solidFill>
                <a:latin typeface="Calibri"/>
              </a:rPr>
              <a:t>OLAP views · ad-hoc SQL</a:t>
            </a:r>
          </a:p>
        </p:txBody>
      </p:sp>
      <p:sp>
        <p:nvSpPr>
          <p:cNvPr id="43" name="Rounded Rectangle 42"/>
          <p:cNvSpPr/>
          <p:nvPr/>
        </p:nvSpPr>
        <p:spPr>
          <a:xfrm>
            <a:off x="4892040" y="5074920"/>
            <a:ext cx="3063240" cy="658368"/>
          </a:xfrm>
          <a:prstGeom prst="roundRect">
            <a:avLst>
              <a:gd name="adj" fmla="val 13888"/>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020055" y="5074920"/>
            <a:ext cx="2807208" cy="658368"/>
          </a:xfrm>
          <a:prstGeom prst="rect">
            <a:avLst/>
          </a:prstGeom>
          <a:noFill/>
        </p:spPr>
        <p:txBody>
          <a:bodyPr wrap="square" lIns="0" rIns="0" tIns="0" bIns="0" anchor="ctr">
            <a:noAutofit/>
          </a:bodyPr>
          <a:lstStyle/>
          <a:p>
            <a:pPr algn="l">
              <a:spcAft>
                <a:spcPts val="0"/>
              </a:spcAft>
            </a:pPr>
            <a:r>
              <a:rPr sz="1150" b="1" i="0" lang="en-US">
                <a:solidFill>
                  <a:srgbClr val="FFFFFF"/>
                </a:solidFill>
                <a:latin typeface="Calibri"/>
              </a:rPr>
              <a:t>Detection module</a:t>
            </a:r>
          </a:p>
          <a:p>
            <a:pPr algn="l">
              <a:spcAft>
                <a:spcPts val="0"/>
              </a:spcAft>
            </a:pPr>
            <a:r>
              <a:rPr sz="1000" b="0" i="0" lang="en-US">
                <a:solidFill>
                  <a:srgbClr val="DDD6EE"/>
                </a:solidFill>
                <a:latin typeface="Calibri"/>
              </a:rPr>
              <a:t>delay &amp; alert rules · C1–C3</a:t>
            </a:r>
          </a:p>
        </p:txBody>
      </p:sp>
      <p:sp>
        <p:nvSpPr>
          <p:cNvPr id="45" name="Rounded Rectangle 44"/>
          <p:cNvSpPr/>
          <p:nvPr/>
        </p:nvSpPr>
        <p:spPr>
          <a:xfrm>
            <a:off x="8595360" y="5074920"/>
            <a:ext cx="2788920" cy="658368"/>
          </a:xfrm>
          <a:prstGeom prst="roundRect">
            <a:avLst>
              <a:gd name="adj" fmla="val 13888"/>
            </a:avLst>
          </a:prstGeom>
          <a:solidFill>
            <a:srgbClr val="FFFFFF">
              <a:alpha val="8000"/>
            </a:srgbClr>
          </a:solidFill>
          <a:ln w="9525">
            <a:solidFill>
              <a:srgbClr val="D9C5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723376" y="5074920"/>
            <a:ext cx="1837943" cy="658368"/>
          </a:xfrm>
          <a:prstGeom prst="rect">
            <a:avLst/>
          </a:prstGeom>
          <a:noFill/>
        </p:spPr>
        <p:txBody>
          <a:bodyPr wrap="square" lIns="0" rIns="0" tIns="0" bIns="0" anchor="ctr">
            <a:noAutofit/>
          </a:bodyPr>
          <a:lstStyle/>
          <a:p>
            <a:pPr algn="l">
              <a:spcAft>
                <a:spcPts val="0"/>
              </a:spcAft>
            </a:pPr>
            <a:r>
              <a:rPr sz="1150" b="1" i="0" lang="en-US">
                <a:solidFill>
                  <a:srgbClr val="FFFFFF"/>
                </a:solidFill>
                <a:latin typeface="Calibri"/>
              </a:rPr>
              <a:t>Geospatial viewer</a:t>
            </a:r>
          </a:p>
          <a:p>
            <a:pPr algn="l">
              <a:spcAft>
                <a:spcPts val="0"/>
              </a:spcAft>
            </a:pPr>
            <a:r>
              <a:rPr sz="1000" b="0" i="0" lang="en-US">
                <a:solidFill>
                  <a:srgbClr val="DDD6EE"/>
                </a:solidFill>
                <a:latin typeface="Calibri"/>
              </a:rPr>
              <a:t>published with the artefact</a:t>
            </a:r>
          </a:p>
        </p:txBody>
      </p:sp>
      <p:pic>
        <p:nvPicPr>
          <p:cNvPr id="47" name="Picture 46" descr="leaflet.png"/>
          <p:cNvPicPr>
            <a:picLocks noChangeAspect="1"/>
          </p:cNvPicPr>
          <p:nvPr/>
        </p:nvPicPr>
        <p:blipFill>
          <a:blip r:embed="rId10"/>
          <a:stretch>
            <a:fillRect/>
          </a:stretch>
        </p:blipFill>
        <p:spPr>
          <a:xfrm>
            <a:off x="10634472" y="5266944"/>
            <a:ext cx="274320" cy="274320"/>
          </a:xfrm>
          <a:prstGeom prst="rect">
            <a:avLst/>
          </a:prstGeom>
        </p:spPr>
      </p:pic>
      <p:pic>
        <p:nvPicPr>
          <p:cNvPr id="48" name="Picture 47" descr="osm.png"/>
          <p:cNvPicPr>
            <a:picLocks noChangeAspect="1"/>
          </p:cNvPicPr>
          <p:nvPr/>
        </p:nvPicPr>
        <p:blipFill>
          <a:blip r:embed="rId11"/>
          <a:stretch>
            <a:fillRect/>
          </a:stretch>
        </p:blipFill>
        <p:spPr>
          <a:xfrm>
            <a:off x="10981944" y="5266944"/>
            <a:ext cx="274320" cy="274320"/>
          </a:xfrm>
          <a:prstGeom prst="rect">
            <a:avLst/>
          </a:prstGeom>
        </p:spPr>
      </p:pic>
      <p:cxnSp>
        <p:nvCxnSpPr>
          <p:cNvPr id="49" name="Connector 48"/>
          <p:cNvCxnSpPr/>
          <p:nvPr/>
        </p:nvCxnSpPr>
        <p:spPr>
          <a:xfrm flipH="1">
            <a:off x="3931920" y="4645152"/>
            <a:ext cx="1554480" cy="429768"/>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419088" y="4645152"/>
            <a:ext cx="0" cy="429768"/>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518904" y="4526280"/>
            <a:ext cx="0" cy="548640"/>
          </a:xfrm>
          <a:prstGeom prst="line">
            <a:avLst/>
          </a:prstGeom>
          <a:ln w="19050">
            <a:solidFill>
              <a:srgbClr val="FBBF2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601200" y="4645152"/>
            <a:ext cx="1097280" cy="274320"/>
          </a:xfrm>
          <a:prstGeom prst="rect">
            <a:avLst/>
          </a:prstGeom>
          <a:noFill/>
        </p:spPr>
        <p:txBody>
          <a:bodyPr wrap="square" lIns="0" rIns="0" tIns="0" bIns="0" anchor="t">
            <a:noAutofit/>
          </a:bodyPr>
          <a:lstStyle/>
          <a:p>
            <a:pPr algn="l">
              <a:spcAft>
                <a:spcPts val="0"/>
              </a:spcAft>
            </a:pPr>
            <a:r>
              <a:rPr sz="850" b="0" i="0" lang="en-US">
                <a:solidFill>
                  <a:srgbClr val="FBBF24"/>
                </a:solidFill>
                <a:latin typeface="Calibri"/>
              </a:rPr>
              <a:t>evidence URLs</a:t>
            </a:r>
          </a:p>
        </p:txBody>
      </p:sp>
      <p:cxnSp>
        <p:nvCxnSpPr>
          <p:cNvPr id="53" name="Connector 52"/>
          <p:cNvCxnSpPr/>
          <p:nvPr/>
        </p:nvCxnSpPr>
        <p:spPr>
          <a:xfrm>
            <a:off x="11247120" y="3328416"/>
            <a:ext cx="0" cy="1746504"/>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469880" y="3840480"/>
            <a:ext cx="685800" cy="548640"/>
          </a:xfrm>
          <a:prstGeom prst="rect">
            <a:avLst/>
          </a:prstGeom>
          <a:noFill/>
        </p:spPr>
        <p:txBody>
          <a:bodyPr wrap="square" lIns="0" rIns="0" tIns="0" bIns="0" anchor="t">
            <a:noAutofit/>
          </a:bodyPr>
          <a:lstStyle/>
          <a:p>
            <a:pPr algn="r">
              <a:spcAft>
                <a:spcPts val="0"/>
              </a:spcAft>
            </a:pPr>
            <a:r>
              <a:rPr sz="850" b="0" i="0" lang="en-US">
                <a:solidFill>
                  <a:srgbClr val="ADA3C8"/>
                </a:solidFill>
                <a:latin typeface="Calibri"/>
              </a:rPr>
              <a:t>public read endpoints</a:t>
            </a:r>
          </a:p>
        </p:txBody>
      </p:sp>
      <p:cxnSp>
        <p:nvCxnSpPr>
          <p:cNvPr id="55" name="Connector 54"/>
          <p:cNvCxnSpPr/>
          <p:nvPr/>
        </p:nvCxnSpPr>
        <p:spPr>
          <a:xfrm>
            <a:off x="594360" y="6181344"/>
            <a:ext cx="320040" cy="0"/>
          </a:xfrm>
          <a:prstGeom prst="line">
            <a:avLst/>
          </a:prstGeom>
          <a:ln w="19050">
            <a:solidFill>
              <a:srgbClr val="D9C5FF"/>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978408" y="6053328"/>
            <a:ext cx="1463040" cy="256032"/>
          </a:xfrm>
          <a:prstGeom prst="rect">
            <a:avLst/>
          </a:prstGeom>
          <a:noFill/>
        </p:spPr>
        <p:txBody>
          <a:bodyPr wrap="square" lIns="0" rIns="0" tIns="0" bIns="0" anchor="t">
            <a:noAutofit/>
          </a:bodyPr>
          <a:lstStyle/>
          <a:p>
            <a:pPr algn="l">
              <a:spcAft>
                <a:spcPts val="0"/>
              </a:spcAft>
            </a:pPr>
            <a:r>
              <a:rPr sz="950" b="0" i="0" lang="en-US">
                <a:solidFill>
                  <a:srgbClr val="DDD6EE"/>
                </a:solidFill>
                <a:latin typeface="Calibri"/>
              </a:rPr>
              <a:t>structured data</a:t>
            </a:r>
          </a:p>
        </p:txBody>
      </p:sp>
      <p:cxnSp>
        <p:nvCxnSpPr>
          <p:cNvPr id="57" name="Connector 56"/>
          <p:cNvCxnSpPr/>
          <p:nvPr/>
        </p:nvCxnSpPr>
        <p:spPr>
          <a:xfrm>
            <a:off x="2423160" y="6181344"/>
            <a:ext cx="320040" cy="0"/>
          </a:xfrm>
          <a:prstGeom prst="line">
            <a:avLst/>
          </a:prstGeom>
          <a:ln w="19050">
            <a:solidFill>
              <a:srgbClr val="FBBF24"/>
            </a:solidFill>
            <a:prstDash val="dash"/>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807208" y="6053328"/>
            <a:ext cx="1554480" cy="256032"/>
          </a:xfrm>
          <a:prstGeom prst="rect">
            <a:avLst/>
          </a:prstGeom>
          <a:noFill/>
        </p:spPr>
        <p:txBody>
          <a:bodyPr wrap="square" lIns="0" rIns="0" tIns="0" bIns="0" anchor="t">
            <a:noAutofit/>
          </a:bodyPr>
          <a:lstStyle/>
          <a:p>
            <a:pPr algn="l">
              <a:spcAft>
                <a:spcPts val="0"/>
              </a:spcAft>
            </a:pPr>
            <a:r>
              <a:rPr sz="950" b="0" i="0" lang="en-US">
                <a:solidFill>
                  <a:srgbClr val="DDD6EE"/>
                </a:solidFill>
                <a:latin typeface="Calibri"/>
              </a:rPr>
              <a:t>binary evidence</a:t>
            </a:r>
          </a:p>
        </p:txBody>
      </p:sp>
      <p:sp>
        <p:nvSpPr>
          <p:cNvPr id="59" name="TextBox 58"/>
          <p:cNvSpPr txBox="1"/>
          <p:nvPr/>
        </p:nvSpPr>
        <p:spPr>
          <a:xfrm>
            <a:off x="7863840" y="6071616"/>
            <a:ext cx="2743200" cy="274320"/>
          </a:xfrm>
          <a:prstGeom prst="rect">
            <a:avLst/>
          </a:prstGeom>
          <a:noFill/>
        </p:spPr>
        <p:txBody>
          <a:bodyPr wrap="square" lIns="0" rIns="0" tIns="0" bIns="0" anchor="t">
            <a:noAutofit/>
          </a:bodyPr>
          <a:lstStyle/>
          <a:p>
            <a:pPr algn="l">
              <a:spcAft>
                <a:spcPts val="0"/>
              </a:spcAft>
            </a:pPr>
            <a:r>
              <a:rPr sz="950" b="0" i="0" lang="en-US">
                <a:solidFill>
                  <a:srgbClr val="8E84AB"/>
                </a:solidFill>
                <a:latin typeface="Calibri"/>
              </a:rPr>
              <a:t>Redrawn from Fig. 1 of the paper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Star schema: 2 facts, 10 dimensions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DATA WAREHOUSE</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6 / 19</a:t>
            </a:r>
          </a:p>
        </p:txBody>
      </p:sp>
      <p:cxnSp>
        <p:nvCxnSpPr>
          <p:cNvPr id="5" name="Connector 4"/>
          <p:cNvCxnSpPr/>
          <p:nvPr/>
        </p:nvCxnSpPr>
        <p:spPr>
          <a:xfrm>
            <a:off x="3383280" y="2112264"/>
            <a:ext cx="932688" cy="44805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383280" y="2112264"/>
            <a:ext cx="932688" cy="234543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882127" y="2112264"/>
            <a:ext cx="923545" cy="44805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383280" y="2560320"/>
            <a:ext cx="932688" cy="320040"/>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383280" y="2880360"/>
            <a:ext cx="932688" cy="1577340"/>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7882127" y="2560320"/>
            <a:ext cx="923545" cy="320040"/>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383280" y="2560320"/>
            <a:ext cx="932688" cy="108813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383280" y="3648456"/>
            <a:ext cx="932688" cy="809244"/>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7882127" y="2560320"/>
            <a:ext cx="923545" cy="108813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383280" y="2560320"/>
            <a:ext cx="932688" cy="1856231"/>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383280" y="4416551"/>
            <a:ext cx="932688" cy="41149"/>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7882127" y="2560320"/>
            <a:ext cx="923545" cy="1856231"/>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383280" y="2560320"/>
            <a:ext cx="932688" cy="2624327"/>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83280" y="4457700"/>
            <a:ext cx="932688" cy="726947"/>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7882127" y="2560320"/>
            <a:ext cx="923545" cy="2624327"/>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882127" y="2112264"/>
            <a:ext cx="923545" cy="2345436"/>
          </a:xfrm>
          <a:prstGeom prst="line">
            <a:avLst/>
          </a:prstGeom>
          <a:ln w="12700">
            <a:solidFill>
              <a:srgbClr val="D9C5FF">
                <a:alpha val="35000"/>
              </a:srgbClr>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8640" y="1828800"/>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76656" y="1828800"/>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dim_work</a:t>
            </a:r>
          </a:p>
        </p:txBody>
      </p:sp>
      <p:sp>
        <p:nvSpPr>
          <p:cNvPr id="23" name="Rounded Rectangle 22"/>
          <p:cNvSpPr/>
          <p:nvPr/>
        </p:nvSpPr>
        <p:spPr>
          <a:xfrm>
            <a:off x="2651760" y="1975104"/>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2</a:t>
            </a:r>
          </a:p>
        </p:txBody>
      </p:sp>
      <p:sp>
        <p:nvSpPr>
          <p:cNvPr id="24" name="Rounded Rectangle 23"/>
          <p:cNvSpPr/>
          <p:nvPr/>
        </p:nvSpPr>
        <p:spPr>
          <a:xfrm>
            <a:off x="548640" y="2596896"/>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76656" y="2596896"/>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dim_region</a:t>
            </a:r>
          </a:p>
        </p:txBody>
      </p:sp>
      <p:sp>
        <p:nvSpPr>
          <p:cNvPr id="26" name="Rounded Rectangle 25"/>
          <p:cNvSpPr/>
          <p:nvPr/>
        </p:nvSpPr>
        <p:spPr>
          <a:xfrm>
            <a:off x="2651760" y="2743200"/>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2</a:t>
            </a:r>
          </a:p>
        </p:txBody>
      </p:sp>
      <p:sp>
        <p:nvSpPr>
          <p:cNvPr id="27" name="Rounded Rectangle 26"/>
          <p:cNvSpPr/>
          <p:nvPr/>
        </p:nvSpPr>
        <p:spPr>
          <a:xfrm>
            <a:off x="548640" y="3364991"/>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6656" y="3364991"/>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dim_company</a:t>
            </a:r>
          </a:p>
        </p:txBody>
      </p:sp>
      <p:sp>
        <p:nvSpPr>
          <p:cNvPr id="29" name="Rounded Rectangle 28"/>
          <p:cNvSpPr/>
          <p:nvPr/>
        </p:nvSpPr>
        <p:spPr>
          <a:xfrm>
            <a:off x="2651760" y="3511296"/>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2</a:t>
            </a:r>
          </a:p>
        </p:txBody>
      </p:sp>
      <p:sp>
        <p:nvSpPr>
          <p:cNvPr id="30" name="Rounded Rectangle 29"/>
          <p:cNvSpPr/>
          <p:nvPr/>
        </p:nvSpPr>
        <p:spPr>
          <a:xfrm>
            <a:off x="548640" y="4133087"/>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76656" y="4133087"/>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dim_staff</a:t>
            </a:r>
          </a:p>
        </p:txBody>
      </p:sp>
      <p:sp>
        <p:nvSpPr>
          <p:cNvPr id="32" name="Rounded Rectangle 31"/>
          <p:cNvSpPr/>
          <p:nvPr/>
        </p:nvSpPr>
        <p:spPr>
          <a:xfrm>
            <a:off x="2651760" y="4279392"/>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2</a:t>
            </a:r>
          </a:p>
        </p:txBody>
      </p:sp>
      <p:sp>
        <p:nvSpPr>
          <p:cNvPr id="33" name="Rounded Rectangle 32"/>
          <p:cNvSpPr/>
          <p:nvPr/>
        </p:nvSpPr>
        <p:spPr>
          <a:xfrm>
            <a:off x="548640" y="4901183"/>
            <a:ext cx="2834640" cy="566928"/>
          </a:xfrm>
          <a:prstGeom prst="roundRect">
            <a:avLst>
              <a:gd name="adj" fmla="val 16129"/>
            </a:avLst>
          </a:prstGeom>
          <a:solidFill>
            <a:srgbClr val="B57BFF">
              <a:alpha val="16000"/>
            </a:srgbClr>
          </a:solidFill>
          <a:ln w="12700">
            <a:solidFill>
              <a:srgbClr val="B57BF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76656" y="4901183"/>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dim_budget</a:t>
            </a:r>
          </a:p>
        </p:txBody>
      </p:sp>
      <p:sp>
        <p:nvSpPr>
          <p:cNvPr id="35" name="Rounded Rectangle 34"/>
          <p:cNvSpPr/>
          <p:nvPr/>
        </p:nvSpPr>
        <p:spPr>
          <a:xfrm>
            <a:off x="2651760" y="5047488"/>
            <a:ext cx="603504"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2</a:t>
            </a:r>
          </a:p>
        </p:txBody>
      </p:sp>
      <p:sp>
        <p:nvSpPr>
          <p:cNvPr id="36" name="Rounded Rectangle 35"/>
          <p:cNvSpPr/>
          <p:nvPr/>
        </p:nvSpPr>
        <p:spPr>
          <a:xfrm>
            <a:off x="8805672" y="1828800"/>
            <a:ext cx="2834640" cy="566928"/>
          </a:xfrm>
          <a:prstGeom prst="roundRect">
            <a:avLst>
              <a:gd name="adj" fmla="val 16129"/>
            </a:avLst>
          </a:prstGeom>
          <a:solidFill>
            <a:srgbClr val="94A3B8">
              <a:alpha val="8000"/>
            </a:srgbClr>
          </a:solidFill>
          <a:ln w="12700">
            <a:solidFill>
              <a:srgbClr val="94A3B8">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933688" y="1828800"/>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dim_time</a:t>
            </a:r>
          </a:p>
        </p:txBody>
      </p:sp>
      <p:sp>
        <p:nvSpPr>
          <p:cNvPr id="38" name="Rounded Rectangle 37"/>
          <p:cNvSpPr/>
          <p:nvPr/>
        </p:nvSpPr>
        <p:spPr>
          <a:xfrm>
            <a:off x="10908792" y="1975104"/>
            <a:ext cx="603504" cy="274320"/>
          </a:xfrm>
          <a:prstGeom prst="roundRect">
            <a:avLst>
              <a:gd name="adj" fmla="val 50000"/>
            </a:avLst>
          </a:prstGeom>
          <a:solidFill>
            <a:srgbClr val="94A3B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0</a:t>
            </a:r>
          </a:p>
        </p:txBody>
      </p:sp>
      <p:sp>
        <p:nvSpPr>
          <p:cNvPr id="39" name="Rounded Rectangle 38"/>
          <p:cNvSpPr/>
          <p:nvPr/>
        </p:nvSpPr>
        <p:spPr>
          <a:xfrm>
            <a:off x="8805672" y="2596896"/>
            <a:ext cx="2834640" cy="566928"/>
          </a:xfrm>
          <a:prstGeom prst="roundRect">
            <a:avLst>
              <a:gd name="adj" fmla="val 16129"/>
            </a:avLst>
          </a:prstGeom>
          <a:solidFill>
            <a:srgbClr val="94A3B8">
              <a:alpha val="8000"/>
            </a:srgbClr>
          </a:solidFill>
          <a:ln w="12700">
            <a:solidFill>
              <a:srgbClr val="94A3B8">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933688" y="2596896"/>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dim_event_type</a:t>
            </a:r>
          </a:p>
        </p:txBody>
      </p:sp>
      <p:sp>
        <p:nvSpPr>
          <p:cNvPr id="41" name="Rounded Rectangle 40"/>
          <p:cNvSpPr/>
          <p:nvPr/>
        </p:nvSpPr>
        <p:spPr>
          <a:xfrm>
            <a:off x="10908792" y="2743200"/>
            <a:ext cx="603504" cy="274320"/>
          </a:xfrm>
          <a:prstGeom prst="roundRect">
            <a:avLst>
              <a:gd name="adj" fmla="val 50000"/>
            </a:avLst>
          </a:prstGeom>
          <a:solidFill>
            <a:srgbClr val="94A3B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0</a:t>
            </a:r>
          </a:p>
        </p:txBody>
      </p:sp>
      <p:sp>
        <p:nvSpPr>
          <p:cNvPr id="42" name="Rounded Rectangle 41"/>
          <p:cNvSpPr/>
          <p:nvPr/>
        </p:nvSpPr>
        <p:spPr>
          <a:xfrm>
            <a:off x="8805672" y="3364991"/>
            <a:ext cx="2834640" cy="566928"/>
          </a:xfrm>
          <a:prstGeom prst="roundRect">
            <a:avLst>
              <a:gd name="adj" fmla="val 16129"/>
            </a:avLst>
          </a:prstGeom>
          <a:solidFill>
            <a:srgbClr val="2DD4BF">
              <a:alpha val="8000"/>
            </a:srgbClr>
          </a:solidFill>
          <a:ln w="12700">
            <a:solidFill>
              <a:srgbClr val="2DD4B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933688" y="3364991"/>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dim_source</a:t>
            </a:r>
          </a:p>
        </p:txBody>
      </p:sp>
      <p:sp>
        <p:nvSpPr>
          <p:cNvPr id="44" name="Rounded Rectangle 43"/>
          <p:cNvSpPr/>
          <p:nvPr/>
        </p:nvSpPr>
        <p:spPr>
          <a:xfrm>
            <a:off x="10908792" y="3511296"/>
            <a:ext cx="603504" cy="274320"/>
          </a:xfrm>
          <a:prstGeom prst="roundRect">
            <a:avLst>
              <a:gd name="adj" fmla="val 50000"/>
            </a:avLst>
          </a:prstGeom>
          <a:solidFill>
            <a:srgbClr val="2DD4B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1</a:t>
            </a:r>
          </a:p>
        </p:txBody>
      </p:sp>
      <p:sp>
        <p:nvSpPr>
          <p:cNvPr id="45" name="Rounded Rectangle 44"/>
          <p:cNvSpPr/>
          <p:nvPr/>
        </p:nvSpPr>
        <p:spPr>
          <a:xfrm>
            <a:off x="8805672" y="4133087"/>
            <a:ext cx="2834640" cy="566928"/>
          </a:xfrm>
          <a:prstGeom prst="roundRect">
            <a:avLst>
              <a:gd name="adj" fmla="val 16129"/>
            </a:avLst>
          </a:prstGeom>
          <a:solidFill>
            <a:srgbClr val="2DD4BF">
              <a:alpha val="8000"/>
            </a:srgbClr>
          </a:solidFill>
          <a:ln w="12700">
            <a:solidFill>
              <a:srgbClr val="2DD4B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933688" y="4133087"/>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dim_citizen</a:t>
            </a:r>
          </a:p>
        </p:txBody>
      </p:sp>
      <p:sp>
        <p:nvSpPr>
          <p:cNvPr id="47" name="Rounded Rectangle 46"/>
          <p:cNvSpPr/>
          <p:nvPr/>
        </p:nvSpPr>
        <p:spPr>
          <a:xfrm>
            <a:off x="10908792" y="4279392"/>
            <a:ext cx="603504" cy="274320"/>
          </a:xfrm>
          <a:prstGeom prst="roundRect">
            <a:avLst>
              <a:gd name="adj" fmla="val 50000"/>
            </a:avLst>
          </a:prstGeom>
          <a:solidFill>
            <a:srgbClr val="2DD4B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1</a:t>
            </a:r>
          </a:p>
        </p:txBody>
      </p:sp>
      <p:sp>
        <p:nvSpPr>
          <p:cNvPr id="48" name="Rounded Rectangle 47"/>
          <p:cNvSpPr/>
          <p:nvPr/>
        </p:nvSpPr>
        <p:spPr>
          <a:xfrm>
            <a:off x="8805672" y="4901183"/>
            <a:ext cx="2834640" cy="566928"/>
          </a:xfrm>
          <a:prstGeom prst="roundRect">
            <a:avLst>
              <a:gd name="adj" fmla="val 16129"/>
            </a:avLst>
          </a:prstGeom>
          <a:solidFill>
            <a:srgbClr val="2DD4BF">
              <a:alpha val="8000"/>
            </a:srgbClr>
          </a:solidFill>
          <a:ln w="12700">
            <a:solidFill>
              <a:srgbClr val="2DD4BF">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933688" y="4901183"/>
            <a:ext cx="2011680" cy="566928"/>
          </a:xfrm>
          <a:prstGeom prst="rect">
            <a:avLst/>
          </a:prstGeom>
          <a:noFill/>
        </p:spPr>
        <p:txBody>
          <a:bodyPr wrap="square" lIns="0" rIns="0" tIns="0" bIns="0" anchor="ctr">
            <a:noAutofit/>
          </a:bodyPr>
          <a:lstStyle/>
          <a:p>
            <a:pPr algn="l">
              <a:spcAft>
                <a:spcPts val="0"/>
              </a:spcAft>
            </a:pPr>
            <a:r>
              <a:rPr sz="1250" b="0" i="0" lang="en-US">
                <a:solidFill>
                  <a:srgbClr val="FFFFFF"/>
                </a:solidFill>
                <a:latin typeface="Consolas"/>
              </a:rPr>
              <a:t>dim_proposal</a:t>
            </a:r>
          </a:p>
        </p:txBody>
      </p:sp>
      <p:sp>
        <p:nvSpPr>
          <p:cNvPr id="50" name="Rounded Rectangle 49"/>
          <p:cNvSpPr/>
          <p:nvPr/>
        </p:nvSpPr>
        <p:spPr>
          <a:xfrm>
            <a:off x="10908792" y="5047488"/>
            <a:ext cx="603504" cy="274320"/>
          </a:xfrm>
          <a:prstGeom prst="roundRect">
            <a:avLst>
              <a:gd name="adj" fmla="val 50000"/>
            </a:avLst>
          </a:prstGeom>
          <a:solidFill>
            <a:srgbClr val="2DD4B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SCD 1</a:t>
            </a:r>
          </a:p>
        </p:txBody>
      </p:sp>
      <p:sp>
        <p:nvSpPr>
          <p:cNvPr id="51" name="Rounded Rectangle 50"/>
          <p:cNvSpPr/>
          <p:nvPr/>
        </p:nvSpPr>
        <p:spPr>
          <a:xfrm>
            <a:off x="4315968" y="1874519"/>
            <a:ext cx="3566160" cy="1371600"/>
          </a:xfrm>
          <a:prstGeom prst="roundRect">
            <a:avLst>
              <a:gd name="adj" fmla="val 8000"/>
            </a:avLst>
          </a:prstGeom>
          <a:solidFill>
            <a:srgbClr val="B57BFF">
              <a:alpha val="24000"/>
            </a:srgbClr>
          </a:solidFill>
          <a:ln w="19050">
            <a:solidFill>
              <a:srgbClr val="D9C5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407407" y="1984248"/>
            <a:ext cx="3383279" cy="1188720"/>
          </a:xfrm>
          <a:prstGeom prst="rect">
            <a:avLst/>
          </a:prstGeom>
          <a:noFill/>
        </p:spPr>
        <p:txBody>
          <a:bodyPr wrap="square" lIns="0" rIns="0" tIns="0" bIns="0" anchor="ctr">
            <a:noAutofit/>
          </a:bodyPr>
          <a:lstStyle/>
          <a:p>
            <a:pPr algn="ctr">
              <a:spcAft>
                <a:spcPts val="400"/>
              </a:spcAft>
            </a:pPr>
            <a:r>
              <a:rPr sz="1400" b="1" i="0" lang="en-US">
                <a:solidFill>
                  <a:srgbClr val="FFFFFF"/>
                </a:solidFill>
                <a:latin typeface="Consolas"/>
              </a:rPr>
              <a:t>fact_audit_events</a:t>
            </a:r>
          </a:p>
          <a:p>
            <a:pPr algn="ctr">
              <a:spcAft>
                <a:spcPts val="0"/>
              </a:spcAft>
            </a:pPr>
            <a:r>
              <a:rPr sz="1100" b="0" i="0" lang="en-US">
                <a:solidFill>
                  <a:srgbClr val="D9C5FF"/>
                </a:solidFill>
                <a:latin typeface="Calibri"/>
              </a:rPr>
              <a:t>grain: one audit event</a:t>
            </a:r>
          </a:p>
          <a:p>
            <a:pPr algn="ctr">
              <a:spcAft>
                <a:spcPts val="0"/>
              </a:spcAft>
            </a:pPr>
            <a:r>
              <a:rPr sz="1100" b="0" i="0" lang="en-US">
                <a:solidFill>
                  <a:srgbClr val="DDD6EE"/>
                </a:solidFill>
                <a:latin typeface="Calibri"/>
              </a:rPr>
              <a:t>17 event types · range-partitioned by year</a:t>
            </a:r>
          </a:p>
        </p:txBody>
      </p:sp>
      <p:sp>
        <p:nvSpPr>
          <p:cNvPr id="53" name="Rounded Rectangle 52"/>
          <p:cNvSpPr/>
          <p:nvPr/>
        </p:nvSpPr>
        <p:spPr>
          <a:xfrm>
            <a:off x="4315968" y="3886200"/>
            <a:ext cx="3566160" cy="1143000"/>
          </a:xfrm>
          <a:prstGeom prst="roundRect">
            <a:avLst>
              <a:gd name="adj" fmla="val 9600"/>
            </a:avLst>
          </a:prstGeom>
          <a:solidFill>
            <a:srgbClr val="B57BFF">
              <a:alpha val="24000"/>
            </a:srgbClr>
          </a:solidFill>
          <a:ln w="19050">
            <a:solidFill>
              <a:srgbClr val="D9C5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4407407" y="3995928"/>
            <a:ext cx="3383279" cy="960120"/>
          </a:xfrm>
          <a:prstGeom prst="rect">
            <a:avLst/>
          </a:prstGeom>
          <a:noFill/>
        </p:spPr>
        <p:txBody>
          <a:bodyPr wrap="square" lIns="0" rIns="0" tIns="0" bIns="0" anchor="ctr">
            <a:noAutofit/>
          </a:bodyPr>
          <a:lstStyle/>
          <a:p>
            <a:pPr algn="ctr">
              <a:spcAft>
                <a:spcPts val="400"/>
              </a:spcAft>
            </a:pPr>
            <a:r>
              <a:rPr sz="1400" b="1" i="0" lang="en-US">
                <a:solidFill>
                  <a:srgbClr val="FFFFFF"/>
                </a:solidFill>
                <a:latin typeface="Consolas"/>
              </a:rPr>
              <a:t>fact_work_monthly</a:t>
            </a:r>
          </a:p>
          <a:p>
            <a:pPr algn="ctr">
              <a:spcAft>
                <a:spcPts val="0"/>
              </a:spcAft>
            </a:pPr>
            <a:r>
              <a:rPr sz="1100" b="0" i="0" lang="en-US">
                <a:solidFill>
                  <a:srgbClr val="D9C5FF"/>
                </a:solidFill>
                <a:latin typeface="Calibri"/>
              </a:rPr>
              <a:t>grain: one work × month (snapshot)</a:t>
            </a:r>
          </a:p>
          <a:p>
            <a:pPr algn="ctr">
              <a:spcAft>
                <a:spcPts val="0"/>
              </a:spcAft>
            </a:pPr>
            <a:r>
              <a:rPr sz="1100" b="0" i="0" lang="en-US">
                <a:solidFill>
                  <a:srgbClr val="DDD6EE"/>
                </a:solidFill>
                <a:latin typeface="Calibri"/>
              </a:rPr>
              <a:t>29,928 rows in the seeded warehouse</a:t>
            </a:r>
          </a:p>
        </p:txBody>
      </p:sp>
      <p:sp>
        <p:nvSpPr>
          <p:cNvPr id="55" name="Rounded Rectangle 54"/>
          <p:cNvSpPr/>
          <p:nvPr/>
        </p:nvSpPr>
        <p:spPr>
          <a:xfrm>
            <a:off x="822960" y="5614416"/>
            <a:ext cx="868680"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5 × SCD 2</a:t>
            </a:r>
          </a:p>
        </p:txBody>
      </p:sp>
      <p:sp>
        <p:nvSpPr>
          <p:cNvPr id="56" name="TextBox 55"/>
          <p:cNvSpPr txBox="1"/>
          <p:nvPr/>
        </p:nvSpPr>
        <p:spPr>
          <a:xfrm>
            <a:off x="1783080" y="5596128"/>
            <a:ext cx="4023360" cy="310896"/>
          </a:xfrm>
          <a:prstGeom prst="rect">
            <a:avLst/>
          </a:prstGeom>
          <a:noFill/>
        </p:spPr>
        <p:txBody>
          <a:bodyPr wrap="square" lIns="0" rIns="0" tIns="0" bIns="0" anchor="ctr">
            <a:noAutofit/>
          </a:bodyPr>
          <a:lstStyle/>
          <a:p>
            <a:pPr algn="l">
              <a:spcAft>
                <a:spcPts val="0"/>
              </a:spcAft>
            </a:pPr>
            <a:r>
              <a:rPr sz="1100" b="0" i="0" lang="en-US">
                <a:solidFill>
                  <a:srgbClr val="DDD6EE"/>
                </a:solidFill>
                <a:latin typeface="Calibri"/>
              </a:rPr>
              <a:t>full history: effective / expiration / is_current</a:t>
            </a:r>
          </a:p>
        </p:txBody>
      </p:sp>
      <p:sp>
        <p:nvSpPr>
          <p:cNvPr id="57" name="Rounded Rectangle 56"/>
          <p:cNvSpPr/>
          <p:nvPr/>
        </p:nvSpPr>
        <p:spPr>
          <a:xfrm>
            <a:off x="5989320" y="5614416"/>
            <a:ext cx="868680" cy="274320"/>
          </a:xfrm>
          <a:prstGeom prst="roundRect">
            <a:avLst>
              <a:gd name="adj" fmla="val 50000"/>
            </a:avLst>
          </a:prstGeom>
          <a:solidFill>
            <a:srgbClr val="2DD4B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3 × SCD 1</a:t>
            </a:r>
          </a:p>
        </p:txBody>
      </p:sp>
      <p:sp>
        <p:nvSpPr>
          <p:cNvPr id="58" name="TextBox 57"/>
          <p:cNvSpPr txBox="1"/>
          <p:nvPr/>
        </p:nvSpPr>
        <p:spPr>
          <a:xfrm>
            <a:off x="6949440" y="5596128"/>
            <a:ext cx="1463040" cy="310896"/>
          </a:xfrm>
          <a:prstGeom prst="rect">
            <a:avLst/>
          </a:prstGeom>
          <a:noFill/>
        </p:spPr>
        <p:txBody>
          <a:bodyPr wrap="square" lIns="0" rIns="0" tIns="0" bIns="0" anchor="ctr">
            <a:noAutofit/>
          </a:bodyPr>
          <a:lstStyle/>
          <a:p>
            <a:pPr algn="l">
              <a:spcAft>
                <a:spcPts val="0"/>
              </a:spcAft>
            </a:pPr>
            <a:r>
              <a:rPr sz="1100" b="0" i="0" lang="en-US">
                <a:solidFill>
                  <a:srgbClr val="DDD6EE"/>
                </a:solidFill>
                <a:latin typeface="Calibri"/>
              </a:rPr>
              <a:t>overwrite</a:t>
            </a:r>
          </a:p>
        </p:txBody>
      </p:sp>
      <p:sp>
        <p:nvSpPr>
          <p:cNvPr id="59" name="Rounded Rectangle 58"/>
          <p:cNvSpPr/>
          <p:nvPr/>
        </p:nvSpPr>
        <p:spPr>
          <a:xfrm>
            <a:off x="8549640" y="5614416"/>
            <a:ext cx="868680" cy="274320"/>
          </a:xfrm>
          <a:prstGeom prst="roundRect">
            <a:avLst>
              <a:gd name="adj" fmla="val 50000"/>
            </a:avLst>
          </a:prstGeom>
          <a:solidFill>
            <a:srgbClr val="94A3B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2 × SCD 0</a:t>
            </a:r>
          </a:p>
        </p:txBody>
      </p:sp>
      <p:sp>
        <p:nvSpPr>
          <p:cNvPr id="60" name="TextBox 59"/>
          <p:cNvSpPr txBox="1"/>
          <p:nvPr/>
        </p:nvSpPr>
        <p:spPr>
          <a:xfrm>
            <a:off x="9509760" y="5596128"/>
            <a:ext cx="2103120" cy="310896"/>
          </a:xfrm>
          <a:prstGeom prst="rect">
            <a:avLst/>
          </a:prstGeom>
          <a:noFill/>
        </p:spPr>
        <p:txBody>
          <a:bodyPr wrap="square" lIns="0" rIns="0" tIns="0" bIns="0" anchor="ctr">
            <a:noAutofit/>
          </a:bodyPr>
          <a:lstStyle/>
          <a:p>
            <a:pPr algn="l">
              <a:spcAft>
                <a:spcPts val="0"/>
              </a:spcAft>
            </a:pPr>
            <a:r>
              <a:rPr sz="1100" b="0" i="0" lang="en-US">
                <a:solidFill>
                  <a:srgbClr val="DDD6EE"/>
                </a:solidFill>
                <a:latin typeface="Calibri"/>
              </a:rPr>
              <a:t>fixed catalogue</a:t>
            </a:r>
          </a:p>
        </p:txBody>
      </p:sp>
      <p:sp>
        <p:nvSpPr>
          <p:cNvPr id="61" name="TextBox 60"/>
          <p:cNvSpPr txBox="1"/>
          <p:nvPr/>
        </p:nvSpPr>
        <p:spPr>
          <a:xfrm>
            <a:off x="7863840" y="6071616"/>
            <a:ext cx="2743200" cy="274320"/>
          </a:xfrm>
          <a:prstGeom prst="rect">
            <a:avLst/>
          </a:prstGeom>
          <a:noFill/>
        </p:spPr>
        <p:txBody>
          <a:bodyPr wrap="square" lIns="0" rIns="0" tIns="0" bIns="0" anchor="t">
            <a:noAutofit/>
          </a:bodyPr>
          <a:lstStyle/>
          <a:p>
            <a:pPr algn="l">
              <a:spcAft>
                <a:spcPts val="0"/>
              </a:spcAft>
            </a:pPr>
            <a:r>
              <a:rPr sz="950" b="0" i="0" lang="en-US">
                <a:solidFill>
                  <a:srgbClr val="8E84AB"/>
                </a:solidFill>
                <a:latin typeface="Calibri"/>
              </a:rPr>
              <a:t>Redrawn from Fig. 2 of the paper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SCD Type 2: the record as it was, on any date</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SLOWLY CHANGING DIMENSIONS</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7 / 19</a:t>
            </a:r>
          </a:p>
        </p:txBody>
      </p:sp>
      <p:sp>
        <p:nvSpPr>
          <p:cNvPr id="5" name="TextBox 4"/>
          <p:cNvSpPr txBox="1"/>
          <p:nvPr/>
        </p:nvSpPr>
        <p:spPr>
          <a:xfrm>
            <a:off x="548640" y="1755648"/>
            <a:ext cx="6309360" cy="685800"/>
          </a:xfrm>
          <a:prstGeom prst="rect">
            <a:avLst/>
          </a:prstGeom>
          <a:noFill/>
        </p:spPr>
        <p:txBody>
          <a:bodyPr wrap="square" lIns="0" rIns="0" tIns="0" bIns="0" anchor="t">
            <a:noAutofit/>
          </a:bodyPr>
          <a:lstStyle/>
          <a:p>
            <a:pPr algn="l">
              <a:spcAft>
                <a:spcPts val="0"/>
              </a:spcAft>
            </a:pPr>
            <a:r>
              <a:rPr sz="1900" b="0" i="1" lang="en-US">
                <a:solidFill>
                  <a:srgbClr val="D9C5FF"/>
                </a:solidFill>
                <a:latin typeface="Calibri Light"/>
              </a:rPr>
              <a:t>“What did this record look like the day the budget was modified?”</a:t>
            </a:r>
          </a:p>
        </p:txBody>
      </p:sp>
      <p:graphicFrame>
        <p:nvGraphicFramePr>
          <p:cNvPr id="6" name="Table 5"/>
          <p:cNvGraphicFramePr>
            <a:graphicFrameLocks noGrp="1"/>
          </p:cNvGraphicFramePr>
          <p:nvPr/>
        </p:nvGraphicFramePr>
        <p:xfrm>
          <a:off x="548640" y="2651760"/>
          <a:ext cx="6126480" cy="1097280"/>
        </p:xfrm>
        <a:graphic>
          <a:graphicData uri="http://schemas.openxmlformats.org/drawingml/2006/table">
            <a:tbl>
              <a:tblPr firstRow="0" bandRow="0">
                <a:tableStyleId>{5C22544A-7EE6-4342-B048-85BDC9FD1C3A}</a:tableStyleId>
              </a:tblPr>
              <a:tblGrid>
                <a:gridCol w="548640"/>
                <a:gridCol w="868680"/>
                <a:gridCol w="1097280"/>
                <a:gridCol w="1234440"/>
                <a:gridCol w="1417320"/>
                <a:gridCol w="960120"/>
              </a:tblGrid>
              <a:tr h="365760">
                <a:tc>
                  <a:txBody>
                    <a:bodyPr wrap="square" lIns="36576" rIns="36576" tIns="36576" bIns="36576" anchor="ctr">
                      <a:noAutofit/>
                    </a:bodyPr>
                    <a:lstStyle/>
                    <a:p>
                      <a:pPr algn="l">
                        <a:spcAft>
                          <a:spcPts val="0"/>
                        </a:spcAft>
                      </a:pPr>
                      <a:r>
                        <a:rPr sz="1100" b="1" i="0" lang="en-US">
                          <a:solidFill>
                            <a:srgbClr val="B57BFF"/>
                          </a:solidFill>
                          <a:latin typeface="Consolas"/>
                        </a:rPr>
                        <a:t>key</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n-US">
                          <a:solidFill>
                            <a:srgbClr val="B57BFF"/>
                          </a:solidFill>
                          <a:latin typeface="Consolas"/>
                        </a:rPr>
                        <a:t>work</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n-US">
                          <a:solidFill>
                            <a:srgbClr val="B57BFF"/>
                          </a:solidFill>
                          <a:latin typeface="Consolas"/>
                        </a:rPr>
                        <a:t>amount</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n-US">
                          <a:solidFill>
                            <a:srgbClr val="B57BFF"/>
                          </a:solidFill>
                          <a:latin typeface="Consolas"/>
                        </a:rPr>
                        <a:t>effective_date</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n-US">
                          <a:solidFill>
                            <a:srgbClr val="B57BFF"/>
                          </a:solidFill>
                          <a:latin typeface="Consolas"/>
                        </a:rPr>
                        <a:t>expiration_date</a:t>
                      </a:r>
                    </a:p>
                  </a:txBody>
                  <a:tcPr marL="73152" marR="73152" anchor="ctr">
                    <a:solidFill>
                      <a:srgbClr val="3A2A5E"/>
                    </a:solidFill>
                  </a:tcPr>
                </a:tc>
                <a:tc>
                  <a:txBody>
                    <a:bodyPr wrap="square" lIns="36576" rIns="36576" tIns="36576" bIns="36576" anchor="ctr">
                      <a:noAutofit/>
                    </a:bodyPr>
                    <a:lstStyle/>
                    <a:p>
                      <a:pPr algn="l">
                        <a:spcAft>
                          <a:spcPts val="0"/>
                        </a:spcAft>
                      </a:pPr>
                      <a:r>
                        <a:rPr sz="1100" b="1" i="0" lang="en-US">
                          <a:solidFill>
                            <a:srgbClr val="B57BFF"/>
                          </a:solidFill>
                          <a:latin typeface="Consolas"/>
                        </a:rPr>
                        <a:t>is_current</a:t>
                      </a:r>
                    </a:p>
                  </a:txBody>
                  <a:tcPr marL="73152" marR="73152" anchor="ctr">
                    <a:solidFill>
                      <a:srgbClr val="3A2A5E"/>
                    </a:solidFill>
                  </a:tcPr>
                </a:tc>
              </a:tr>
              <a:tr h="365760">
                <a:tc>
                  <a:txBody>
                    <a:bodyPr wrap="square" lIns="36576" rIns="36576" tIns="36576" bIns="36576" anchor="ctr">
                      <a:noAutofit/>
                    </a:bodyPr>
                    <a:lstStyle/>
                    <a:p>
                      <a:pPr algn="l">
                        <a:spcAft>
                          <a:spcPts val="0"/>
                        </a:spcAft>
                      </a:pPr>
                      <a:r>
                        <a:rPr sz="1100" b="0" i="0" lang="en-US">
                          <a:solidFill>
                            <a:srgbClr val="FFFFFF"/>
                          </a:solidFill>
                          <a:latin typeface="Consolas"/>
                        </a:rPr>
                        <a:t>101</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n-US">
                          <a:solidFill>
                            <a:srgbClr val="FFFFFF"/>
                          </a:solidFill>
                          <a:latin typeface="Consolas"/>
                        </a:rPr>
                        <a:t>OBR-001</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n-US">
                          <a:solidFill>
                            <a:srgbClr val="FFFFFF"/>
                          </a:solidFill>
                          <a:latin typeface="Consolas"/>
                        </a:rPr>
                        <a:t>$4,250,000</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n-US">
                          <a:solidFill>
                            <a:srgbClr val="FFFFFF"/>
                          </a:solidFill>
                          <a:latin typeface="Consolas"/>
                        </a:rPr>
                        <a:t>2025-02-03</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n-US">
                          <a:solidFill>
                            <a:srgbClr val="FFFFFF"/>
                          </a:solidFill>
                          <a:latin typeface="Consolas"/>
                        </a:rPr>
                        <a:t>2025-06-14</a:t>
                      </a:r>
                    </a:p>
                  </a:txBody>
                  <a:tcPr marL="73152" marR="73152" anchor="ctr">
                    <a:solidFill>
                      <a:srgbClr val="2B2344"/>
                    </a:solidFill>
                  </a:tcPr>
                </a:tc>
                <a:tc>
                  <a:txBody>
                    <a:bodyPr wrap="square" lIns="36576" rIns="36576" tIns="36576" bIns="36576" anchor="ctr">
                      <a:noAutofit/>
                    </a:bodyPr>
                    <a:lstStyle/>
                    <a:p>
                      <a:pPr algn="l">
                        <a:spcAft>
                          <a:spcPts val="0"/>
                        </a:spcAft>
                      </a:pPr>
                      <a:r>
                        <a:rPr sz="1100" b="0" i="0" lang="en-US">
                          <a:solidFill>
                            <a:srgbClr val="F87171"/>
                          </a:solidFill>
                          <a:latin typeface="Consolas"/>
                        </a:rPr>
                        <a:t>false</a:t>
                      </a:r>
                    </a:p>
                  </a:txBody>
                  <a:tcPr marL="73152" marR="73152" anchor="ctr">
                    <a:solidFill>
                      <a:srgbClr val="2B2344"/>
                    </a:solidFill>
                  </a:tcPr>
                </a:tc>
              </a:tr>
              <a:tr h="365760">
                <a:tc>
                  <a:txBody>
                    <a:bodyPr wrap="square" lIns="36576" rIns="36576" tIns="36576" bIns="36576" anchor="ctr">
                      <a:noAutofit/>
                    </a:bodyPr>
                    <a:lstStyle/>
                    <a:p>
                      <a:pPr algn="l">
                        <a:spcAft>
                          <a:spcPts val="0"/>
                        </a:spcAft>
                      </a:pPr>
                      <a:r>
                        <a:rPr sz="1100" b="0" i="0" lang="en-US">
                          <a:solidFill>
                            <a:srgbClr val="FFFFFF"/>
                          </a:solidFill>
                          <a:latin typeface="Consolas"/>
                        </a:rPr>
                        <a:t>187</a:t>
                      </a:r>
                    </a:p>
                  </a:txBody>
                  <a:tcPr marL="73152" marR="73152" anchor="ctr">
                    <a:solidFill>
                      <a:srgbClr val="32285A"/>
                    </a:solidFill>
                  </a:tcPr>
                </a:tc>
                <a:tc>
                  <a:txBody>
                    <a:bodyPr wrap="square" lIns="36576" rIns="36576" tIns="36576" bIns="36576" anchor="ctr">
                      <a:noAutofit/>
                    </a:bodyPr>
                    <a:lstStyle/>
                    <a:p>
                      <a:pPr algn="l">
                        <a:spcAft>
                          <a:spcPts val="0"/>
                        </a:spcAft>
                      </a:pPr>
                      <a:r>
                        <a:rPr sz="1100" b="0" i="0" lang="en-US">
                          <a:solidFill>
                            <a:srgbClr val="FFFFFF"/>
                          </a:solidFill>
                          <a:latin typeface="Consolas"/>
                        </a:rPr>
                        <a:t>OBR-001</a:t>
                      </a:r>
                    </a:p>
                  </a:txBody>
                  <a:tcPr marL="73152" marR="73152" anchor="ctr">
                    <a:solidFill>
                      <a:srgbClr val="32285A"/>
                    </a:solidFill>
                  </a:tcPr>
                </a:tc>
                <a:tc>
                  <a:txBody>
                    <a:bodyPr wrap="square" lIns="36576" rIns="36576" tIns="36576" bIns="36576" anchor="ctr">
                      <a:noAutofit/>
                    </a:bodyPr>
                    <a:lstStyle/>
                    <a:p>
                      <a:pPr algn="l">
                        <a:spcAft>
                          <a:spcPts val="0"/>
                        </a:spcAft>
                      </a:pPr>
                      <a:r>
                        <a:rPr sz="1100" b="0" i="0" lang="en-US">
                          <a:solidFill>
                            <a:srgbClr val="FFFFFF"/>
                          </a:solidFill>
                          <a:latin typeface="Consolas"/>
                        </a:rPr>
                        <a:t>$4,600,000</a:t>
                      </a:r>
                    </a:p>
                  </a:txBody>
                  <a:tcPr marL="73152" marR="73152" anchor="ctr">
                    <a:solidFill>
                      <a:srgbClr val="32285A"/>
                    </a:solidFill>
                  </a:tcPr>
                </a:tc>
                <a:tc>
                  <a:txBody>
                    <a:bodyPr wrap="square" lIns="36576" rIns="36576" tIns="36576" bIns="36576" anchor="ctr">
                      <a:noAutofit/>
                    </a:bodyPr>
                    <a:lstStyle/>
                    <a:p>
                      <a:pPr algn="l">
                        <a:spcAft>
                          <a:spcPts val="0"/>
                        </a:spcAft>
                      </a:pPr>
                      <a:r>
                        <a:rPr sz="1100" b="0" i="0" lang="en-US">
                          <a:solidFill>
                            <a:srgbClr val="FFFFFF"/>
                          </a:solidFill>
                          <a:latin typeface="Consolas"/>
                        </a:rPr>
                        <a:t>2025-06-15</a:t>
                      </a:r>
                    </a:p>
                  </a:txBody>
                  <a:tcPr marL="73152" marR="73152" anchor="ctr">
                    <a:solidFill>
                      <a:srgbClr val="32285A"/>
                    </a:solidFill>
                  </a:tcPr>
                </a:tc>
                <a:tc>
                  <a:txBody>
                    <a:bodyPr wrap="square" lIns="36576" rIns="36576" tIns="36576" bIns="36576" anchor="ctr">
                      <a:noAutofit/>
                    </a:bodyPr>
                    <a:lstStyle/>
                    <a:p>
                      <a:pPr algn="l">
                        <a:spcAft>
                          <a:spcPts val="0"/>
                        </a:spcAft>
                      </a:pPr>
                      <a:r>
                        <a:rPr sz="1100" b="0" i="0" lang="en-US">
                          <a:solidFill>
                            <a:srgbClr val="FFFFFF"/>
                          </a:solidFill>
                          <a:latin typeface="Consolas"/>
                        </a:rPr>
                        <a:t>9999-12-31</a:t>
                      </a:r>
                    </a:p>
                  </a:txBody>
                  <a:tcPr marL="73152" marR="73152" anchor="ctr">
                    <a:solidFill>
                      <a:srgbClr val="32285A"/>
                    </a:solidFill>
                  </a:tcPr>
                </a:tc>
                <a:tc>
                  <a:txBody>
                    <a:bodyPr wrap="square" lIns="36576" rIns="36576" tIns="36576" bIns="36576" anchor="ctr">
                      <a:noAutofit/>
                    </a:bodyPr>
                    <a:lstStyle/>
                    <a:p>
                      <a:pPr algn="l">
                        <a:spcAft>
                          <a:spcPts val="0"/>
                        </a:spcAft>
                      </a:pPr>
                      <a:r>
                        <a:rPr sz="1100" b="1" i="0" lang="en-US">
                          <a:solidFill>
                            <a:srgbClr val="34D399"/>
                          </a:solidFill>
                          <a:latin typeface="Consolas"/>
                        </a:rPr>
                        <a:t>true</a:t>
                      </a:r>
                    </a:p>
                  </a:txBody>
                  <a:tcPr marL="73152" marR="73152" anchor="ctr">
                    <a:solidFill>
                      <a:srgbClr val="32285A"/>
                    </a:solidFill>
                  </a:tcPr>
                </a:tc>
              </a:tr>
            </a:tbl>
          </a:graphicData>
        </a:graphic>
      </p:graphicFrame>
      <p:sp>
        <p:nvSpPr>
          <p:cNvPr id="7" name="TextBox 6"/>
          <p:cNvSpPr txBox="1"/>
          <p:nvPr/>
        </p:nvSpPr>
        <p:spPr>
          <a:xfrm>
            <a:off x="548640" y="3785615"/>
            <a:ext cx="6126480" cy="274320"/>
          </a:xfrm>
          <a:prstGeom prst="rect">
            <a:avLst/>
          </a:prstGeom>
          <a:noFill/>
        </p:spPr>
        <p:txBody>
          <a:bodyPr wrap="square" lIns="0" rIns="0" tIns="0" bIns="0" anchor="t">
            <a:noAutofit/>
          </a:bodyPr>
          <a:lstStyle/>
          <a:p>
            <a:pPr algn="l">
              <a:spcAft>
                <a:spcPts val="0"/>
              </a:spcAft>
            </a:pPr>
            <a:r>
              <a:rPr sz="950" b="0" i="0" lang="en-US">
                <a:solidFill>
                  <a:srgbClr val="8E84AB"/>
                </a:solidFill>
                <a:latin typeface="Calibri"/>
              </a:rPr>
              <a:t>dim_budget · illustrative values</a:t>
            </a:r>
          </a:p>
        </p:txBody>
      </p:sp>
      <p:cxnSp>
        <p:nvCxnSpPr>
          <p:cNvPr id="8" name="Connector 7"/>
          <p:cNvCxnSpPr/>
          <p:nvPr/>
        </p:nvCxnSpPr>
        <p:spPr>
          <a:xfrm>
            <a:off x="822960" y="5285232"/>
            <a:ext cx="5760719" cy="0"/>
          </a:xfrm>
          <a:prstGeom prst="line">
            <a:avLst/>
          </a:prstGeom>
          <a:ln w="12700">
            <a:solidFill>
              <a:srgbClr val="ADA3C8">
                <a:alpha val="70000"/>
              </a:srgbClr>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70007" y="4956048"/>
            <a:ext cx="3081641" cy="237744"/>
          </a:xfrm>
          <a:prstGeom prst="roundRect">
            <a:avLst>
              <a:gd name="adj" fmla="val 19230"/>
            </a:avLst>
          </a:prstGeom>
          <a:solidFill>
            <a:srgbClr val="B57BFF">
              <a:alpha val="35000"/>
            </a:srgbClr>
          </a:solidFill>
          <a:ln w="9525">
            <a:solidFill>
              <a:srgbClr val="B57B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975173" y="4956048"/>
            <a:ext cx="2517066" cy="237744"/>
          </a:xfrm>
          <a:prstGeom prst="roundRect">
            <a:avLst>
              <a:gd name="adj" fmla="val 19230"/>
            </a:avLst>
          </a:prstGeom>
          <a:solidFill>
            <a:srgbClr val="B57B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0007" y="4956048"/>
            <a:ext cx="3081641" cy="237744"/>
          </a:xfrm>
          <a:prstGeom prst="rect">
            <a:avLst/>
          </a:prstGeom>
          <a:noFill/>
        </p:spPr>
        <p:txBody>
          <a:bodyPr wrap="square" lIns="0" rIns="0" tIns="0" bIns="0" anchor="ctr">
            <a:noAutofit/>
          </a:bodyPr>
          <a:lstStyle/>
          <a:p>
            <a:pPr algn="ctr">
              <a:spcAft>
                <a:spcPts val="0"/>
              </a:spcAft>
            </a:pPr>
            <a:r>
              <a:rPr sz="1000" b="1" i="0" lang="en-US">
                <a:solidFill>
                  <a:srgbClr val="FFFFFF"/>
                </a:solidFill>
                <a:latin typeface="Calibri"/>
              </a:rPr>
              <a:t>v1 · $4.25 M</a:t>
            </a:r>
          </a:p>
        </p:txBody>
      </p:sp>
      <p:sp>
        <p:nvSpPr>
          <p:cNvPr id="12" name="TextBox 11"/>
          <p:cNvSpPr txBox="1"/>
          <p:nvPr/>
        </p:nvSpPr>
        <p:spPr>
          <a:xfrm>
            <a:off x="3975173" y="4956048"/>
            <a:ext cx="2517066" cy="237744"/>
          </a:xfrm>
          <a:prstGeom prst="rect">
            <a:avLst/>
          </a:prstGeom>
          <a:noFill/>
        </p:spPr>
        <p:txBody>
          <a:bodyPr wrap="square" lIns="0" rIns="0" tIns="0" bIns="0" anchor="ctr">
            <a:noAutofit/>
          </a:bodyPr>
          <a:lstStyle/>
          <a:p>
            <a:pPr algn="ctr">
              <a:spcAft>
                <a:spcPts val="0"/>
              </a:spcAft>
            </a:pPr>
            <a:r>
              <a:rPr sz="1000" b="1" i="0" lang="en-US">
                <a:solidFill>
                  <a:srgbClr val="1B1530"/>
                </a:solidFill>
                <a:latin typeface="Calibri"/>
              </a:rPr>
              <a:t>v2 · $4.60 M (current)</a:t>
            </a:r>
          </a:p>
        </p:txBody>
      </p:sp>
      <p:cxnSp>
        <p:nvCxnSpPr>
          <p:cNvPr id="13" name="Connector 12"/>
          <p:cNvCxnSpPr/>
          <p:nvPr/>
        </p:nvCxnSpPr>
        <p:spPr>
          <a:xfrm>
            <a:off x="822960"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5358384"/>
            <a:ext cx="548640" cy="228600"/>
          </a:xfrm>
          <a:prstGeom prst="rect">
            <a:avLst/>
          </a:prstGeom>
          <a:noFill/>
        </p:spPr>
        <p:txBody>
          <a:bodyPr wrap="square" lIns="0" rIns="0" tIns="0" bIns="0" anchor="t">
            <a:noAutofit/>
          </a:bodyPr>
          <a:lstStyle/>
          <a:p>
            <a:pPr algn="ctr">
              <a:spcAft>
                <a:spcPts val="0"/>
              </a:spcAft>
            </a:pPr>
            <a:r>
              <a:rPr sz="950" b="0" i="0" lang="en-US">
                <a:solidFill>
                  <a:srgbClr val="ADA3C8"/>
                </a:solidFill>
                <a:latin typeface="Calibri"/>
              </a:rPr>
              <a:t>Feb</a:t>
            </a:r>
          </a:p>
        </p:txBody>
      </p:sp>
      <p:cxnSp>
        <p:nvCxnSpPr>
          <p:cNvPr id="15" name="Connector 14"/>
          <p:cNvCxnSpPr/>
          <p:nvPr/>
        </p:nvCxnSpPr>
        <p:spPr>
          <a:xfrm>
            <a:off x="1481631"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07311" y="5358384"/>
            <a:ext cx="548640" cy="228600"/>
          </a:xfrm>
          <a:prstGeom prst="rect">
            <a:avLst/>
          </a:prstGeom>
          <a:noFill/>
        </p:spPr>
        <p:txBody>
          <a:bodyPr wrap="square" lIns="0" rIns="0" tIns="0" bIns="0" anchor="t">
            <a:noAutofit/>
          </a:bodyPr>
          <a:lstStyle/>
          <a:p>
            <a:pPr algn="ctr">
              <a:spcAft>
                <a:spcPts val="0"/>
              </a:spcAft>
            </a:pPr>
            <a:r>
              <a:rPr sz="950" b="0" i="0" lang="en-US">
                <a:solidFill>
                  <a:srgbClr val="ADA3C8"/>
                </a:solidFill>
                <a:latin typeface="Calibri"/>
              </a:rPr>
              <a:t>Mar</a:t>
            </a:r>
          </a:p>
        </p:txBody>
      </p:sp>
      <p:cxnSp>
        <p:nvCxnSpPr>
          <p:cNvPr id="17" name="Connector 16"/>
          <p:cNvCxnSpPr/>
          <p:nvPr/>
        </p:nvCxnSpPr>
        <p:spPr>
          <a:xfrm>
            <a:off x="2210875"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936555" y="5358384"/>
            <a:ext cx="548640" cy="228600"/>
          </a:xfrm>
          <a:prstGeom prst="rect">
            <a:avLst/>
          </a:prstGeom>
          <a:noFill/>
        </p:spPr>
        <p:txBody>
          <a:bodyPr wrap="square" lIns="0" rIns="0" tIns="0" bIns="0" anchor="t">
            <a:noAutofit/>
          </a:bodyPr>
          <a:lstStyle/>
          <a:p>
            <a:pPr algn="ctr">
              <a:spcAft>
                <a:spcPts val="0"/>
              </a:spcAft>
            </a:pPr>
            <a:r>
              <a:rPr sz="950" b="0" i="0" lang="en-US">
                <a:solidFill>
                  <a:srgbClr val="ADA3C8"/>
                </a:solidFill>
                <a:latin typeface="Calibri"/>
              </a:rPr>
              <a:t>Apr</a:t>
            </a:r>
          </a:p>
        </p:txBody>
      </p:sp>
      <p:cxnSp>
        <p:nvCxnSpPr>
          <p:cNvPr id="19" name="Connector 18"/>
          <p:cNvCxnSpPr/>
          <p:nvPr/>
        </p:nvCxnSpPr>
        <p:spPr>
          <a:xfrm>
            <a:off x="2916594"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642274" y="5358384"/>
            <a:ext cx="548640" cy="228600"/>
          </a:xfrm>
          <a:prstGeom prst="rect">
            <a:avLst/>
          </a:prstGeom>
          <a:noFill/>
        </p:spPr>
        <p:txBody>
          <a:bodyPr wrap="square" lIns="0" rIns="0" tIns="0" bIns="0" anchor="t">
            <a:noAutofit/>
          </a:bodyPr>
          <a:lstStyle/>
          <a:p>
            <a:pPr algn="ctr">
              <a:spcAft>
                <a:spcPts val="0"/>
              </a:spcAft>
            </a:pPr>
            <a:r>
              <a:rPr sz="950" b="0" i="0" lang="en-US">
                <a:solidFill>
                  <a:srgbClr val="ADA3C8"/>
                </a:solidFill>
                <a:latin typeface="Calibri"/>
              </a:rPr>
              <a:t>May</a:t>
            </a:r>
          </a:p>
        </p:txBody>
      </p:sp>
      <p:cxnSp>
        <p:nvCxnSpPr>
          <p:cNvPr id="21" name="Connector 20"/>
          <p:cNvCxnSpPr/>
          <p:nvPr/>
        </p:nvCxnSpPr>
        <p:spPr>
          <a:xfrm>
            <a:off x="3645838"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371518" y="5358384"/>
            <a:ext cx="548640" cy="228600"/>
          </a:xfrm>
          <a:prstGeom prst="rect">
            <a:avLst/>
          </a:prstGeom>
          <a:noFill/>
        </p:spPr>
        <p:txBody>
          <a:bodyPr wrap="square" lIns="0" rIns="0" tIns="0" bIns="0" anchor="t">
            <a:noAutofit/>
          </a:bodyPr>
          <a:lstStyle/>
          <a:p>
            <a:pPr algn="ctr">
              <a:spcAft>
                <a:spcPts val="0"/>
              </a:spcAft>
            </a:pPr>
            <a:r>
              <a:rPr sz="950" b="0" i="0" lang="en-US">
                <a:solidFill>
                  <a:srgbClr val="ADA3C8"/>
                </a:solidFill>
                <a:latin typeface="Calibri"/>
              </a:rPr>
              <a:t>Jun</a:t>
            </a:r>
          </a:p>
        </p:txBody>
      </p:sp>
      <p:cxnSp>
        <p:nvCxnSpPr>
          <p:cNvPr id="23" name="Connector 22"/>
          <p:cNvCxnSpPr/>
          <p:nvPr/>
        </p:nvCxnSpPr>
        <p:spPr>
          <a:xfrm>
            <a:off x="4351557"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077237" y="5358384"/>
            <a:ext cx="548640" cy="228600"/>
          </a:xfrm>
          <a:prstGeom prst="rect">
            <a:avLst/>
          </a:prstGeom>
          <a:noFill/>
        </p:spPr>
        <p:txBody>
          <a:bodyPr wrap="square" lIns="0" rIns="0" tIns="0" bIns="0" anchor="t">
            <a:noAutofit/>
          </a:bodyPr>
          <a:lstStyle/>
          <a:p>
            <a:pPr algn="ctr">
              <a:spcAft>
                <a:spcPts val="0"/>
              </a:spcAft>
            </a:pPr>
            <a:r>
              <a:rPr sz="950" b="0" i="0" lang="en-US">
                <a:solidFill>
                  <a:srgbClr val="ADA3C8"/>
                </a:solidFill>
                <a:latin typeface="Calibri"/>
              </a:rPr>
              <a:t>Jul</a:t>
            </a:r>
          </a:p>
        </p:txBody>
      </p:sp>
      <p:cxnSp>
        <p:nvCxnSpPr>
          <p:cNvPr id="25" name="Connector 24"/>
          <p:cNvCxnSpPr/>
          <p:nvPr/>
        </p:nvCxnSpPr>
        <p:spPr>
          <a:xfrm>
            <a:off x="5080800"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806480" y="5358384"/>
            <a:ext cx="548640" cy="228600"/>
          </a:xfrm>
          <a:prstGeom prst="rect">
            <a:avLst/>
          </a:prstGeom>
          <a:noFill/>
        </p:spPr>
        <p:txBody>
          <a:bodyPr wrap="square" lIns="0" rIns="0" tIns="0" bIns="0" anchor="t">
            <a:noAutofit/>
          </a:bodyPr>
          <a:lstStyle/>
          <a:p>
            <a:pPr algn="ctr">
              <a:spcAft>
                <a:spcPts val="0"/>
              </a:spcAft>
            </a:pPr>
            <a:r>
              <a:rPr sz="950" b="0" i="0" lang="en-US">
                <a:solidFill>
                  <a:srgbClr val="ADA3C8"/>
                </a:solidFill>
                <a:latin typeface="Calibri"/>
              </a:rPr>
              <a:t>Aug</a:t>
            </a:r>
          </a:p>
        </p:txBody>
      </p:sp>
      <p:cxnSp>
        <p:nvCxnSpPr>
          <p:cNvPr id="27" name="Connector 26"/>
          <p:cNvCxnSpPr/>
          <p:nvPr/>
        </p:nvCxnSpPr>
        <p:spPr>
          <a:xfrm>
            <a:off x="5810044" y="5248656"/>
            <a:ext cx="0" cy="91440"/>
          </a:xfrm>
          <a:prstGeom prst="line">
            <a:avLst/>
          </a:prstGeom>
          <a:ln w="12700">
            <a:solidFill>
              <a:srgbClr val="ADA3C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535724" y="5358384"/>
            <a:ext cx="548640" cy="228600"/>
          </a:xfrm>
          <a:prstGeom prst="rect">
            <a:avLst/>
          </a:prstGeom>
          <a:noFill/>
        </p:spPr>
        <p:txBody>
          <a:bodyPr wrap="square" lIns="0" rIns="0" tIns="0" bIns="0" anchor="t">
            <a:noAutofit/>
          </a:bodyPr>
          <a:lstStyle/>
          <a:p>
            <a:pPr algn="ctr">
              <a:spcAft>
                <a:spcPts val="0"/>
              </a:spcAft>
            </a:pPr>
            <a:r>
              <a:rPr sz="950" b="0" i="0" lang="en-US">
                <a:solidFill>
                  <a:srgbClr val="ADA3C8"/>
                </a:solidFill>
                <a:latin typeface="Calibri"/>
              </a:rPr>
              <a:t>Sep</a:t>
            </a:r>
          </a:p>
        </p:txBody>
      </p:sp>
      <p:sp>
        <p:nvSpPr>
          <p:cNvPr id="29" name="TextBox 28"/>
          <p:cNvSpPr txBox="1"/>
          <p:nvPr/>
        </p:nvSpPr>
        <p:spPr>
          <a:xfrm>
            <a:off x="5943600" y="5559552"/>
            <a:ext cx="731520" cy="228600"/>
          </a:xfrm>
          <a:prstGeom prst="rect">
            <a:avLst/>
          </a:prstGeom>
          <a:noFill/>
        </p:spPr>
        <p:txBody>
          <a:bodyPr wrap="square" lIns="0" rIns="0" tIns="0" bIns="0" anchor="t">
            <a:noAutofit/>
          </a:bodyPr>
          <a:lstStyle/>
          <a:p>
            <a:pPr algn="r">
              <a:spcAft>
                <a:spcPts val="0"/>
              </a:spcAft>
            </a:pPr>
            <a:r>
              <a:rPr sz="950" b="0" i="0" lang="en-US">
                <a:solidFill>
                  <a:srgbClr val="8E84AB"/>
                </a:solidFill>
                <a:latin typeface="Calibri"/>
              </a:rPr>
              <a:t>2025</a:t>
            </a:r>
          </a:p>
        </p:txBody>
      </p:sp>
      <p:sp>
        <p:nvSpPr>
          <p:cNvPr id="30" name="Diamond 29"/>
          <p:cNvSpPr/>
          <p:nvPr/>
        </p:nvSpPr>
        <p:spPr>
          <a:xfrm>
            <a:off x="3262966" y="4489704"/>
            <a:ext cx="201168" cy="201168"/>
          </a:xfrm>
          <a:prstGeom prst="diamond">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a:off x="3363550" y="4690872"/>
            <a:ext cx="0" cy="246888"/>
          </a:xfrm>
          <a:prstGeom prst="line">
            <a:avLst/>
          </a:prstGeom>
          <a:ln w="15875">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2960" y="4187952"/>
            <a:ext cx="4232230" cy="274320"/>
          </a:xfrm>
          <a:prstGeom prst="rect">
            <a:avLst/>
          </a:prstGeom>
          <a:noFill/>
        </p:spPr>
        <p:txBody>
          <a:bodyPr wrap="square" lIns="0" rIns="0" tIns="0" bIns="0" anchor="t">
            <a:noAutofit/>
          </a:bodyPr>
          <a:lstStyle/>
          <a:p>
            <a:pPr algn="l">
              <a:spcAft>
                <a:spcPts val="0"/>
              </a:spcAft>
            </a:pPr>
            <a:r>
              <a:rPr sz="1100" b="1" i="0" lang="en-US">
                <a:solidFill>
                  <a:srgbClr val="FBBF24"/>
                </a:solidFill>
                <a:latin typeface="Calibri"/>
              </a:rPr>
              <a:t>payment authorised 20 May</a:t>
            </a:r>
            <a:r>
              <a:rPr sz="1100" b="0" i="0" lang="en-US">
                <a:solidFill>
                  <a:srgbClr val="DDD6EE"/>
                </a:solidFill>
                <a:latin typeface="Calibri"/>
              </a:rPr>
              <a:t>  → joins v1 ($4.25 M)</a:t>
            </a:r>
          </a:p>
        </p:txBody>
      </p:sp>
      <p:sp>
        <p:nvSpPr>
          <p:cNvPr id="33" name="TextBox 32"/>
          <p:cNvSpPr txBox="1"/>
          <p:nvPr/>
        </p:nvSpPr>
        <p:spPr>
          <a:xfrm>
            <a:off x="548640" y="5733288"/>
            <a:ext cx="3840480" cy="365760"/>
          </a:xfrm>
          <a:prstGeom prst="rect">
            <a:avLst/>
          </a:prstGeom>
          <a:noFill/>
        </p:spPr>
        <p:txBody>
          <a:bodyPr wrap="square" lIns="0" rIns="0" tIns="0" bIns="0" anchor="t">
            <a:noAutofit/>
          </a:bodyPr>
          <a:lstStyle/>
          <a:p>
            <a:pPr algn="l">
              <a:spcAft>
                <a:spcPts val="0"/>
              </a:spcAft>
            </a:pPr>
            <a:r>
              <a:rPr sz="1050" b="0" i="1" lang="en-US">
                <a:solidFill>
                  <a:srgbClr val="ADA3C8"/>
                </a:solidFill>
                <a:latin typeface="Calibri"/>
              </a:rPr>
              <a:t>Closing v1 and opening v2 is a trigger, not an application rule.</a:t>
            </a:r>
          </a:p>
        </p:txBody>
      </p:sp>
      <p:sp>
        <p:nvSpPr>
          <p:cNvPr id="34" name="TextBox 33"/>
          <p:cNvSpPr txBox="1"/>
          <p:nvPr/>
        </p:nvSpPr>
        <p:spPr>
          <a:xfrm>
            <a:off x="7178040" y="1783080"/>
            <a:ext cx="4480560" cy="320040"/>
          </a:xfrm>
          <a:prstGeom prst="rect">
            <a:avLst/>
          </a:prstGeom>
          <a:noFill/>
        </p:spPr>
        <p:txBody>
          <a:bodyPr wrap="square" lIns="0" rIns="0" tIns="0" bIns="0" anchor="t">
            <a:noAutofit/>
          </a:bodyPr>
          <a:lstStyle/>
          <a:p>
            <a:pPr algn="l">
              <a:spcAft>
                <a:spcPts val="0"/>
              </a:spcAft>
            </a:pPr>
            <a:r>
              <a:rPr sz="1400" b="1" i="0" lang="en-US">
                <a:solidFill>
                  <a:srgbClr val="D9C5FF"/>
                </a:solidFill>
                <a:latin typeface="Calibri"/>
              </a:rPr>
              <a:t>Why Type 2 for five entities</a:t>
            </a:r>
          </a:p>
        </p:txBody>
      </p:sp>
      <p:sp>
        <p:nvSpPr>
          <p:cNvPr id="35" name="Oval 34"/>
          <p:cNvSpPr/>
          <p:nvPr/>
        </p:nvSpPr>
        <p:spPr>
          <a:xfrm>
            <a:off x="7196328" y="225856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banknote.png"/>
          <p:cNvPicPr>
            <a:picLocks noChangeAspect="1"/>
          </p:cNvPicPr>
          <p:nvPr/>
        </p:nvPicPr>
        <p:blipFill>
          <a:blip r:embed="rId2"/>
          <a:stretch>
            <a:fillRect/>
          </a:stretch>
        </p:blipFill>
        <p:spPr>
          <a:xfrm>
            <a:off x="7328001" y="2390241"/>
            <a:ext cx="285292" cy="285292"/>
          </a:xfrm>
          <a:prstGeom prst="rect">
            <a:avLst/>
          </a:prstGeom>
        </p:spPr>
      </p:pic>
      <p:sp>
        <p:nvSpPr>
          <p:cNvPr id="37" name="TextBox 36"/>
          <p:cNvSpPr txBox="1"/>
          <p:nvPr/>
        </p:nvSpPr>
        <p:spPr>
          <a:xfrm>
            <a:off x="7909560" y="2240280"/>
            <a:ext cx="3749039" cy="731520"/>
          </a:xfrm>
          <a:prstGeom prst="rect">
            <a:avLst/>
          </a:prstGeom>
          <a:noFill/>
        </p:spPr>
        <p:txBody>
          <a:bodyPr wrap="square" lIns="0" rIns="0" tIns="0" bIns="0" anchor="ctr">
            <a:noAutofit/>
          </a:bodyPr>
          <a:lstStyle/>
          <a:p>
            <a:pPr algn="l">
              <a:spcAft>
                <a:spcPts val="100"/>
              </a:spcAft>
            </a:pPr>
            <a:r>
              <a:rPr sz="1250" b="1" i="0" lang="en-US">
                <a:solidFill>
                  <a:srgbClr val="FFFFFF"/>
                </a:solidFill>
                <a:latin typeface="Calibri"/>
              </a:rPr>
              <a:t>Budget-modification audit</a:t>
            </a:r>
          </a:p>
          <a:p>
            <a:pPr algn="l">
              <a:spcAft>
                <a:spcPts val="0"/>
              </a:spcAft>
            </a:pPr>
            <a:r>
              <a:rPr sz="1100" b="0" i="0" lang="en-US">
                <a:solidFill>
                  <a:srgbClr val="DDD6EE"/>
                </a:solidFill>
                <a:latin typeface="Calibri"/>
              </a:rPr>
              <a:t>which amount was in force when a payment was authorised</a:t>
            </a:r>
          </a:p>
        </p:txBody>
      </p:sp>
      <p:sp>
        <p:nvSpPr>
          <p:cNvPr id="38" name="Oval 37"/>
          <p:cNvSpPr/>
          <p:nvPr/>
        </p:nvSpPr>
        <p:spPr>
          <a:xfrm>
            <a:off x="7196328" y="308152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rdhat.png"/>
          <p:cNvPicPr>
            <a:picLocks noChangeAspect="1"/>
          </p:cNvPicPr>
          <p:nvPr/>
        </p:nvPicPr>
        <p:blipFill>
          <a:blip r:embed="rId3"/>
          <a:stretch>
            <a:fillRect/>
          </a:stretch>
        </p:blipFill>
        <p:spPr>
          <a:xfrm>
            <a:off x="7328001" y="3213201"/>
            <a:ext cx="285292" cy="285292"/>
          </a:xfrm>
          <a:prstGeom prst="rect">
            <a:avLst/>
          </a:prstGeom>
        </p:spPr>
      </p:pic>
      <p:sp>
        <p:nvSpPr>
          <p:cNvPr id="40" name="TextBox 39"/>
          <p:cNvSpPr txBox="1"/>
          <p:nvPr/>
        </p:nvSpPr>
        <p:spPr>
          <a:xfrm>
            <a:off x="7909560" y="3063240"/>
            <a:ext cx="3749039" cy="731520"/>
          </a:xfrm>
          <a:prstGeom prst="rect">
            <a:avLst/>
          </a:prstGeom>
          <a:noFill/>
        </p:spPr>
        <p:txBody>
          <a:bodyPr wrap="square" lIns="0" rIns="0" tIns="0" bIns="0" anchor="ctr">
            <a:noAutofit/>
          </a:bodyPr>
          <a:lstStyle/>
          <a:p>
            <a:pPr algn="l">
              <a:spcAft>
                <a:spcPts val="100"/>
              </a:spcAft>
            </a:pPr>
            <a:r>
              <a:rPr sz="1250" b="1" i="0" lang="en-US">
                <a:solidFill>
                  <a:srgbClr val="FFFFFF"/>
                </a:solidFill>
                <a:latin typeface="Calibri"/>
              </a:rPr>
              <a:t>Contractor reassignment</a:t>
            </a:r>
          </a:p>
          <a:p>
            <a:pPr algn="l">
              <a:spcAft>
                <a:spcPts val="0"/>
              </a:spcAft>
            </a:pPr>
            <a:r>
              <a:rPr sz="1100" b="0" i="0" lang="en-US">
                <a:solidFill>
                  <a:srgbClr val="DDD6EE"/>
                </a:solidFill>
                <a:latin typeface="Calibri"/>
              </a:rPr>
              <a:t>earlier progress stays attributed to the original contractor</a:t>
            </a:r>
          </a:p>
        </p:txBody>
      </p:sp>
      <p:sp>
        <p:nvSpPr>
          <p:cNvPr id="41" name="Oval 40"/>
          <p:cNvSpPr/>
          <p:nvPr/>
        </p:nvSpPr>
        <p:spPr>
          <a:xfrm>
            <a:off x="7196328" y="390448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map.png"/>
          <p:cNvPicPr>
            <a:picLocks noChangeAspect="1"/>
          </p:cNvPicPr>
          <p:nvPr/>
        </p:nvPicPr>
        <p:blipFill>
          <a:blip r:embed="rId4"/>
          <a:stretch>
            <a:fillRect/>
          </a:stretch>
        </p:blipFill>
        <p:spPr>
          <a:xfrm>
            <a:off x="7328001" y="4036161"/>
            <a:ext cx="285292" cy="285292"/>
          </a:xfrm>
          <a:prstGeom prst="rect">
            <a:avLst/>
          </a:prstGeom>
        </p:spPr>
      </p:pic>
      <p:sp>
        <p:nvSpPr>
          <p:cNvPr id="43" name="TextBox 42"/>
          <p:cNvSpPr txBox="1"/>
          <p:nvPr/>
        </p:nvSpPr>
        <p:spPr>
          <a:xfrm>
            <a:off x="7909560" y="3886200"/>
            <a:ext cx="3749039" cy="731520"/>
          </a:xfrm>
          <a:prstGeom prst="rect">
            <a:avLst/>
          </a:prstGeom>
          <a:noFill/>
        </p:spPr>
        <p:txBody>
          <a:bodyPr wrap="square" lIns="0" rIns="0" tIns="0" bIns="0" anchor="ctr">
            <a:noAutofit/>
          </a:bodyPr>
          <a:lstStyle/>
          <a:p>
            <a:pPr algn="l">
              <a:spcAft>
                <a:spcPts val="100"/>
              </a:spcAft>
            </a:pPr>
            <a:r>
              <a:rPr sz="1250" b="1" i="0" lang="en-US">
                <a:solidFill>
                  <a:srgbClr val="FFFFFF"/>
                </a:solidFill>
                <a:latin typeface="Calibri"/>
              </a:rPr>
              <a:t>Territorial reorganisation</a:t>
            </a:r>
          </a:p>
          <a:p>
            <a:pPr algn="l">
              <a:spcAft>
                <a:spcPts val="0"/>
              </a:spcAft>
            </a:pPr>
            <a:r>
              <a:rPr sz="1100" b="0" i="0" lang="en-US">
                <a:solidFill>
                  <a:srgbClr val="DDD6EE"/>
                </a:solidFill>
                <a:latin typeface="Calibri"/>
              </a:rPr>
              <a:t>merged or renamed communities do not rewrite investment history</a:t>
            </a:r>
          </a:p>
        </p:txBody>
      </p:sp>
      <p:sp>
        <p:nvSpPr>
          <p:cNvPr id="44" name="Rounded Rectangle 43"/>
          <p:cNvSpPr/>
          <p:nvPr/>
        </p:nvSpPr>
        <p:spPr>
          <a:xfrm>
            <a:off x="7178040" y="4754880"/>
            <a:ext cx="4462272" cy="896112"/>
          </a:xfrm>
          <a:prstGeom prst="roundRect">
            <a:avLst>
              <a:gd name="adj" fmla="val 12244"/>
            </a:avLst>
          </a:prstGeom>
          <a:solidFill>
            <a:srgbClr val="2DD4BF">
              <a:alpha val="8000"/>
            </a:srgbClr>
          </a:solidFill>
          <a:ln w="9525">
            <a:solidFill>
              <a:srgbClr val="2DD4B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7269479" y="4974336"/>
            <a:ext cx="457200" cy="457200"/>
          </a:xfrm>
          <a:prstGeom prst="ellipse">
            <a:avLst/>
          </a:prstGeom>
          <a:solidFill>
            <a:srgbClr val="2DD4BF">
              <a:alpha val="18000"/>
            </a:srgbClr>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shield.png"/>
          <p:cNvPicPr>
            <a:picLocks noChangeAspect="1"/>
          </p:cNvPicPr>
          <p:nvPr/>
        </p:nvPicPr>
        <p:blipFill>
          <a:blip r:embed="rId5"/>
          <a:stretch>
            <a:fillRect/>
          </a:stretch>
        </p:blipFill>
        <p:spPr>
          <a:xfrm>
            <a:off x="7379207" y="5084064"/>
            <a:ext cx="237744" cy="237744"/>
          </a:xfrm>
          <a:prstGeom prst="rect">
            <a:avLst/>
          </a:prstGeom>
        </p:spPr>
      </p:pic>
      <p:sp>
        <p:nvSpPr>
          <p:cNvPr id="47" name="TextBox 46"/>
          <p:cNvSpPr txBox="1"/>
          <p:nvPr/>
        </p:nvSpPr>
        <p:spPr>
          <a:xfrm>
            <a:off x="7863840" y="4773168"/>
            <a:ext cx="3703320" cy="859536"/>
          </a:xfrm>
          <a:prstGeom prst="rect">
            <a:avLst/>
          </a:prstGeom>
          <a:noFill/>
        </p:spPr>
        <p:txBody>
          <a:bodyPr wrap="square" lIns="0" rIns="0" tIns="0" bIns="0" anchor="ctr">
            <a:noAutofit/>
          </a:bodyPr>
          <a:lstStyle/>
          <a:p>
            <a:pPr algn="l">
              <a:spcAft>
                <a:spcPts val="0"/>
              </a:spcAft>
            </a:pPr>
            <a:r>
              <a:rPr sz="1100" b="1" i="0" lang="en-US">
                <a:solidFill>
                  <a:srgbClr val="2DD4BF"/>
                </a:solidFill>
                <a:latin typeface="Calibri"/>
              </a:rPr>
              <a:t>Deliberately Type 1: </a:t>
            </a:r>
            <a:r>
              <a:rPr sz="1100" b="0" i="0" lang="en-US">
                <a:solidFill>
                  <a:srgbClr val="FFFFFF"/>
                </a:solidFill>
                <a:latin typeface="Calibri"/>
              </a:rPr>
              <a:t>citizens and proposals — superseded names and national ID codes would be a personal-data liability.</a:t>
            </a:r>
          </a:p>
        </p:txBody>
      </p:sp>
      <p:sp>
        <p:nvSpPr>
          <p:cNvPr id="48" name="TextBox 47"/>
          <p:cNvSpPr txBox="1"/>
          <p:nvPr/>
        </p:nvSpPr>
        <p:spPr>
          <a:xfrm>
            <a:off x="7178040" y="5742432"/>
            <a:ext cx="4480560" cy="274320"/>
          </a:xfrm>
          <a:prstGeom prst="rect">
            <a:avLst/>
          </a:prstGeom>
          <a:noFill/>
        </p:spPr>
        <p:txBody>
          <a:bodyPr wrap="square" lIns="0" rIns="0" tIns="0" bIns="0" anchor="t">
            <a:noAutofit/>
          </a:bodyPr>
          <a:lstStyle/>
          <a:p>
            <a:pPr algn="l">
              <a:spcAft>
                <a:spcPts val="0"/>
              </a:spcAft>
            </a:pPr>
            <a:r>
              <a:rPr sz="950" b="0" i="0" lang="en-US">
                <a:solidFill>
                  <a:srgbClr val="ADA3C8"/>
                </a:solidFill>
                <a:latin typeface="Consolas"/>
              </a:rPr>
              <a:t>scripts/verificar_scd.py</a:t>
            </a:r>
            <a:r>
              <a:rPr sz="950" b="0" i="0" lang="en-US">
                <a:solidFill>
                  <a:srgbClr val="ADA3C8"/>
                </a:solidFill>
                <a:latin typeface="Calibri"/>
              </a:rPr>
              <a:t> checks the schema against the declared types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No ETL job: triggers feed the warehouse</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PIPELINE</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8 / 19</a:t>
            </a:r>
          </a:p>
        </p:txBody>
      </p:sp>
      <p:sp>
        <p:nvSpPr>
          <p:cNvPr id="5" name="Rounded Rectangle 4"/>
          <p:cNvSpPr/>
          <p:nvPr/>
        </p:nvSpPr>
        <p:spPr>
          <a:xfrm>
            <a:off x="548640" y="1810512"/>
            <a:ext cx="2011680" cy="1463040"/>
          </a:xfrm>
          <a:prstGeom prst="roundRect">
            <a:avLst>
              <a:gd name="adj" fmla="val 7500"/>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98448"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ile.png"/>
          <p:cNvPicPr>
            <a:picLocks noChangeAspect="1"/>
          </p:cNvPicPr>
          <p:nvPr/>
        </p:nvPicPr>
        <p:blipFill>
          <a:blip r:embed="rId2"/>
          <a:stretch>
            <a:fillRect/>
          </a:stretch>
        </p:blipFill>
        <p:spPr>
          <a:xfrm>
            <a:off x="1421343" y="2079711"/>
            <a:ext cx="266273" cy="266273"/>
          </a:xfrm>
          <a:prstGeom prst="rect">
            <a:avLst/>
          </a:prstGeom>
        </p:spPr>
      </p:pic>
      <p:sp>
        <p:nvSpPr>
          <p:cNvPr id="8" name="TextBox 7"/>
          <p:cNvSpPr txBox="1"/>
          <p:nvPr/>
        </p:nvSpPr>
        <p:spPr>
          <a:xfrm>
            <a:off x="640080" y="2542032"/>
            <a:ext cx="1828800" cy="310896"/>
          </a:xfrm>
          <a:prstGeom prst="rect">
            <a:avLst/>
          </a:prstGeom>
          <a:noFill/>
        </p:spPr>
        <p:txBody>
          <a:bodyPr wrap="square" lIns="0" rIns="0" tIns="0" bIns="0" anchor="t">
            <a:noAutofit/>
          </a:bodyPr>
          <a:lstStyle/>
          <a:p>
            <a:pPr algn="ctr">
              <a:spcAft>
                <a:spcPts val="0"/>
              </a:spcAft>
            </a:pPr>
            <a:r>
              <a:rPr sz="1250" b="1" i="0" lang="en-US">
                <a:solidFill>
                  <a:srgbClr val="FFFFFF"/>
                </a:solidFill>
                <a:latin typeface="Calibri"/>
              </a:rPr>
              <a:t>Operational write</a:t>
            </a:r>
          </a:p>
        </p:txBody>
      </p:sp>
      <p:sp>
        <p:nvSpPr>
          <p:cNvPr id="9" name="TextBox 8"/>
          <p:cNvSpPr txBox="1"/>
          <p:nvPr/>
        </p:nvSpPr>
        <p:spPr>
          <a:xfrm>
            <a:off x="658368" y="2834640"/>
            <a:ext cx="1792224" cy="420624"/>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progress report · cost · image · vote</a:t>
            </a:r>
          </a:p>
        </p:txBody>
      </p:sp>
      <p:cxnSp>
        <p:nvCxnSpPr>
          <p:cNvPr id="10" name="Connector 9"/>
          <p:cNvCxnSpPr/>
          <p:nvPr/>
        </p:nvCxnSpPr>
        <p:spPr>
          <a:xfrm>
            <a:off x="2578608" y="2542032"/>
            <a:ext cx="219456"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16352" y="1810512"/>
            <a:ext cx="2011680" cy="1463040"/>
          </a:xfrm>
          <a:prstGeom prst="roundRect">
            <a:avLst>
              <a:gd name="adj" fmla="val 7500"/>
            </a:avLst>
          </a:prstGeom>
          <a:solidFill>
            <a:srgbClr val="B57BFF">
              <a:alpha val="16000"/>
            </a:srgbClr>
          </a:solidFill>
          <a:ln w="9525">
            <a:solidFill>
              <a:srgbClr val="B57BFF">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566159"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zap.png"/>
          <p:cNvPicPr>
            <a:picLocks noChangeAspect="1"/>
          </p:cNvPicPr>
          <p:nvPr/>
        </p:nvPicPr>
        <p:blipFill>
          <a:blip r:embed="rId3"/>
          <a:stretch>
            <a:fillRect/>
          </a:stretch>
        </p:blipFill>
        <p:spPr>
          <a:xfrm>
            <a:off x="3689055" y="2079711"/>
            <a:ext cx="266273" cy="266273"/>
          </a:xfrm>
          <a:prstGeom prst="rect">
            <a:avLst/>
          </a:prstGeom>
        </p:spPr>
      </p:pic>
      <p:sp>
        <p:nvSpPr>
          <p:cNvPr id="14" name="TextBox 13"/>
          <p:cNvSpPr txBox="1"/>
          <p:nvPr/>
        </p:nvSpPr>
        <p:spPr>
          <a:xfrm>
            <a:off x="2907792" y="2542032"/>
            <a:ext cx="1828800" cy="310896"/>
          </a:xfrm>
          <a:prstGeom prst="rect">
            <a:avLst/>
          </a:prstGeom>
          <a:noFill/>
        </p:spPr>
        <p:txBody>
          <a:bodyPr wrap="square" lIns="0" rIns="0" tIns="0" bIns="0" anchor="t">
            <a:noAutofit/>
          </a:bodyPr>
          <a:lstStyle/>
          <a:p>
            <a:pPr algn="ctr">
              <a:spcAft>
                <a:spcPts val="0"/>
              </a:spcAft>
            </a:pPr>
            <a:r>
              <a:rPr sz="1250" b="1" i="0" lang="en-US">
                <a:solidFill>
                  <a:srgbClr val="FFFFFF"/>
                </a:solidFill>
                <a:latin typeface="Calibri"/>
              </a:rPr>
              <a:t>12 database triggers</a:t>
            </a:r>
          </a:p>
        </p:txBody>
      </p:sp>
      <p:sp>
        <p:nvSpPr>
          <p:cNvPr id="15" name="TextBox 14"/>
          <p:cNvSpPr txBox="1"/>
          <p:nvPr/>
        </p:nvSpPr>
        <p:spPr>
          <a:xfrm>
            <a:off x="2926080" y="2834640"/>
            <a:ext cx="1792224" cy="420624"/>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8 dimension-sync (SCD 2) · 4 audit-emitting</a:t>
            </a:r>
          </a:p>
        </p:txBody>
      </p:sp>
      <p:cxnSp>
        <p:nvCxnSpPr>
          <p:cNvPr id="16" name="Connector 15"/>
          <p:cNvCxnSpPr/>
          <p:nvPr/>
        </p:nvCxnSpPr>
        <p:spPr>
          <a:xfrm>
            <a:off x="4846320" y="2542032"/>
            <a:ext cx="219456"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84064" y="1810512"/>
            <a:ext cx="2011680" cy="1463040"/>
          </a:xfrm>
          <a:prstGeom prst="roundRect">
            <a:avLst>
              <a:gd name="adj" fmla="val 7500"/>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833872"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database.png"/>
          <p:cNvPicPr>
            <a:picLocks noChangeAspect="1"/>
          </p:cNvPicPr>
          <p:nvPr/>
        </p:nvPicPr>
        <p:blipFill>
          <a:blip r:embed="rId4"/>
          <a:stretch>
            <a:fillRect/>
          </a:stretch>
        </p:blipFill>
        <p:spPr>
          <a:xfrm>
            <a:off x="5956767" y="2079711"/>
            <a:ext cx="266273" cy="266273"/>
          </a:xfrm>
          <a:prstGeom prst="rect">
            <a:avLst/>
          </a:prstGeom>
        </p:spPr>
      </p:pic>
      <p:sp>
        <p:nvSpPr>
          <p:cNvPr id="20" name="TextBox 19"/>
          <p:cNvSpPr txBox="1"/>
          <p:nvPr/>
        </p:nvSpPr>
        <p:spPr>
          <a:xfrm>
            <a:off x="5175503" y="2542032"/>
            <a:ext cx="1828800" cy="310896"/>
          </a:xfrm>
          <a:prstGeom prst="rect">
            <a:avLst/>
          </a:prstGeom>
          <a:noFill/>
        </p:spPr>
        <p:txBody>
          <a:bodyPr wrap="square" lIns="0" rIns="0" tIns="0" bIns="0" anchor="t">
            <a:noAutofit/>
          </a:bodyPr>
          <a:lstStyle/>
          <a:p>
            <a:pPr algn="ctr">
              <a:spcAft>
                <a:spcPts val="0"/>
              </a:spcAft>
            </a:pPr>
            <a:r>
              <a:rPr sz="1250" b="1" i="0" lang="en-US">
                <a:solidFill>
                  <a:srgbClr val="FFFFFF"/>
                </a:solidFill>
                <a:latin typeface="Calibri"/>
              </a:rPr>
              <a:t>Two fact tables</a:t>
            </a:r>
          </a:p>
        </p:txBody>
      </p:sp>
      <p:sp>
        <p:nvSpPr>
          <p:cNvPr id="21" name="TextBox 20"/>
          <p:cNvSpPr txBox="1"/>
          <p:nvPr/>
        </p:nvSpPr>
        <p:spPr>
          <a:xfrm>
            <a:off x="5193792" y="2834640"/>
            <a:ext cx="1792224" cy="420624"/>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audit events (by year) · work × month</a:t>
            </a:r>
          </a:p>
        </p:txBody>
      </p:sp>
      <p:cxnSp>
        <p:nvCxnSpPr>
          <p:cNvPr id="22" name="Connector 21"/>
          <p:cNvCxnSpPr/>
          <p:nvPr/>
        </p:nvCxnSpPr>
        <p:spPr>
          <a:xfrm>
            <a:off x="7114031" y="2542032"/>
            <a:ext cx="219457"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51775" y="1810512"/>
            <a:ext cx="2011680" cy="1463040"/>
          </a:xfrm>
          <a:prstGeom prst="roundRect">
            <a:avLst>
              <a:gd name="adj" fmla="val 7500"/>
            </a:avLst>
          </a:prstGeom>
          <a:solidFill>
            <a:srgbClr val="B57BFF">
              <a:alpha val="16000"/>
            </a:srgbClr>
          </a:solidFill>
          <a:ln w="9525">
            <a:solidFill>
              <a:srgbClr val="B57BFF">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101583"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png"/>
          <p:cNvPicPr>
            <a:picLocks noChangeAspect="1"/>
          </p:cNvPicPr>
          <p:nvPr/>
        </p:nvPicPr>
        <p:blipFill>
          <a:blip r:embed="rId5"/>
          <a:stretch>
            <a:fillRect/>
          </a:stretch>
        </p:blipFill>
        <p:spPr>
          <a:xfrm>
            <a:off x="8224479" y="2079711"/>
            <a:ext cx="266273" cy="266273"/>
          </a:xfrm>
          <a:prstGeom prst="rect">
            <a:avLst/>
          </a:prstGeom>
        </p:spPr>
      </p:pic>
      <p:sp>
        <p:nvSpPr>
          <p:cNvPr id="26" name="TextBox 25"/>
          <p:cNvSpPr txBox="1"/>
          <p:nvPr/>
        </p:nvSpPr>
        <p:spPr>
          <a:xfrm>
            <a:off x="7443215" y="2542032"/>
            <a:ext cx="1828800" cy="310896"/>
          </a:xfrm>
          <a:prstGeom prst="rect">
            <a:avLst/>
          </a:prstGeom>
          <a:noFill/>
        </p:spPr>
        <p:txBody>
          <a:bodyPr wrap="square" lIns="0" rIns="0" tIns="0" bIns="0" anchor="t">
            <a:noAutofit/>
          </a:bodyPr>
          <a:lstStyle/>
          <a:p>
            <a:pPr algn="ctr">
              <a:spcAft>
                <a:spcPts val="0"/>
              </a:spcAft>
            </a:pPr>
            <a:r>
              <a:rPr sz="1250" b="1" i="0" lang="en-US">
                <a:solidFill>
                  <a:srgbClr val="FFFFFF"/>
                </a:solidFill>
                <a:latin typeface="Calibri"/>
              </a:rPr>
              <a:t>6 live SQL views</a:t>
            </a:r>
          </a:p>
        </p:txBody>
      </p:sp>
      <p:sp>
        <p:nvSpPr>
          <p:cNvPr id="27" name="TextBox 26"/>
          <p:cNvSpPr txBox="1"/>
          <p:nvPr/>
        </p:nvSpPr>
        <p:spPr>
          <a:xfrm>
            <a:off x="7461503" y="2834640"/>
            <a:ext cx="1792224" cy="420624"/>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standard views, no refresh job</a:t>
            </a:r>
          </a:p>
        </p:txBody>
      </p:sp>
      <p:cxnSp>
        <p:nvCxnSpPr>
          <p:cNvPr id="28" name="Connector 27"/>
          <p:cNvCxnSpPr/>
          <p:nvPr/>
        </p:nvCxnSpPr>
        <p:spPr>
          <a:xfrm>
            <a:off x="9381744" y="2542032"/>
            <a:ext cx="219456" cy="0"/>
          </a:xfrm>
          <a:prstGeom prst="line">
            <a:avLst/>
          </a:prstGeom>
          <a:ln w="19050">
            <a:solidFill>
              <a:srgbClr val="D9C5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619488" y="1810512"/>
            <a:ext cx="2011680" cy="1463040"/>
          </a:xfrm>
          <a:prstGeom prst="roundRect">
            <a:avLst>
              <a:gd name="adj" fmla="val 7500"/>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0369296" y="1956815"/>
            <a:ext cx="512064" cy="512064"/>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globe.png"/>
          <p:cNvPicPr>
            <a:picLocks noChangeAspect="1"/>
          </p:cNvPicPr>
          <p:nvPr/>
        </p:nvPicPr>
        <p:blipFill>
          <a:blip r:embed="rId6"/>
          <a:stretch>
            <a:fillRect/>
          </a:stretch>
        </p:blipFill>
        <p:spPr>
          <a:xfrm>
            <a:off x="10492191" y="2079711"/>
            <a:ext cx="266273" cy="266273"/>
          </a:xfrm>
          <a:prstGeom prst="rect">
            <a:avLst/>
          </a:prstGeom>
        </p:spPr>
      </p:pic>
      <p:sp>
        <p:nvSpPr>
          <p:cNvPr id="32" name="TextBox 31"/>
          <p:cNvSpPr txBox="1"/>
          <p:nvPr/>
        </p:nvSpPr>
        <p:spPr>
          <a:xfrm>
            <a:off x="9710928" y="2542032"/>
            <a:ext cx="1828800" cy="310896"/>
          </a:xfrm>
          <a:prstGeom prst="rect">
            <a:avLst/>
          </a:prstGeom>
          <a:noFill/>
        </p:spPr>
        <p:txBody>
          <a:bodyPr wrap="square" lIns="0" rIns="0" tIns="0" bIns="0" anchor="t">
            <a:noAutofit/>
          </a:bodyPr>
          <a:lstStyle/>
          <a:p>
            <a:pPr algn="ctr">
              <a:spcAft>
                <a:spcPts val="0"/>
              </a:spcAft>
            </a:pPr>
            <a:r>
              <a:rPr sz="1250" b="1" i="0" lang="en-US">
                <a:solidFill>
                  <a:srgbClr val="FFFFFF"/>
                </a:solidFill>
                <a:latin typeface="Consolas"/>
              </a:rPr>
              <a:t>/api/analitica</a:t>
            </a:r>
          </a:p>
        </p:txBody>
      </p:sp>
      <p:sp>
        <p:nvSpPr>
          <p:cNvPr id="33" name="TextBox 32"/>
          <p:cNvSpPr txBox="1"/>
          <p:nvPr/>
        </p:nvSpPr>
        <p:spPr>
          <a:xfrm>
            <a:off x="9729215" y="2834640"/>
            <a:ext cx="1792224" cy="420624"/>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read-only, public by design</a:t>
            </a:r>
          </a:p>
        </p:txBody>
      </p:sp>
      <p:sp>
        <p:nvSpPr>
          <p:cNvPr id="34" name="TextBox 33"/>
          <p:cNvSpPr txBox="1"/>
          <p:nvPr/>
        </p:nvSpPr>
        <p:spPr>
          <a:xfrm>
            <a:off x="548640" y="3566160"/>
            <a:ext cx="6217920" cy="320040"/>
          </a:xfrm>
          <a:prstGeom prst="rect">
            <a:avLst/>
          </a:prstGeom>
          <a:noFill/>
        </p:spPr>
        <p:txBody>
          <a:bodyPr wrap="square" lIns="0" rIns="0" tIns="0" bIns="0" anchor="t">
            <a:noAutofit/>
          </a:bodyPr>
          <a:lstStyle/>
          <a:p>
            <a:pPr algn="l">
              <a:spcAft>
                <a:spcPts val="0"/>
              </a:spcAft>
            </a:pPr>
            <a:r>
              <a:rPr sz="1350" b="1" i="0" lang="en-US">
                <a:solidFill>
                  <a:srgbClr val="D9C5FF"/>
                </a:solidFill>
                <a:latin typeface="Calibri"/>
              </a:rPr>
              <a:t>The six analytical views</a:t>
            </a:r>
          </a:p>
        </p:txBody>
      </p:sp>
      <p:sp>
        <p:nvSpPr>
          <p:cNvPr id="35" name="Rounded Rectangle 34"/>
          <p:cNvSpPr/>
          <p:nvPr/>
        </p:nvSpPr>
        <p:spPr>
          <a:xfrm>
            <a:off x="548640" y="3950208"/>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8368" y="3986784"/>
            <a:ext cx="2926080" cy="274320"/>
          </a:xfrm>
          <a:prstGeom prst="rect">
            <a:avLst/>
          </a:prstGeom>
          <a:noFill/>
        </p:spPr>
        <p:txBody>
          <a:bodyPr wrap="square" lIns="0" rIns="0" tIns="0" bIns="0" anchor="t">
            <a:noAutofit/>
          </a:bodyPr>
          <a:lstStyle/>
          <a:p>
            <a:pPr algn="l">
              <a:spcAft>
                <a:spcPts val="0"/>
              </a:spcAft>
            </a:pPr>
            <a:r>
              <a:rPr sz="1100" b="1" i="0" lang="en-US">
                <a:solidFill>
                  <a:srgbClr val="D9C5FF"/>
                </a:solidFill>
                <a:latin typeface="Consolas"/>
              </a:rPr>
              <a:t>v_delayed_works</a:t>
            </a:r>
          </a:p>
        </p:txBody>
      </p:sp>
      <p:sp>
        <p:nvSpPr>
          <p:cNvPr id="37" name="TextBox 36"/>
          <p:cNvSpPr txBox="1"/>
          <p:nvPr/>
        </p:nvSpPr>
        <p:spPr>
          <a:xfrm>
            <a:off x="658368" y="4233672"/>
            <a:ext cx="2926080" cy="292608"/>
          </a:xfrm>
          <a:prstGeom prst="rect">
            <a:avLst/>
          </a:prstGeom>
          <a:noFill/>
        </p:spPr>
        <p:txBody>
          <a:bodyPr wrap="square" lIns="0" rIns="0" tIns="0" bIns="0" anchor="t">
            <a:noAutofit/>
          </a:bodyPr>
          <a:lstStyle/>
          <a:p>
            <a:pPr algn="l">
              <a:spcAft>
                <a:spcPts val="0"/>
              </a:spcAft>
            </a:pPr>
            <a:r>
              <a:rPr sz="1050" b="0" i="0" lang="en-US">
                <a:solidFill>
                  <a:srgbClr val="DDD6EE"/>
                </a:solidFill>
                <a:latin typeface="Calibri"/>
              </a:rPr>
              <a:t>works with a schedule slip and days late</a:t>
            </a:r>
          </a:p>
        </p:txBody>
      </p:sp>
      <p:sp>
        <p:nvSpPr>
          <p:cNvPr id="38" name="Rounded Rectangle 37"/>
          <p:cNvSpPr/>
          <p:nvPr/>
        </p:nvSpPr>
        <p:spPr>
          <a:xfrm>
            <a:off x="3749039" y="3950208"/>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858768" y="3986784"/>
            <a:ext cx="2926080" cy="274320"/>
          </a:xfrm>
          <a:prstGeom prst="rect">
            <a:avLst/>
          </a:prstGeom>
          <a:noFill/>
        </p:spPr>
        <p:txBody>
          <a:bodyPr wrap="square" lIns="0" rIns="0" tIns="0" bIns="0" anchor="t">
            <a:noAutofit/>
          </a:bodyPr>
          <a:lstStyle/>
          <a:p>
            <a:pPr algn="l">
              <a:spcAft>
                <a:spcPts val="0"/>
              </a:spcAft>
            </a:pPr>
            <a:r>
              <a:rPr sz="1100" b="1" i="0" lang="en-US">
                <a:solidFill>
                  <a:srgbClr val="D9C5FF"/>
                </a:solidFill>
                <a:latin typeface="Consolas"/>
              </a:rPr>
              <a:t>v_audit_alerts</a:t>
            </a:r>
          </a:p>
        </p:txBody>
      </p:sp>
      <p:sp>
        <p:nvSpPr>
          <p:cNvPr id="40" name="TextBox 39"/>
          <p:cNvSpPr txBox="1"/>
          <p:nvPr/>
        </p:nvSpPr>
        <p:spPr>
          <a:xfrm>
            <a:off x="3858768" y="4233672"/>
            <a:ext cx="2926080" cy="292608"/>
          </a:xfrm>
          <a:prstGeom prst="rect">
            <a:avLst/>
          </a:prstGeom>
          <a:noFill/>
        </p:spPr>
        <p:txBody>
          <a:bodyPr wrap="square" lIns="0" rIns="0" tIns="0" bIns="0" anchor="t">
            <a:noAutofit/>
          </a:bodyPr>
          <a:lstStyle/>
          <a:p>
            <a:pPr algn="l">
              <a:spcAft>
                <a:spcPts val="0"/>
              </a:spcAft>
            </a:pPr>
            <a:r>
              <a:rPr sz="950" b="0" i="0" lang="en-US">
                <a:solidFill>
                  <a:srgbClr val="DDD6EE"/>
                </a:solidFill>
                <a:latin typeface="Calibri"/>
              </a:rPr>
              <a:t>HIGH_AMOUNT · CANCELLED_WORK · BUDGET_CHANGE · LATE_EVENT · REVIEW</a:t>
            </a:r>
          </a:p>
        </p:txBody>
      </p:sp>
      <p:sp>
        <p:nvSpPr>
          <p:cNvPr id="41" name="Rounded Rectangle 40"/>
          <p:cNvSpPr/>
          <p:nvPr/>
        </p:nvSpPr>
        <p:spPr>
          <a:xfrm>
            <a:off x="548640" y="4608576"/>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58368" y="4645152"/>
            <a:ext cx="2926080" cy="274320"/>
          </a:xfrm>
          <a:prstGeom prst="rect">
            <a:avLst/>
          </a:prstGeom>
          <a:noFill/>
        </p:spPr>
        <p:txBody>
          <a:bodyPr wrap="square" lIns="0" rIns="0" tIns="0" bIns="0" anchor="t">
            <a:noAutofit/>
          </a:bodyPr>
          <a:lstStyle/>
          <a:p>
            <a:pPr algn="l">
              <a:spcAft>
                <a:spcPts val="0"/>
              </a:spcAft>
            </a:pPr>
            <a:r>
              <a:rPr sz="1100" b="1" i="0" lang="en-US">
                <a:solidFill>
                  <a:srgbClr val="D9C5FF"/>
                </a:solidFill>
                <a:latin typeface="Consolas"/>
              </a:rPr>
              <a:t>v_work_traceability</a:t>
            </a:r>
          </a:p>
        </p:txBody>
      </p:sp>
      <p:sp>
        <p:nvSpPr>
          <p:cNvPr id="43" name="TextBox 42"/>
          <p:cNvSpPr txBox="1"/>
          <p:nvPr/>
        </p:nvSpPr>
        <p:spPr>
          <a:xfrm>
            <a:off x="658368" y="4892040"/>
            <a:ext cx="2926080" cy="292608"/>
          </a:xfrm>
          <a:prstGeom prst="rect">
            <a:avLst/>
          </a:prstGeom>
          <a:noFill/>
        </p:spPr>
        <p:txBody>
          <a:bodyPr wrap="square" lIns="0" rIns="0" tIns="0" bIns="0" anchor="t">
            <a:noAutofit/>
          </a:bodyPr>
          <a:lstStyle/>
          <a:p>
            <a:pPr algn="l">
              <a:spcAft>
                <a:spcPts val="0"/>
              </a:spcAft>
            </a:pPr>
            <a:r>
              <a:rPr sz="1050" b="0" i="0" lang="en-US">
                <a:solidFill>
                  <a:srgbClr val="DDD6EE"/>
                </a:solidFill>
                <a:latin typeface="Calibri"/>
              </a:rPr>
              <a:t>full SCD 2 version history of a work</a:t>
            </a:r>
          </a:p>
        </p:txBody>
      </p:sp>
      <p:sp>
        <p:nvSpPr>
          <p:cNvPr id="44" name="Rounded Rectangle 43"/>
          <p:cNvSpPr/>
          <p:nvPr/>
        </p:nvSpPr>
        <p:spPr>
          <a:xfrm>
            <a:off x="3749039" y="4608576"/>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3858768" y="4645152"/>
            <a:ext cx="2926080" cy="274320"/>
          </a:xfrm>
          <a:prstGeom prst="rect">
            <a:avLst/>
          </a:prstGeom>
          <a:noFill/>
        </p:spPr>
        <p:txBody>
          <a:bodyPr wrap="square" lIns="0" rIns="0" tIns="0" bIns="0" anchor="t">
            <a:noAutofit/>
          </a:bodyPr>
          <a:lstStyle/>
          <a:p>
            <a:pPr algn="l">
              <a:spcAft>
                <a:spcPts val="0"/>
              </a:spcAft>
            </a:pPr>
            <a:r>
              <a:rPr sz="1100" b="1" i="0" lang="en-US">
                <a:solidFill>
                  <a:srgbClr val="D9C5FF"/>
                </a:solidFill>
                <a:latin typeface="Consolas"/>
              </a:rPr>
              <a:t>v_citizen_participation</a:t>
            </a:r>
          </a:p>
        </p:txBody>
      </p:sp>
      <p:sp>
        <p:nvSpPr>
          <p:cNvPr id="46" name="TextBox 45"/>
          <p:cNvSpPr txBox="1"/>
          <p:nvPr/>
        </p:nvSpPr>
        <p:spPr>
          <a:xfrm>
            <a:off x="3858768" y="4892040"/>
            <a:ext cx="2926080" cy="292608"/>
          </a:xfrm>
          <a:prstGeom prst="rect">
            <a:avLst/>
          </a:prstGeom>
          <a:noFill/>
        </p:spPr>
        <p:txBody>
          <a:bodyPr wrap="square" lIns="0" rIns="0" tIns="0" bIns="0" anchor="t">
            <a:noAutofit/>
          </a:bodyPr>
          <a:lstStyle/>
          <a:p>
            <a:pPr algn="l">
              <a:spcAft>
                <a:spcPts val="0"/>
              </a:spcAft>
            </a:pPr>
            <a:r>
              <a:rPr sz="1050" b="0" i="0" lang="en-US">
                <a:solidFill>
                  <a:srgbClr val="DDD6EE"/>
                </a:solidFill>
                <a:latin typeface="Calibri"/>
              </a:rPr>
              <a:t>votes and proposals by region</a:t>
            </a:r>
          </a:p>
        </p:txBody>
      </p:sp>
      <p:sp>
        <p:nvSpPr>
          <p:cNvPr id="47" name="Rounded Rectangle 46"/>
          <p:cNvSpPr/>
          <p:nvPr/>
        </p:nvSpPr>
        <p:spPr>
          <a:xfrm>
            <a:off x="548640" y="5266944"/>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58368" y="5303520"/>
            <a:ext cx="2926080" cy="274320"/>
          </a:xfrm>
          <a:prstGeom prst="rect">
            <a:avLst/>
          </a:prstGeom>
          <a:noFill/>
        </p:spPr>
        <p:txBody>
          <a:bodyPr wrap="square" lIns="0" rIns="0" tIns="0" bIns="0" anchor="t">
            <a:noAutofit/>
          </a:bodyPr>
          <a:lstStyle/>
          <a:p>
            <a:pPr algn="l">
              <a:spcAft>
                <a:spcPts val="0"/>
              </a:spcAft>
            </a:pPr>
            <a:r>
              <a:rPr sz="1100" b="1" i="0" lang="en-US">
                <a:solidFill>
                  <a:srgbClr val="D9C5FF"/>
                </a:solidFill>
                <a:latin typeface="Consolas"/>
              </a:rPr>
              <a:t>v_budget_executed</a:t>
            </a:r>
          </a:p>
        </p:txBody>
      </p:sp>
      <p:sp>
        <p:nvSpPr>
          <p:cNvPr id="49" name="TextBox 48"/>
          <p:cNvSpPr txBox="1"/>
          <p:nvPr/>
        </p:nvSpPr>
        <p:spPr>
          <a:xfrm>
            <a:off x="658368" y="5550407"/>
            <a:ext cx="2926080" cy="292608"/>
          </a:xfrm>
          <a:prstGeom prst="rect">
            <a:avLst/>
          </a:prstGeom>
          <a:noFill/>
        </p:spPr>
        <p:txBody>
          <a:bodyPr wrap="square" lIns="0" rIns="0" tIns="0" bIns="0" anchor="t">
            <a:noAutofit/>
          </a:bodyPr>
          <a:lstStyle/>
          <a:p>
            <a:pPr algn="l">
              <a:spcAft>
                <a:spcPts val="0"/>
              </a:spcAft>
            </a:pPr>
            <a:r>
              <a:rPr sz="1050" b="0" i="0" lang="en-US">
                <a:solidFill>
                  <a:srgbClr val="DDD6EE"/>
                </a:solidFill>
                <a:latin typeface="Calibri"/>
              </a:rPr>
              <a:t>execution by funding source</a:t>
            </a:r>
          </a:p>
        </p:txBody>
      </p:sp>
      <p:sp>
        <p:nvSpPr>
          <p:cNvPr id="50" name="Rounded Rectangle 49"/>
          <p:cNvSpPr/>
          <p:nvPr/>
        </p:nvSpPr>
        <p:spPr>
          <a:xfrm>
            <a:off x="3749039" y="5266944"/>
            <a:ext cx="3090672" cy="585216"/>
          </a:xfrm>
          <a:prstGeom prst="roundRect">
            <a:avLst>
              <a:gd name="adj" fmla="val 12500"/>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858768" y="5303520"/>
            <a:ext cx="2926080" cy="274320"/>
          </a:xfrm>
          <a:prstGeom prst="rect">
            <a:avLst/>
          </a:prstGeom>
          <a:noFill/>
        </p:spPr>
        <p:txBody>
          <a:bodyPr wrap="square" lIns="0" rIns="0" tIns="0" bIns="0" anchor="t">
            <a:noAutofit/>
          </a:bodyPr>
          <a:lstStyle/>
          <a:p>
            <a:pPr algn="l">
              <a:spcAft>
                <a:spcPts val="0"/>
              </a:spcAft>
            </a:pPr>
            <a:r>
              <a:rPr sz="1100" b="1" i="0" lang="en-US">
                <a:solidFill>
                  <a:srgbClr val="D9C5FF"/>
                </a:solidFill>
                <a:latin typeface="Consolas"/>
              </a:rPr>
              <a:t>v_anomalies_detection</a:t>
            </a:r>
          </a:p>
        </p:txBody>
      </p:sp>
      <p:sp>
        <p:nvSpPr>
          <p:cNvPr id="52" name="TextBox 51"/>
          <p:cNvSpPr txBox="1"/>
          <p:nvPr/>
        </p:nvSpPr>
        <p:spPr>
          <a:xfrm>
            <a:off x="3858768" y="5550407"/>
            <a:ext cx="2926080" cy="292608"/>
          </a:xfrm>
          <a:prstGeom prst="rect">
            <a:avLst/>
          </a:prstGeom>
          <a:noFill/>
        </p:spPr>
        <p:txBody>
          <a:bodyPr wrap="square" lIns="0" rIns="0" tIns="0" bIns="0" anchor="t">
            <a:noAutofit/>
          </a:bodyPr>
          <a:lstStyle/>
          <a:p>
            <a:pPr algn="l">
              <a:spcAft>
                <a:spcPts val="0"/>
              </a:spcAft>
            </a:pPr>
            <a:r>
              <a:rPr sz="1050" b="0" i="0" lang="en-US">
                <a:solidFill>
                  <a:srgbClr val="DDD6EE"/>
                </a:solidFill>
                <a:latin typeface="Calibri"/>
              </a:rPr>
              <a:t>C1–C3 per work and month</a:t>
            </a:r>
          </a:p>
        </p:txBody>
      </p:sp>
      <p:sp>
        <p:nvSpPr>
          <p:cNvPr id="53" name="Rounded Rectangle 52"/>
          <p:cNvSpPr/>
          <p:nvPr/>
        </p:nvSpPr>
        <p:spPr>
          <a:xfrm>
            <a:off x="7178040" y="3611880"/>
            <a:ext cx="4462272" cy="2286000"/>
          </a:xfrm>
          <a:prstGeom prst="roundRect">
            <a:avLst>
              <a:gd name="adj" fmla="val 4800"/>
            </a:avLst>
          </a:prstGeom>
          <a:solidFill>
            <a:srgbClr val="B57BFF">
              <a:alpha val="10000"/>
            </a:srgbClr>
          </a:solidFill>
          <a:ln w="9525">
            <a:solidFill>
              <a:srgbClr val="B57B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7406640" y="3703320"/>
            <a:ext cx="4114800" cy="365760"/>
          </a:xfrm>
          <a:prstGeom prst="rect">
            <a:avLst/>
          </a:prstGeom>
          <a:noFill/>
        </p:spPr>
        <p:txBody>
          <a:bodyPr wrap="square" lIns="0" rIns="0" tIns="0" bIns="0" anchor="t">
            <a:noAutofit/>
          </a:bodyPr>
          <a:lstStyle/>
          <a:p>
            <a:pPr algn="l">
              <a:spcAft>
                <a:spcPts val="0"/>
              </a:spcAft>
            </a:pPr>
            <a:r>
              <a:rPr sz="1350" b="1" i="0" lang="en-US">
                <a:solidFill>
                  <a:srgbClr val="FFFFFF"/>
                </a:solidFill>
                <a:latin typeface="Calibri"/>
              </a:rPr>
              <a:t>Why standard, not materialised, views?</a:t>
            </a:r>
          </a:p>
        </p:txBody>
      </p:sp>
      <p:sp>
        <p:nvSpPr>
          <p:cNvPr id="55" name="TextBox 54"/>
          <p:cNvSpPr txBox="1"/>
          <p:nvPr/>
        </p:nvSpPr>
        <p:spPr>
          <a:xfrm>
            <a:off x="7406640" y="4114800"/>
            <a:ext cx="4114800" cy="1188720"/>
          </a:xfrm>
          <a:prstGeom prst="rect">
            <a:avLst/>
          </a:prstGeom>
          <a:noFill/>
        </p:spPr>
        <p:txBody>
          <a:bodyPr wrap="square" lIns="0" rIns="0" tIns="0" bIns="0" anchor="t">
            <a:noAutofit/>
          </a:bodyPr>
          <a:lstStyle/>
          <a:p>
            <a:pPr algn="l" marL="201168" indent="-201168">
              <a:spcAft>
                <a:spcPts val="300"/>
              </a:spcAft>
              <a:buClr>
                <a:srgbClr val="B57BFF"/>
              </a:buClr>
              <a:buFont typeface="Arial"/>
              <a:buChar char="•"/>
            </a:pPr>
            <a:r>
              <a:rPr sz="1150" b="0" i="0" lang="en-US">
                <a:solidFill>
                  <a:srgbClr val="DDD6EE"/>
                </a:solidFill>
                <a:latin typeface="Calibri"/>
              </a:rPr>
              <a:t>~10⁴ fact rows → the views run in milliseconds</a:t>
            </a:r>
          </a:p>
          <a:p>
            <a:pPr algn="l" marL="201168" indent="-201168">
              <a:spcAft>
                <a:spcPts val="300"/>
              </a:spcAft>
              <a:buClr>
                <a:srgbClr val="B57BFF"/>
              </a:buClr>
              <a:buFont typeface="Arial"/>
              <a:buChar char="•"/>
            </a:pPr>
            <a:r>
              <a:rPr sz="1150" b="0" i="0" lang="en-US">
                <a:solidFill>
                  <a:srgbClr val="DDD6EE"/>
                </a:solidFill>
                <a:latin typeface="Calibri"/>
              </a:rPr>
              <a:t>alerts must be actionable the moment a report is uploaded</a:t>
            </a:r>
          </a:p>
          <a:p>
            <a:pPr algn="l" marL="201168" indent="-201168">
              <a:spcAft>
                <a:spcPts val="0"/>
              </a:spcAft>
              <a:buClr>
                <a:srgbClr val="B57BFF"/>
              </a:buClr>
              <a:buFont typeface="Arial"/>
              <a:buChar char="•"/>
            </a:pPr>
            <a:r>
              <a:rPr sz="1150" b="0" i="0" lang="en-US">
                <a:solidFill>
                  <a:srgbClr val="DDD6EE"/>
                </a:solidFill>
                <a:latin typeface="Calibri"/>
              </a:rPr>
              <a:t>no refresh job to schedule — or to fail</a:t>
            </a:r>
          </a:p>
        </p:txBody>
      </p:sp>
      <p:sp>
        <p:nvSpPr>
          <p:cNvPr id="56" name="TextBox 55"/>
          <p:cNvSpPr txBox="1"/>
          <p:nvPr/>
        </p:nvSpPr>
        <p:spPr>
          <a:xfrm>
            <a:off x="7406640" y="5230368"/>
            <a:ext cx="4114800" cy="621792"/>
          </a:xfrm>
          <a:prstGeom prst="rect">
            <a:avLst/>
          </a:prstGeom>
          <a:noFill/>
        </p:spPr>
        <p:txBody>
          <a:bodyPr wrap="square" lIns="0" rIns="0" tIns="0" bIns="0" anchor="t">
            <a:noAutofit/>
          </a:bodyPr>
          <a:lstStyle/>
          <a:p>
            <a:pPr algn="l">
              <a:spcAft>
                <a:spcPts val="0"/>
              </a:spcAft>
            </a:pPr>
            <a:r>
              <a:rPr sz="1050" b="1" i="0" lang="en-US">
                <a:solidFill>
                  <a:srgbClr val="FBBF24"/>
                </a:solidFill>
                <a:latin typeface="Calibri"/>
              </a:rPr>
              <a:t>Scale-out path: </a:t>
            </a:r>
            <a:r>
              <a:rPr sz="950" b="0" i="0" lang="en-US">
                <a:solidFill>
                  <a:srgbClr val="DDD6EE"/>
                </a:solidFill>
                <a:latin typeface="Consolas"/>
              </a:rPr>
              <a:t>REFRESH MATERIALIZED VIEW CONCURRENTLY</a:t>
            </a:r>
            <a:r>
              <a:rPr sz="1050" b="0" i="0" lang="en-US">
                <a:solidFill>
                  <a:srgbClr val="DDD6EE"/>
                </a:solidFill>
                <a:latin typeface="Calibri"/>
              </a:rPr>
              <a:t> for the budget and participation views; alert views stay live.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Object storage: evidence linked both ways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EVIDENCE LAYER</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9 / 19</a:t>
            </a:r>
          </a:p>
        </p:txBody>
      </p:sp>
      <p:pic>
        <p:nvPicPr>
          <p:cNvPr id="100" name="Picture 100" descr="Embedded illustration or system screenshot"/>
          <p:cNvPicPr>
            <a:picLocks noChangeAspect="1"/>
          </p:cNvPicPr>
          <p:nvPr/>
        </p:nvPicPr>
        <p:blipFill>
          <a:blip r:embed="rId10"/>
          <a:srcRect l="11858" r="13043" t="6250" b="6944"/>
          <a:stretch>
            <a:fillRect/>
          </a:stretch>
        </p:blipFill>
        <p:spPr>
          <a:xfrm>
            <a:off x="552450" y="1762125"/>
            <a:ext cx="6248400" cy="4114800"/>
          </a:xfrm>
          <a:prstGeom prst="rect">
            <a:avLst/>
          </a:prstGeom>
        </p:spPr>
      </p:pic>
      <p:sp>
        <p:nvSpPr>
          <p:cNvPr id="101" name="Visual Published gallery. Synthe">
            <a:extLst>
              <a:ext uri="{FF2B5EF4-FFF2-40B4-BE49-F238E27FC236}">
                <a16:creationId xmlns:a16="http://schemas.microsoft.com/office/drawing/2014/main" id="{28A81CF2-5BAC-4445-9771-61337F5BBB64}"/>
              </a:ext>
            </a:extLst>
          </p:cNvPr>
          <p:cNvSpPr>
            <a:spLocks noGrp="1"/>
          </p:cNvSpPr>
          <p:nvPr/>
        </p:nvSpPr>
        <p:spPr>
          <a:xfrm>
            <a:off x="552450" y="5905500"/>
            <a:ext cx="6381750" cy="171450"/>
          </a:xfrm>
          <a:prstGeom prst="rect">
            <a:avLst/>
          </a:prstGeom>
          <a:noFill/>
          <a:ln w="0">
            <a:noFill/>
          </a:ln>
        </p:spPr>
        <p:txBody>
          <a:bodyPr anchor="t">
            <a:noAutofit/>
          </a:bodyPr>
          <a:lstStyle/>
          <a:p>
            <a:pPr algn="l">
              <a:defRPr sz="900" b="0">
                <a:solidFill>
                  <a:srgbClr val="CEC4DF"/>
                </a:solidFill>
                <a:latin typeface="Calibri"/>
                <a:ea typeface="Calibri"/>
                <a:cs typeface="Calibri"/>
              </a:defRPr>
            </a:pPr>
            <a:r>
              <a:rPr sz="900" b="0">
                <a:solidFill>
                  <a:srgbClr val="CEC4DF"/>
                </a:solidFill>
                <a:latin typeface="Calibri"/>
                <a:ea typeface="Calibri"/>
                <a:cs typeface="Calibri"/>
              </a:rPr>
              <a:t>Published gallery. Synthetic data and images marked ILUSTRATIVO.</a:t>
            </a:r>
          </a:p>
        </p:txBody>
      </p:sp>
      <p:sp>
        <p:nvSpPr>
          <p:cNvPr id="102" name="Visual 01">
            <a:extLst>
              <a:ext uri="{FF2B5EF4-FFF2-40B4-BE49-F238E27FC236}">
                <a16:creationId xmlns:a16="http://schemas.microsoft.com/office/drawing/2014/main" id="{A951126C-6D70-4F80-8439-3022B1DDB7EF}"/>
              </a:ext>
            </a:extLst>
          </p:cNvPr>
          <p:cNvSpPr>
            <a:spLocks noGrp="1"/>
          </p:cNvSpPr>
          <p:nvPr/>
        </p:nvSpPr>
        <p:spPr>
          <a:xfrm>
            <a:off x="7239000" y="1809750"/>
            <a:ext cx="457200" cy="342900"/>
          </a:xfrm>
          <a:prstGeom prst="rect">
            <a:avLst/>
          </a:prstGeom>
          <a:noFill/>
          <a:ln w="0">
            <a:noFill/>
          </a:ln>
        </p:spPr>
        <p:txBody>
          <a:bodyPr anchor="t">
            <a:noAutofit/>
          </a:bodyPr>
          <a:lstStyle/>
          <a:p>
            <a:pPr algn="l">
              <a:defRPr sz="1950" b="1">
                <a:solidFill>
                  <a:srgbClr val="BD8CFF"/>
                </a:solidFill>
                <a:latin typeface="Calibri"/>
                <a:ea typeface="Calibri"/>
                <a:cs typeface="Calibri"/>
              </a:defRPr>
            </a:pPr>
            <a:r>
              <a:rPr sz="1950" b="1">
                <a:solidFill>
                  <a:srgbClr val="BD8CFF"/>
                </a:solidFill>
                <a:latin typeface="Calibri"/>
                <a:ea typeface="Calibri"/>
                <a:cs typeface="Calibri"/>
              </a:rPr>
              <a:t>01</a:t>
            </a:r>
          </a:p>
        </p:txBody>
      </p:sp>
      <p:sp>
        <p:nvSpPr>
          <p:cNvPr id="103" name="Visual The supervisor attaches p">
            <a:extLst>
              <a:ext uri="{FF2B5EF4-FFF2-40B4-BE49-F238E27FC236}">
                <a16:creationId xmlns:a16="http://schemas.microsoft.com/office/drawing/2014/main" id="{50403861-FA6D-45EF-A61B-864CCCE813FB}"/>
              </a:ext>
            </a:extLst>
          </p:cNvPr>
          <p:cNvSpPr>
            <a:spLocks noGrp="1"/>
          </p:cNvSpPr>
          <p:nvPr/>
        </p:nvSpPr>
        <p:spPr>
          <a:xfrm>
            <a:off x="7762875" y="1847850"/>
            <a:ext cx="3810000" cy="466725"/>
          </a:xfrm>
          <a:prstGeom prst="rect">
            <a:avLst/>
          </a:prstGeom>
          <a:noFill/>
          <a:ln w="0">
            <a:noFill/>
          </a:ln>
        </p:spPr>
        <p:txBody>
          <a:bodyPr anchor="t">
            <a:noAutofit/>
          </a:bodyPr>
          <a:lstStyle/>
          <a:p>
            <a:pPr algn="l">
              <a:defRPr sz="1575" b="0">
                <a:solidFill>
                  <a:srgbClr val="F7F4FF"/>
                </a:solidFill>
                <a:latin typeface="Calibri"/>
                <a:ea typeface="Calibri"/>
                <a:cs typeface="Calibri"/>
              </a:defRPr>
            </a:pPr>
            <a:r>
              <a:rPr sz="1575" b="0">
                <a:solidFill>
                  <a:srgbClr val="F7F4FF"/>
                </a:solidFill>
                <a:latin typeface="Calibri"/>
                <a:ea typeface="Calibri"/>
                <a:cs typeface="Calibri"/>
              </a:rPr>
              <a:t>The supervisor attaches photos or PDFs.</a:t>
            </a:r>
          </a:p>
        </p:txBody>
      </p:sp>
      <p:sp>
        <p:nvSpPr>
          <p:cNvPr id="104" name="Visual 02">
            <a:extLst>
              <a:ext uri="{FF2B5EF4-FFF2-40B4-BE49-F238E27FC236}">
                <a16:creationId xmlns:a16="http://schemas.microsoft.com/office/drawing/2014/main" id="{F60EAF60-FA99-4AC4-9094-77512284E023}"/>
              </a:ext>
            </a:extLst>
          </p:cNvPr>
          <p:cNvSpPr>
            <a:spLocks noGrp="1"/>
          </p:cNvSpPr>
          <p:nvPr/>
        </p:nvSpPr>
        <p:spPr>
          <a:xfrm>
            <a:off x="7239000" y="2314575"/>
            <a:ext cx="457200" cy="342900"/>
          </a:xfrm>
          <a:prstGeom prst="rect">
            <a:avLst/>
          </a:prstGeom>
          <a:noFill/>
          <a:ln w="0">
            <a:noFill/>
          </a:ln>
        </p:spPr>
        <p:txBody>
          <a:bodyPr anchor="t">
            <a:noAutofit/>
          </a:bodyPr>
          <a:lstStyle/>
          <a:p>
            <a:pPr algn="l">
              <a:defRPr sz="1950" b="1">
                <a:solidFill>
                  <a:srgbClr val="BD8CFF"/>
                </a:solidFill>
                <a:latin typeface="Calibri"/>
                <a:ea typeface="Calibri"/>
                <a:cs typeface="Calibri"/>
              </a:defRPr>
            </a:pPr>
            <a:r>
              <a:rPr sz="1950" b="1">
                <a:solidFill>
                  <a:srgbClr val="BD8CFF"/>
                </a:solidFill>
                <a:latin typeface="Calibri"/>
                <a:ea typeface="Calibri"/>
                <a:cs typeface="Calibri"/>
              </a:rPr>
              <a:t>02</a:t>
            </a:r>
          </a:p>
        </p:txBody>
      </p:sp>
      <p:sp>
        <p:nvSpPr>
          <p:cNvPr id="105" name="Visual The API builds the object">
            <a:extLst>
              <a:ext uri="{FF2B5EF4-FFF2-40B4-BE49-F238E27FC236}">
                <a16:creationId xmlns:a16="http://schemas.microsoft.com/office/drawing/2014/main" id="{8E15C545-6628-4525-B160-1890E08B6C9C}"/>
              </a:ext>
            </a:extLst>
          </p:cNvPr>
          <p:cNvSpPr>
            <a:spLocks noGrp="1"/>
          </p:cNvSpPr>
          <p:nvPr/>
        </p:nvSpPr>
        <p:spPr>
          <a:xfrm>
            <a:off x="7762875" y="2352675"/>
            <a:ext cx="3810000" cy="466725"/>
          </a:xfrm>
          <a:prstGeom prst="rect">
            <a:avLst/>
          </a:prstGeom>
          <a:noFill/>
          <a:ln w="0">
            <a:noFill/>
          </a:ln>
        </p:spPr>
        <p:txBody>
          <a:bodyPr anchor="t">
            <a:noAutofit/>
          </a:bodyPr>
          <a:lstStyle/>
          <a:p>
            <a:pPr algn="l">
              <a:defRPr sz="1575" b="0">
                <a:solidFill>
                  <a:srgbClr val="F7F4FF"/>
                </a:solidFill>
                <a:latin typeface="Calibri"/>
                <a:ea typeface="Calibri"/>
                <a:cs typeface="Calibri"/>
              </a:defRPr>
            </a:pPr>
            <a:r>
              <a:rPr sz="1575" b="0">
                <a:solidFill>
                  <a:srgbClr val="F7F4FF"/>
                </a:solidFill>
                <a:latin typeface="Calibri"/>
                <a:ea typeface="Calibri"/>
                <a:cs typeface="Calibri"/>
              </a:rPr>
              <a:t>The API builds the object key.</a:t>
            </a:r>
          </a:p>
        </p:txBody>
      </p:sp>
      <p:sp>
        <p:nvSpPr>
          <p:cNvPr id="106" name="Visual 03">
            <a:extLst>
              <a:ext uri="{FF2B5EF4-FFF2-40B4-BE49-F238E27FC236}">
                <a16:creationId xmlns:a16="http://schemas.microsoft.com/office/drawing/2014/main" id="{9B5CF4DF-EFE9-4637-BE3D-525A2741A66C}"/>
              </a:ext>
            </a:extLst>
          </p:cNvPr>
          <p:cNvSpPr>
            <a:spLocks noGrp="1"/>
          </p:cNvSpPr>
          <p:nvPr/>
        </p:nvSpPr>
        <p:spPr>
          <a:xfrm>
            <a:off x="7239000" y="2819400"/>
            <a:ext cx="457200" cy="342900"/>
          </a:xfrm>
          <a:prstGeom prst="rect">
            <a:avLst/>
          </a:prstGeom>
          <a:noFill/>
          <a:ln w="0">
            <a:noFill/>
          </a:ln>
        </p:spPr>
        <p:txBody>
          <a:bodyPr anchor="t">
            <a:noAutofit/>
          </a:bodyPr>
          <a:lstStyle/>
          <a:p>
            <a:pPr algn="l">
              <a:defRPr sz="1950" b="1">
                <a:solidFill>
                  <a:srgbClr val="BD8CFF"/>
                </a:solidFill>
                <a:latin typeface="Calibri"/>
                <a:ea typeface="Calibri"/>
                <a:cs typeface="Calibri"/>
              </a:defRPr>
            </a:pPr>
            <a:r>
              <a:rPr sz="1950" b="1">
                <a:solidFill>
                  <a:srgbClr val="BD8CFF"/>
                </a:solidFill>
                <a:latin typeface="Calibri"/>
                <a:ea typeface="Calibri"/>
                <a:cs typeface="Calibri"/>
              </a:rPr>
              <a:t>03</a:t>
            </a:r>
          </a:p>
        </p:txBody>
      </p:sp>
      <p:sp>
        <p:nvSpPr>
          <p:cNvPr id="107" name="Visual R2 stores the binary file">
            <a:extLst>
              <a:ext uri="{FF2B5EF4-FFF2-40B4-BE49-F238E27FC236}">
                <a16:creationId xmlns:a16="http://schemas.microsoft.com/office/drawing/2014/main" id="{7BFA8B8C-E8D8-4338-BD18-C0D86CC6B0C5}"/>
              </a:ext>
            </a:extLst>
          </p:cNvPr>
          <p:cNvSpPr>
            <a:spLocks noGrp="1"/>
          </p:cNvSpPr>
          <p:nvPr/>
        </p:nvSpPr>
        <p:spPr>
          <a:xfrm>
            <a:off x="7762875" y="2857500"/>
            <a:ext cx="3810000" cy="466725"/>
          </a:xfrm>
          <a:prstGeom prst="rect">
            <a:avLst/>
          </a:prstGeom>
          <a:noFill/>
          <a:ln w="0">
            <a:noFill/>
          </a:ln>
        </p:spPr>
        <p:txBody>
          <a:bodyPr anchor="t">
            <a:noAutofit/>
          </a:bodyPr>
          <a:lstStyle/>
          <a:p>
            <a:pPr algn="l">
              <a:defRPr sz="1575" b="0">
                <a:solidFill>
                  <a:srgbClr val="F7F4FF"/>
                </a:solidFill>
                <a:latin typeface="Calibri"/>
                <a:ea typeface="Calibri"/>
                <a:cs typeface="Calibri"/>
              </a:defRPr>
            </a:pPr>
            <a:r>
              <a:rPr sz="1575" b="0">
                <a:solidFill>
                  <a:srgbClr val="F7F4FF"/>
                </a:solidFill>
                <a:latin typeface="Calibri"/>
                <a:ea typeface="Calibri"/>
                <a:cs typeface="Calibri"/>
              </a:rPr>
              <a:t>R2 stores the binary file.</a:t>
            </a:r>
          </a:p>
        </p:txBody>
      </p:sp>
      <p:sp>
        <p:nvSpPr>
          <p:cNvPr id="108" name="Visual 04">
            <a:extLst>
              <a:ext uri="{FF2B5EF4-FFF2-40B4-BE49-F238E27FC236}">
                <a16:creationId xmlns:a16="http://schemas.microsoft.com/office/drawing/2014/main" id="{CE096C8D-3A12-4AC6-B7E9-64967240E126}"/>
              </a:ext>
            </a:extLst>
          </p:cNvPr>
          <p:cNvSpPr>
            <a:spLocks noGrp="1"/>
          </p:cNvSpPr>
          <p:nvPr/>
        </p:nvSpPr>
        <p:spPr>
          <a:xfrm>
            <a:off x="7239000" y="3324225"/>
            <a:ext cx="457200" cy="342900"/>
          </a:xfrm>
          <a:prstGeom prst="rect">
            <a:avLst/>
          </a:prstGeom>
          <a:noFill/>
          <a:ln w="0">
            <a:noFill/>
          </a:ln>
        </p:spPr>
        <p:txBody>
          <a:bodyPr anchor="t">
            <a:noAutofit/>
          </a:bodyPr>
          <a:lstStyle/>
          <a:p>
            <a:pPr algn="l">
              <a:defRPr sz="1950" b="1">
                <a:solidFill>
                  <a:srgbClr val="BD8CFF"/>
                </a:solidFill>
                <a:latin typeface="Calibri"/>
                <a:ea typeface="Calibri"/>
                <a:cs typeface="Calibri"/>
              </a:defRPr>
            </a:pPr>
            <a:r>
              <a:rPr sz="1950" b="1">
                <a:solidFill>
                  <a:srgbClr val="BD8CFF"/>
                </a:solidFill>
                <a:latin typeface="Calibri"/>
                <a:ea typeface="Calibri"/>
                <a:cs typeface="Calibri"/>
              </a:rPr>
              <a:t>04</a:t>
            </a:r>
          </a:p>
        </p:txBody>
      </p:sp>
      <p:sp>
        <p:nvSpPr>
          <p:cNvPr id="109" name="Visual The warehouse records met">
            <a:extLst>
              <a:ext uri="{FF2B5EF4-FFF2-40B4-BE49-F238E27FC236}">
                <a16:creationId xmlns:a16="http://schemas.microsoft.com/office/drawing/2014/main" id="{EDB45089-FBB3-4332-9CD7-3989E29D9BE4}"/>
              </a:ext>
            </a:extLst>
          </p:cNvPr>
          <p:cNvSpPr>
            <a:spLocks noGrp="1"/>
          </p:cNvSpPr>
          <p:nvPr/>
        </p:nvSpPr>
        <p:spPr>
          <a:xfrm>
            <a:off x="7762875" y="3362325"/>
            <a:ext cx="3810000" cy="466725"/>
          </a:xfrm>
          <a:prstGeom prst="rect">
            <a:avLst/>
          </a:prstGeom>
          <a:noFill/>
          <a:ln w="0">
            <a:noFill/>
          </a:ln>
        </p:spPr>
        <p:txBody>
          <a:bodyPr anchor="t">
            <a:noAutofit/>
          </a:bodyPr>
          <a:lstStyle/>
          <a:p>
            <a:pPr algn="l">
              <a:defRPr sz="1575" b="0">
                <a:solidFill>
                  <a:srgbClr val="F7F4FF"/>
                </a:solidFill>
                <a:latin typeface="Calibri"/>
                <a:ea typeface="Calibri"/>
                <a:cs typeface="Calibri"/>
              </a:defRPr>
            </a:pPr>
            <a:r>
              <a:rPr sz="1575" b="0">
                <a:solidFill>
                  <a:srgbClr val="F7F4FF"/>
                </a:solidFill>
                <a:latin typeface="Calibri"/>
                <a:ea typeface="Calibri"/>
                <a:cs typeface="Calibri"/>
              </a:rPr>
              <a:t>The warehouse records metadata and URL.</a:t>
            </a:r>
          </a:p>
        </p:txBody>
      </p:sp>
      <p:sp>
        <p:nvSpPr>
          <p:cNvPr id="110" name="Visual Link by work and period">
            <a:extLst>
              <a:ext uri="{FF2B5EF4-FFF2-40B4-BE49-F238E27FC236}">
                <a16:creationId xmlns:a16="http://schemas.microsoft.com/office/drawing/2014/main" id="{CFE1BFF3-8DA4-439E-8751-42E6D87EBA25}"/>
              </a:ext>
            </a:extLst>
          </p:cNvPr>
          <p:cNvSpPr>
            <a:spLocks noGrp="1"/>
          </p:cNvSpPr>
          <p:nvPr/>
        </p:nvSpPr>
        <p:spPr>
          <a:xfrm>
            <a:off x="7239000" y="3981450"/>
            <a:ext cx="4333875" cy="304800"/>
          </a:xfrm>
          <a:prstGeom prst="rect">
            <a:avLst/>
          </a:prstGeom>
          <a:noFill/>
          <a:ln w="0">
            <a:noFill/>
          </a:ln>
        </p:spPr>
        <p:txBody>
          <a:bodyPr anchor="t">
            <a:noAutofit/>
          </a:bodyPr>
          <a:lstStyle/>
          <a:p>
            <a:pPr algn="l">
              <a:defRPr sz="1725" b="1">
                <a:solidFill>
                  <a:srgbClr val="BD8CFF"/>
                </a:solidFill>
                <a:latin typeface="Calibri"/>
                <a:ea typeface="Calibri"/>
                <a:cs typeface="Calibri"/>
              </a:defRPr>
            </a:pPr>
            <a:r>
              <a:rPr sz="1725" b="1">
                <a:solidFill>
                  <a:srgbClr val="BD8CFF"/>
                </a:solidFill>
                <a:latin typeface="Calibri"/>
                <a:ea typeface="Calibri"/>
                <a:cs typeface="Calibri"/>
              </a:rPr>
              <a:t>Link by work and period</a:t>
            </a:r>
          </a:p>
        </p:txBody>
      </p:sp>
      <p:sp>
        <p:nvSpPr>
          <p:cNvPr id="111" name="Visual works/{work_id}/reports/&#10;">
            <a:extLst>
              <a:ext uri="{FF2B5EF4-FFF2-40B4-BE49-F238E27FC236}">
                <a16:creationId xmlns:a16="http://schemas.microsoft.com/office/drawing/2014/main" id="{B660D46F-23BE-4435-878E-58EC122B3F71}"/>
              </a:ext>
            </a:extLst>
          </p:cNvPr>
          <p:cNvSpPr>
            <a:spLocks noGrp="1"/>
          </p:cNvSpPr>
          <p:nvPr/>
        </p:nvSpPr>
        <p:spPr>
          <a:xfrm>
            <a:off x="7239000" y="4333875"/>
            <a:ext cx="4333875" cy="542925"/>
          </a:xfrm>
          <a:prstGeom prst="rect">
            <a:avLst/>
          </a:prstGeom>
          <a:noFill/>
          <a:ln w="0">
            <a:noFill/>
          </a:ln>
        </p:spPr>
        <p:txBody>
          <a:bodyPr anchor="t">
            <a:noAutofit/>
          </a:bodyPr>
          <a:lstStyle/>
          <a:p>
            <a:pPr algn="l">
              <a:defRPr sz="1275" b="0">
                <a:solidFill>
                  <a:srgbClr val="F4C259"/>
                </a:solidFill>
                <a:latin typeface="Consolas"/>
                <a:ea typeface="Consolas"/>
                <a:cs typeface="Consolas"/>
              </a:defRPr>
            </a:pPr>
            <a:r>
              <a:rPr sz="1275" b="0">
                <a:solidFill>
                  <a:srgbClr val="F4C259"/>
                </a:solidFill>
                <a:latin typeface="Consolas"/>
                <a:ea typeface="Consolas"/>
                <a:cs typeface="Consolas"/>
              </a:rPr>
              <a:t>works/{work_id}/reports/</a:t>
            </a:r>
          </a:p>
          <a:p>
            <a:pPr algn="l">
              <a:defRPr sz="1275" b="0">
                <a:solidFill>
                  <a:srgbClr val="F4C259"/>
                </a:solidFill>
                <a:latin typeface="Consolas"/>
                <a:ea typeface="Consolas"/>
                <a:cs typeface="Consolas"/>
              </a:defRPr>
            </a:pPr>
            <a:r>
              <a:rPr sz="1275" b="0">
                <a:solidFill>
                  <a:srgbClr val="F4C259"/>
                </a:solidFill>
                <a:latin typeface="Consolas"/>
                <a:ea typeface="Consolas"/>
                <a:cs typeface="Consolas"/>
              </a:rPr>
              <a:t>{year}-{month}/{ts}_{slug}.{ext}</a:t>
            </a:r>
          </a:p>
        </p:txBody>
      </p:sp>
      <p:sp>
        <p:nvSpPr>
          <p:cNvPr id="112" name="Visual URL, name, MIME, bytes an">
            <a:extLst>
              <a:ext uri="{FF2B5EF4-FFF2-40B4-BE49-F238E27FC236}">
                <a16:creationId xmlns:a16="http://schemas.microsoft.com/office/drawing/2014/main" id="{B13A5B1D-79DD-4BC4-B932-3D93C5B6030A}"/>
              </a:ext>
            </a:extLst>
          </p:cNvPr>
          <p:cNvSpPr>
            <a:spLocks noGrp="1"/>
          </p:cNvSpPr>
          <p:nvPr/>
        </p:nvSpPr>
        <p:spPr>
          <a:xfrm>
            <a:off x="7239000" y="4914900"/>
            <a:ext cx="4333875" cy="381000"/>
          </a:xfrm>
          <a:prstGeom prst="rect">
            <a:avLst/>
          </a:prstGeom>
          <a:noFill/>
          <a:ln w="0">
            <a:noFill/>
          </a:ln>
        </p:spPr>
        <p:txBody>
          <a:bodyPr anchor="t">
            <a:noAutofit/>
          </a:bodyPr>
          <a:lstStyle/>
          <a:p>
            <a:pPr algn="l">
              <a:defRPr sz="1275" b="0">
                <a:solidFill>
                  <a:srgbClr val="CEC4DF"/>
                </a:solidFill>
                <a:latin typeface="Calibri"/>
                <a:ea typeface="Calibri"/>
                <a:cs typeface="Calibri"/>
              </a:defRPr>
            </a:pPr>
            <a:r>
              <a:rPr sz="1275" b="0">
                <a:solidFill>
                  <a:srgbClr val="CEC4DF"/>
                </a:solidFill>
                <a:latin typeface="Calibri"/>
                <a:ea typeface="Calibri"/>
                <a:cs typeface="Calibri"/>
              </a:rPr>
              <a:t>URL, name, MIME, bytes and upload date</a:t>
            </a:r>
          </a:p>
        </p:txBody>
      </p:sp>
      <p:sp>
        <p:nvSpPr>
          <p:cNvPr id="113" name="Visual Compensated upload, not a">
            <a:extLst>
              <a:ext uri="{FF2B5EF4-FFF2-40B4-BE49-F238E27FC236}">
                <a16:creationId xmlns:a16="http://schemas.microsoft.com/office/drawing/2014/main" id="{A1B10D2D-A03E-4B78-99A8-5A7CC969D7CD}"/>
              </a:ext>
            </a:extLst>
          </p:cNvPr>
          <p:cNvSpPr>
            <a:spLocks noGrp="1"/>
          </p:cNvSpPr>
          <p:nvPr/>
        </p:nvSpPr>
        <p:spPr>
          <a:xfrm>
            <a:off x="7239000" y="5391150"/>
            <a:ext cx="4333875" cy="285750"/>
          </a:xfrm>
          <a:prstGeom prst="rect">
            <a:avLst/>
          </a:prstGeom>
          <a:noFill/>
          <a:ln w="0">
            <a:noFill/>
          </a:ln>
        </p:spPr>
        <p:txBody>
          <a:bodyPr anchor="t">
            <a:noAutofit/>
          </a:bodyPr>
          <a:lstStyle/>
          <a:p>
            <a:pPr algn="l">
              <a:defRPr sz="1575" b="1">
                <a:solidFill>
                  <a:srgbClr val="F4C259"/>
                </a:solidFill>
                <a:latin typeface="Calibri"/>
                <a:ea typeface="Calibri"/>
                <a:cs typeface="Calibri"/>
              </a:defRPr>
            </a:pPr>
            <a:r>
              <a:rPr sz="1575" b="1">
                <a:solidFill>
                  <a:srgbClr val="F4C259"/>
                </a:solidFill>
                <a:latin typeface="Calibri"/>
                <a:ea typeface="Calibri"/>
                <a:cs typeface="Calibri"/>
              </a:rPr>
              <a:t>Compensated upload, not atomic</a:t>
            </a:r>
          </a:p>
        </p:txBody>
      </p:sp>
      <p:sp>
        <p:nvSpPr>
          <p:cNvPr id="114" name="Visual An intermediate failure c">
            <a:extLst>
              <a:ext uri="{FF2B5EF4-FFF2-40B4-BE49-F238E27FC236}">
                <a16:creationId xmlns:a16="http://schemas.microsoft.com/office/drawing/2014/main" id="{95AA49A1-2E2A-4D79-A6E9-A0213DE40183}"/>
              </a:ext>
            </a:extLst>
          </p:cNvPr>
          <p:cNvSpPr>
            <a:spLocks noGrp="1"/>
          </p:cNvSpPr>
          <p:nvPr/>
        </p:nvSpPr>
        <p:spPr>
          <a:xfrm>
            <a:off x="7239000" y="5715000"/>
            <a:ext cx="4333875" cy="3238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An intermediate failure can leave orphan files.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Geospatial viewer: an implicit graph</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INTERFACE</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10 / 19</a:t>
            </a:r>
          </a:p>
        </p:txBody>
      </p:sp>
      <p:pic>
        <p:nvPicPr>
          <p:cNvPr id="100" name="Picture 100" descr="Embedded illustration or system screenshot"/>
          <p:cNvPicPr>
            <a:picLocks noChangeAspect="1"/>
          </p:cNvPicPr>
          <p:nvPr/>
        </p:nvPicPr>
        <p:blipFill>
          <a:blip r:embed="rId6"/>
          <a:stretch>
            <a:fillRect/>
          </a:stretch>
        </p:blipFill>
        <p:spPr>
          <a:xfrm>
            <a:off x="868562" y="1762125"/>
            <a:ext cx="6702026" cy="4191000"/>
          </a:xfrm>
          <a:prstGeom prst="rect">
            <a:avLst/>
          </a:prstGeom>
        </p:spPr>
      </p:pic>
      <p:pic>
        <p:nvPicPr>
          <p:cNvPr id="101" name="Picture 101" descr="Embedded illustration or system screenshot"/>
          <p:cNvPicPr>
            <a:picLocks noChangeAspect="1"/>
          </p:cNvPicPr>
          <p:nvPr/>
        </p:nvPicPr>
        <p:blipFill>
          <a:blip r:embed="rId7"/>
          <a:stretch>
            <a:fillRect/>
          </a:stretch>
        </p:blipFill>
        <p:spPr>
          <a:xfrm>
            <a:off x="8162925" y="1773074"/>
            <a:ext cx="2314575" cy="3769051"/>
          </a:xfrm>
          <a:prstGeom prst="rect">
            <a:avLst/>
          </a:prstGeom>
        </p:spPr>
      </p:pic>
      <p:sp>
        <p:nvSpPr>
          <p:cNvPr id="102" name="Visual Status">
            <a:extLst>
              <a:ext uri="{FF2B5EF4-FFF2-40B4-BE49-F238E27FC236}">
                <a16:creationId xmlns:a16="http://schemas.microsoft.com/office/drawing/2014/main" id="{707AA8F5-7BA2-4855-907C-48B2491CBB7E}"/>
              </a:ext>
            </a:extLst>
          </p:cNvPr>
          <p:cNvSpPr>
            <a:spLocks noGrp="1"/>
          </p:cNvSpPr>
          <p:nvPr/>
        </p:nvSpPr>
        <p:spPr>
          <a:xfrm>
            <a:off x="10668000" y="1847850"/>
            <a:ext cx="1000125" cy="285750"/>
          </a:xfrm>
          <a:prstGeom prst="rect">
            <a:avLst/>
          </a:prstGeom>
          <a:noFill/>
          <a:ln w="0">
            <a:noFill/>
          </a:ln>
        </p:spPr>
        <p:txBody>
          <a:bodyPr anchor="t">
            <a:noAutofit/>
          </a:bodyPr>
          <a:lstStyle/>
          <a:p>
            <a:pPr algn="l">
              <a:defRPr sz="1575" b="1">
                <a:solidFill>
                  <a:srgbClr val="BD8CFF"/>
                </a:solidFill>
                <a:latin typeface="Calibri"/>
                <a:ea typeface="Calibri"/>
                <a:cs typeface="Calibri"/>
              </a:defRPr>
            </a:pPr>
            <a:r>
              <a:rPr sz="1575" b="1">
                <a:solidFill>
                  <a:srgbClr val="BD8CFF"/>
                </a:solidFill>
                <a:latin typeface="Calibri"/>
                <a:ea typeface="Calibri"/>
                <a:cs typeface="Calibri"/>
              </a:rPr>
              <a:t>Status</a:t>
            </a:r>
          </a:p>
        </p:txBody>
      </p:sp>
      <p:sp>
        <p:nvSpPr>
          <p:cNvPr id="103" name="Visual Location">
            <a:extLst>
              <a:ext uri="{FF2B5EF4-FFF2-40B4-BE49-F238E27FC236}">
                <a16:creationId xmlns:a16="http://schemas.microsoft.com/office/drawing/2014/main" id="{7452C398-4DA4-4177-9030-2E9DBFAB936A}"/>
              </a:ext>
            </a:extLst>
          </p:cNvPr>
          <p:cNvSpPr>
            <a:spLocks noGrp="1"/>
          </p:cNvSpPr>
          <p:nvPr/>
        </p:nvSpPr>
        <p:spPr>
          <a:xfrm>
            <a:off x="10668000" y="2447925"/>
            <a:ext cx="1000125" cy="2857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Location</a:t>
            </a:r>
          </a:p>
        </p:txBody>
      </p:sp>
      <p:sp>
        <p:nvSpPr>
          <p:cNvPr id="104" name="Visual Evidence">
            <a:extLst>
              <a:ext uri="{FF2B5EF4-FFF2-40B4-BE49-F238E27FC236}">
                <a16:creationId xmlns:a16="http://schemas.microsoft.com/office/drawing/2014/main" id="{56F403BD-87DF-4F25-92FD-0F541DA00263}"/>
              </a:ext>
            </a:extLst>
          </p:cNvPr>
          <p:cNvSpPr>
            <a:spLocks noGrp="1"/>
          </p:cNvSpPr>
          <p:nvPr/>
        </p:nvSpPr>
        <p:spPr>
          <a:xfrm>
            <a:off x="10668000" y="3105150"/>
            <a:ext cx="1000125" cy="2857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Evidence</a:t>
            </a:r>
          </a:p>
        </p:txBody>
      </p:sp>
      <p:sp>
        <p:nvSpPr>
          <p:cNvPr id="105" name="Visual Budget">
            <a:extLst>
              <a:ext uri="{FF2B5EF4-FFF2-40B4-BE49-F238E27FC236}">
                <a16:creationId xmlns:a16="http://schemas.microsoft.com/office/drawing/2014/main" id="{CF59D0DA-6796-42D9-845A-6AB066E1F73C}"/>
              </a:ext>
            </a:extLst>
          </p:cNvPr>
          <p:cNvSpPr>
            <a:spLocks noGrp="1"/>
          </p:cNvSpPr>
          <p:nvPr/>
        </p:nvSpPr>
        <p:spPr>
          <a:xfrm>
            <a:off x="10668000" y="3743325"/>
            <a:ext cx="1047750" cy="2857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Budget</a:t>
            </a:r>
          </a:p>
        </p:txBody>
      </p:sp>
      <p:sp>
        <p:nvSpPr>
          <p:cNvPr id="106" name="Visual Progress">
            <a:extLst>
              <a:ext uri="{FF2B5EF4-FFF2-40B4-BE49-F238E27FC236}">
                <a16:creationId xmlns:a16="http://schemas.microsoft.com/office/drawing/2014/main" id="{2E32FCE3-B496-40C2-A173-0825099246BF}"/>
              </a:ext>
            </a:extLst>
          </p:cNvPr>
          <p:cNvSpPr>
            <a:spLocks noGrp="1"/>
          </p:cNvSpPr>
          <p:nvPr/>
        </p:nvSpPr>
        <p:spPr>
          <a:xfrm>
            <a:off x="10668000" y="4324350"/>
            <a:ext cx="1000125" cy="285750"/>
          </a:xfrm>
          <a:prstGeom prst="rect">
            <a:avLst/>
          </a:prstGeom>
          <a:noFill/>
          <a:ln w="0">
            <a:noFill/>
          </a:ln>
        </p:spPr>
        <p:txBody>
          <a:bodyPr anchor="t">
            <a:noAutofit/>
          </a:bodyPr>
          <a:lstStyle/>
          <a:p>
            <a:pPr algn="l">
              <a:defRPr sz="1350" b="0">
                <a:solidFill>
                  <a:srgbClr val="CEC4DF"/>
                </a:solidFill>
                <a:latin typeface="Calibri"/>
                <a:ea typeface="Calibri"/>
                <a:cs typeface="Calibri"/>
              </a:defRPr>
            </a:pPr>
            <a:r>
              <a:rPr sz="1350" b="0">
                <a:solidFill>
                  <a:srgbClr val="CEC4DF"/>
                </a:solidFill>
                <a:latin typeface="Calibri"/>
                <a:ea typeface="Calibri"/>
                <a:cs typeface="Calibri"/>
              </a:rPr>
              <a:t>Progress</a:t>
            </a:r>
          </a:p>
        </p:txBody>
      </p:sp>
      <p:sp>
        <p:nvSpPr>
          <p:cNvPr id="107" name="Visual Foreign-key relationships">
            <a:extLst>
              <a:ext uri="{FF2B5EF4-FFF2-40B4-BE49-F238E27FC236}">
                <a16:creationId xmlns:a16="http://schemas.microsoft.com/office/drawing/2014/main" id="{BFE23143-C938-49CA-ACB5-D0AA764095EE}"/>
              </a:ext>
            </a:extLst>
          </p:cNvPr>
          <p:cNvSpPr>
            <a:spLocks noGrp="1"/>
          </p:cNvSpPr>
          <p:nvPr/>
        </p:nvSpPr>
        <p:spPr>
          <a:xfrm>
            <a:off x="8162925" y="5657850"/>
            <a:ext cx="3457575" cy="409575"/>
          </a:xfrm>
          <a:prstGeom prst="rect">
            <a:avLst/>
          </a:prstGeom>
          <a:noFill/>
          <a:ln w="0">
            <a:noFill/>
          </a:ln>
        </p:spPr>
        <p:txBody>
          <a:bodyPr anchor="t">
            <a:noAutofit/>
          </a:bodyPr>
          <a:lstStyle/>
          <a:p>
            <a:pPr algn="l">
              <a:defRPr sz="1350" b="0">
                <a:solidFill>
                  <a:srgbClr val="BD8CFF"/>
                </a:solidFill>
                <a:latin typeface="Calibri"/>
                <a:ea typeface="Calibri"/>
                <a:cs typeface="Calibri"/>
              </a:defRPr>
            </a:pPr>
            <a:r>
              <a:rPr sz="1350" b="0">
                <a:solidFill>
                  <a:srgbClr val="BD8CFF"/>
                </a:solidFill>
                <a:latin typeface="Calibri"/>
                <a:ea typeface="Calibri"/>
                <a:cs typeface="Calibri"/>
              </a:rPr>
              <a:t>Foreign-key relationships. OWL/RDF remains future work.</a:t>
            </a:r>
          </a:p>
        </p:txBody>
      </p:sp>
      <p:sp>
        <p:nvSpPr>
          <p:cNvPr id="108" name="Visual Fig. 3 and artifact recor">
            <a:extLst>
              <a:ext uri="{FF2B5EF4-FFF2-40B4-BE49-F238E27FC236}">
                <a16:creationId xmlns:a16="http://schemas.microsoft.com/office/drawing/2014/main" id="{490BD401-1FB9-4433-849B-415EAB3FD5EF}"/>
              </a:ext>
            </a:extLst>
          </p:cNvPr>
          <p:cNvSpPr>
            <a:spLocks noGrp="1"/>
          </p:cNvSpPr>
          <p:nvPr/>
        </p:nvSpPr>
        <p:spPr>
          <a:xfrm>
            <a:off x="552450" y="5972175"/>
            <a:ext cx="7239000" cy="15240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Fig. 3 and artifact records. Synthetic data. © OpenStreetMap, © CARTO, Leaflet.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The artefact is live — and static on purpose</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DEMO</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11 / 19</a:t>
            </a:r>
          </a:p>
        </p:txBody>
      </p:sp>
      <p:pic>
        <p:nvPicPr>
          <p:cNvPr id="100" name="Picture 100" descr="Embedded illustration or system screenshot"/>
          <p:cNvPicPr>
            <a:picLocks noChangeAspect="1"/>
          </p:cNvPicPr>
          <p:nvPr/>
        </p:nvPicPr>
        <p:blipFill>
          <a:blip r:embed="rId13"/>
          <a:stretch>
            <a:fillRect/>
          </a:stretch>
        </p:blipFill>
        <p:spPr>
          <a:xfrm>
            <a:off x="554791" y="1752600"/>
            <a:ext cx="7615318" cy="4286250"/>
          </a:xfrm>
          <a:prstGeom prst="rect">
            <a:avLst/>
          </a:prstGeom>
        </p:spPr>
      </p:pic>
      <p:sp>
        <p:nvSpPr>
          <p:cNvPr id="101" name="Visual Open access">
            <a:extLst>
              <a:ext uri="{FF2B5EF4-FFF2-40B4-BE49-F238E27FC236}">
                <a16:creationId xmlns:a16="http://schemas.microsoft.com/office/drawing/2014/main" id="{80202E1E-CDD8-464D-904A-C637904C8504}"/>
              </a:ext>
            </a:extLst>
          </p:cNvPr>
          <p:cNvSpPr>
            <a:spLocks noGrp="1"/>
          </p:cNvSpPr>
          <p:nvPr/>
        </p:nvSpPr>
        <p:spPr>
          <a:xfrm>
            <a:off x="8486775" y="1790700"/>
            <a:ext cx="3133725" cy="381000"/>
          </a:xfrm>
          <a:prstGeom prst="rect">
            <a:avLst/>
          </a:prstGeom>
          <a:noFill/>
          <a:ln w="0">
            <a:noFill/>
          </a:ln>
        </p:spPr>
        <p:txBody>
          <a:bodyPr anchor="t">
            <a:noAutofit/>
          </a:bodyPr>
          <a:lstStyle/>
          <a:p>
            <a:pPr algn="l">
              <a:defRPr sz="2100" b="1">
                <a:solidFill>
                  <a:srgbClr val="BD8CFF"/>
                </a:solidFill>
                <a:latin typeface="Calibri"/>
                <a:ea typeface="Calibri"/>
                <a:cs typeface="Calibri"/>
              </a:defRPr>
            </a:pPr>
            <a:r>
              <a:rPr sz="2100" b="1">
                <a:solidFill>
                  <a:srgbClr val="BD8CFF"/>
                </a:solidFill>
                <a:latin typeface="Calibri"/>
                <a:ea typeface="Calibri"/>
                <a:cs typeface="Calibri"/>
              </a:rPr>
              <a:t>Open access</a:t>
            </a:r>
          </a:p>
        </p:txBody>
      </p:sp>
      <p:sp>
        <p:nvSpPr>
          <p:cNvPr id="102" name="Visual 6 synthetic works&#10;in the ">
            <a:extLst>
              <a:ext uri="{FF2B5EF4-FFF2-40B4-BE49-F238E27FC236}">
                <a16:creationId xmlns:a16="http://schemas.microsoft.com/office/drawing/2014/main" id="{B0BFFD74-7E0A-4545-8EAD-E88200291092}"/>
              </a:ext>
            </a:extLst>
          </p:cNvPr>
          <p:cNvSpPr>
            <a:spLocks noGrp="1"/>
          </p:cNvSpPr>
          <p:nvPr/>
        </p:nvSpPr>
        <p:spPr>
          <a:xfrm>
            <a:off x="8486775" y="2276475"/>
            <a:ext cx="3133725" cy="676275"/>
          </a:xfrm>
          <a:prstGeom prst="rect">
            <a:avLst/>
          </a:prstGeom>
          <a:noFill/>
          <a:ln w="0">
            <a:noFill/>
          </a:ln>
        </p:spPr>
        <p:txBody>
          <a:bodyPr anchor="t">
            <a:noAutofit/>
          </a:bodyPr>
          <a:lstStyle/>
          <a:p>
            <a:pPr algn="l">
              <a:defRPr sz="1875" b="0">
                <a:solidFill>
                  <a:srgbClr val="F7F4FF"/>
                </a:solidFill>
                <a:latin typeface="Calibri"/>
                <a:ea typeface="Calibri"/>
                <a:cs typeface="Calibri"/>
              </a:defRPr>
            </a:pPr>
            <a:r>
              <a:rPr sz="1875" b="0">
                <a:solidFill>
                  <a:srgbClr val="F7F4FF"/>
                </a:solidFill>
                <a:latin typeface="Calibri"/>
                <a:ea typeface="Calibri"/>
                <a:cs typeface="Calibri"/>
              </a:rPr>
              <a:t>6 synthetic works</a:t>
            </a:r>
          </a:p>
          <a:p>
            <a:pPr algn="l">
              <a:defRPr sz="1875" b="0">
                <a:solidFill>
                  <a:srgbClr val="F7F4FF"/>
                </a:solidFill>
                <a:latin typeface="Calibri"/>
                <a:ea typeface="Calibri"/>
                <a:cs typeface="Calibri"/>
              </a:defRPr>
            </a:pPr>
            <a:r>
              <a:rPr sz="1875" b="0">
                <a:solidFill>
                  <a:srgbClr val="F7F4FF"/>
                </a:solidFill>
                <a:latin typeface="Calibri"/>
                <a:ea typeface="Calibri"/>
                <a:cs typeface="Calibri"/>
              </a:rPr>
              <a:t>in the visitor’s tab</a:t>
            </a:r>
          </a:p>
        </p:txBody>
      </p:sp>
      <p:sp>
        <p:nvSpPr>
          <p:cNvPr id="103" name="Visual Director, supervisor, pla">
            <a:extLst>
              <a:ext uri="{FF2B5EF4-FFF2-40B4-BE49-F238E27FC236}">
                <a16:creationId xmlns:a16="http://schemas.microsoft.com/office/drawing/2014/main" id="{498D2292-BE6F-42B5-BDFE-A404AB6E17FF}"/>
              </a:ext>
            </a:extLst>
          </p:cNvPr>
          <p:cNvSpPr>
            <a:spLocks noGrp="1"/>
          </p:cNvSpPr>
          <p:nvPr/>
        </p:nvSpPr>
        <p:spPr>
          <a:xfrm>
            <a:off x="8486775" y="3162300"/>
            <a:ext cx="3133725" cy="571500"/>
          </a:xfrm>
          <a:prstGeom prst="rect">
            <a:avLst/>
          </a:prstGeom>
          <a:noFill/>
          <a:ln w="0">
            <a:noFill/>
          </a:ln>
        </p:spPr>
        <p:txBody>
          <a:bodyPr anchor="t">
            <a:noAutofit/>
          </a:bodyPr>
          <a:lstStyle/>
          <a:p>
            <a:pPr algn="l">
              <a:defRPr sz="1500" b="0">
                <a:solidFill>
                  <a:srgbClr val="CEC4DF"/>
                </a:solidFill>
                <a:latin typeface="Calibri"/>
                <a:ea typeface="Calibri"/>
                <a:cs typeface="Calibri"/>
              </a:defRPr>
            </a:pPr>
            <a:r>
              <a:rPr sz="1500" b="0">
                <a:solidFill>
                  <a:srgbClr val="CEC4DF"/>
                </a:solidFill>
                <a:latin typeface="Calibri"/>
                <a:ea typeface="Calibri"/>
                <a:cs typeface="Calibri"/>
              </a:rPr>
              <a:t>Director, supervisor, planner and records office</a:t>
            </a:r>
          </a:p>
        </p:txBody>
      </p:sp>
      <p:sp>
        <p:nvSpPr>
          <p:cNvPr id="104" name="Visual Citizen participation&#10;Spa">
            <a:extLst>
              <a:ext uri="{FF2B5EF4-FFF2-40B4-BE49-F238E27FC236}">
                <a16:creationId xmlns:a16="http://schemas.microsoft.com/office/drawing/2014/main" id="{BCD66863-AF59-468D-AB5C-A267CF687F29}"/>
              </a:ext>
            </a:extLst>
          </p:cNvPr>
          <p:cNvSpPr>
            <a:spLocks noGrp="1"/>
          </p:cNvSpPr>
          <p:nvPr/>
        </p:nvSpPr>
        <p:spPr>
          <a:xfrm>
            <a:off x="8486775" y="3829050"/>
            <a:ext cx="3133725" cy="762000"/>
          </a:xfrm>
          <a:prstGeom prst="rect">
            <a:avLst/>
          </a:prstGeom>
          <a:noFill/>
          <a:ln w="0">
            <a:noFill/>
          </a:ln>
        </p:spPr>
        <p:txBody>
          <a:bodyPr anchor="t">
            <a:noAutofit/>
          </a:bodyPr>
          <a:lstStyle/>
          <a:p>
            <a:pPr algn="l">
              <a:defRPr sz="1500" b="0">
                <a:solidFill>
                  <a:srgbClr val="CEC4DF"/>
                </a:solidFill>
                <a:latin typeface="Calibri"/>
                <a:ea typeface="Calibri"/>
                <a:cs typeface="Calibri"/>
              </a:defRPr>
            </a:pPr>
            <a:r>
              <a:rPr sz="1500" b="0">
                <a:solidFill>
                  <a:srgbClr val="CEC4DF"/>
                </a:solidFill>
                <a:latin typeface="Calibri"/>
                <a:ea typeface="Calibri"/>
                <a:cs typeface="Calibri"/>
              </a:rPr>
              <a:t>Citizen participation</a:t>
            </a:r>
          </a:p>
          <a:p>
            <a:pPr algn="l">
              <a:defRPr sz="1500" b="0">
                <a:solidFill>
                  <a:srgbClr val="CEC4DF"/>
                </a:solidFill>
                <a:latin typeface="Calibri"/>
                <a:ea typeface="Calibri"/>
                <a:cs typeface="Calibri"/>
              </a:defRPr>
            </a:pPr>
            <a:r>
              <a:rPr sz="1500" b="0">
                <a:solidFill>
                  <a:srgbClr val="CEC4DF"/>
                </a:solidFill>
                <a:latin typeface="Calibri"/>
                <a:ea typeface="Calibri"/>
                <a:cs typeface="Calibri"/>
              </a:rPr>
              <a:t>Spanish and English</a:t>
            </a:r>
          </a:p>
          <a:p>
            <a:pPr algn="l">
              <a:defRPr sz="1500" b="0">
                <a:solidFill>
                  <a:srgbClr val="CEC4DF"/>
                </a:solidFill>
                <a:latin typeface="Calibri"/>
                <a:ea typeface="Calibri"/>
                <a:cs typeface="Calibri"/>
              </a:defRPr>
            </a:pPr>
            <a:r>
              <a:rPr sz="1500" b="0">
                <a:solidFill>
                  <a:srgbClr val="CEC4DF"/>
                </a:solidFill>
                <a:latin typeface="Calibri"/>
                <a:ea typeface="Calibri"/>
                <a:cs typeface="Calibri"/>
              </a:rPr>
              <a:t>2 themes, light and dark</a:t>
            </a:r>
          </a:p>
        </p:txBody>
      </p:sp>
      <p:pic>
        <p:nvPicPr>
          <p:cNvPr id="105" name="Picture 105" descr="Embedded illustration or system screenshot"/>
          <p:cNvPicPr>
            <a:picLocks noChangeAspect="1"/>
          </p:cNvPicPr>
          <p:nvPr/>
        </p:nvPicPr>
        <p:blipFill>
          <a:blip r:embed="rId14"/>
          <a:stretch>
            <a:fillRect/>
          </a:stretch>
        </p:blipFill>
        <p:spPr>
          <a:xfrm>
            <a:off x="10648950" y="4800600"/>
            <a:ext cx="933450" cy="933450"/>
          </a:xfrm>
          <a:prstGeom prst="rect">
            <a:avLst/>
          </a:prstGeom>
        </p:spPr>
      </p:pic>
      <p:sp>
        <p:nvSpPr>
          <p:cNvPr id="106" name="Visual Try the demo">
            <a:extLst>
              <a:ext uri="{FF2B5EF4-FFF2-40B4-BE49-F238E27FC236}">
                <a16:creationId xmlns:a16="http://schemas.microsoft.com/office/drawing/2014/main" id="{FFC7216B-C9D2-4ABD-8098-8A9DAEE44750}"/>
              </a:ext>
            </a:extLst>
          </p:cNvPr>
          <p:cNvSpPr>
            <a:spLocks noGrp="1"/>
          </p:cNvSpPr>
          <p:nvPr/>
        </p:nvSpPr>
        <p:spPr>
          <a:xfrm>
            <a:off x="8486775" y="4848225"/>
            <a:ext cx="2047875" cy="323850"/>
          </a:xfrm>
          <a:prstGeom prst="rect">
            <a:avLst/>
          </a:prstGeom>
          <a:noFill/>
          <a:ln w="0">
            <a:noFill/>
          </a:ln>
        </p:spPr>
        <p:txBody>
          <a:bodyPr anchor="t">
            <a:noAutofit/>
          </a:bodyPr>
          <a:lstStyle/>
          <a:p>
            <a:pPr algn="l">
              <a:defRPr sz="1725" b="1">
                <a:solidFill>
                  <a:srgbClr val="BD8CFF"/>
                </a:solidFill>
                <a:latin typeface="Calibri"/>
                <a:ea typeface="Calibri"/>
                <a:cs typeface="Calibri"/>
              </a:defRPr>
            </a:pPr>
            <a:r>
              <a:rPr sz="1725" b="1">
                <a:solidFill>
                  <a:srgbClr val="BD8CFF"/>
                </a:solidFill>
                <a:latin typeface="Calibri"/>
                <a:ea typeface="Calibri"/>
                <a:cs typeface="Calibri"/>
              </a:rPr>
              <a:t>Try the demo</a:t>
            </a:r>
          </a:p>
        </p:txBody>
      </p:sp>
      <p:sp>
        <p:nvSpPr>
          <p:cNvPr id="107" name="Visual gabrielhuav.github.io/&#10;Pu">
            <a:extLst>
              <a:ext uri="{FF2B5EF4-FFF2-40B4-BE49-F238E27FC236}">
                <a16:creationId xmlns:a16="http://schemas.microsoft.com/office/drawing/2014/main" id="{A21B4A58-68DD-4A19-A040-9BF8A25FE41A}"/>
              </a:ext>
            </a:extLst>
          </p:cNvPr>
          <p:cNvSpPr>
            <a:spLocks noGrp="1"/>
          </p:cNvSpPr>
          <p:nvPr/>
        </p:nvSpPr>
        <p:spPr>
          <a:xfrm>
            <a:off x="8486775" y="5229225"/>
            <a:ext cx="2143125" cy="552450"/>
          </a:xfrm>
          <a:prstGeom prst="rect">
            <a:avLst/>
          </a:prstGeom>
          <a:noFill/>
          <a:ln w="0">
            <a:noFill/>
          </a:ln>
        </p:spPr>
        <p:txBody>
          <a:bodyPr anchor="t">
            <a:noAutofit/>
          </a:bodyPr>
          <a:lstStyle/>
          <a:p>
            <a:pPr algn="l">
              <a:defRPr sz="1050" b="0">
                <a:solidFill>
                  <a:srgbClr val="F7F4FF"/>
                </a:solidFill>
                <a:latin typeface="Consolas"/>
                <a:ea typeface="Consolas"/>
                <a:cs typeface="Consolas"/>
              </a:defRPr>
            </a:pPr>
            <a:r>
              <a:rPr sz="1050" b="0">
                <a:solidFill>
                  <a:srgbClr val="F7F4FF"/>
                </a:solidFill>
                <a:latin typeface="Consolas"/>
                <a:ea typeface="Consolas"/>
                <a:cs typeface="Consolas"/>
              </a:rPr>
              <a:t>gabrielhuav.github.io/</a:t>
            </a:r>
          </a:p>
          <a:p>
            <a:pPr algn="l">
              <a:defRPr sz="1050" b="0">
                <a:solidFill>
                  <a:srgbClr val="F7F4FF"/>
                </a:solidFill>
                <a:latin typeface="Consolas"/>
                <a:ea typeface="Consolas"/>
                <a:cs typeface="Consolas"/>
              </a:defRPr>
            </a:pPr>
            <a:r>
              <a:rPr sz="1050" b="0">
                <a:solidFill>
                  <a:srgbClr val="F7F4FF"/>
                </a:solidFill>
                <a:latin typeface="Consolas"/>
                <a:ea typeface="Consolas"/>
                <a:cs typeface="Consolas"/>
              </a:rPr>
              <a:t>PublicMunicipalWorks_DWH/</a:t>
            </a:r>
          </a:p>
        </p:txBody>
      </p:sp>
      <p:sp>
        <p:nvSpPr>
          <p:cNvPr id="108" name="Visual Flask API + PostgreSQL: r">
            <a:extLst>
              <a:ext uri="{FF2B5EF4-FFF2-40B4-BE49-F238E27FC236}">
                <a16:creationId xmlns:a16="http://schemas.microsoft.com/office/drawing/2014/main" id="{48C492A7-BD6C-4E35-9666-73804C9B430C}"/>
              </a:ext>
            </a:extLst>
          </p:cNvPr>
          <p:cNvSpPr>
            <a:spLocks noGrp="1"/>
          </p:cNvSpPr>
          <p:nvPr/>
        </p:nvSpPr>
        <p:spPr>
          <a:xfrm>
            <a:off x="8486775" y="5800725"/>
            <a:ext cx="3133725" cy="314325"/>
          </a:xfrm>
          <a:prstGeom prst="rect">
            <a:avLst/>
          </a:prstGeom>
          <a:noFill/>
          <a:ln w="0">
            <a:noFill/>
          </a:ln>
        </p:spPr>
        <p:txBody>
          <a:bodyPr anchor="t">
            <a:noAutofit/>
          </a:bodyPr>
          <a:lstStyle/>
          <a:p>
            <a:pPr algn="l">
              <a:defRPr sz="1125" b="0">
                <a:solidFill>
                  <a:srgbClr val="CEC4DF"/>
                </a:solidFill>
                <a:latin typeface="Calibri"/>
                <a:ea typeface="Calibri"/>
                <a:cs typeface="Calibri"/>
              </a:defRPr>
            </a:pPr>
            <a:r>
              <a:rPr sz="1125" b="0">
                <a:solidFill>
                  <a:srgbClr val="CEC4DF"/>
                </a:solidFill>
                <a:latin typeface="Calibri"/>
                <a:ea typeface="Calibri"/>
                <a:cs typeface="Calibri"/>
              </a:rPr>
              <a:t>Flask API + PostgreSQL: run locally with Docker.</a:t>
            </a:r>
          </a:p>
        </p:txBody>
      </p:sp>
      <p:sp>
        <p:nvSpPr>
          <p:cNvPr id="109" name="Visual Published website screens">
            <a:extLst>
              <a:ext uri="{FF2B5EF4-FFF2-40B4-BE49-F238E27FC236}">
                <a16:creationId xmlns:a16="http://schemas.microsoft.com/office/drawing/2014/main" id="{98F2ADE7-EB83-4BD0-AF57-A154907D7FBC}"/>
              </a:ext>
            </a:extLst>
          </p:cNvPr>
          <p:cNvSpPr>
            <a:spLocks noGrp="1"/>
          </p:cNvSpPr>
          <p:nvPr/>
        </p:nvSpPr>
        <p:spPr>
          <a:xfrm>
            <a:off x="552450" y="6048375"/>
            <a:ext cx="7334250" cy="15240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Published website screenshot, 17 Sep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Three synthetic populations, never conflated</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RESULTS · SCOPE</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12 / 19</a:t>
            </a:r>
          </a:p>
        </p:txBody>
      </p:sp>
      <p:sp>
        <p:nvSpPr>
          <p:cNvPr id="5" name="Rounded Rectangle 4"/>
          <p:cNvSpPr/>
          <p:nvPr/>
        </p:nvSpPr>
        <p:spPr>
          <a:xfrm>
            <a:off x="548640" y="1783080"/>
            <a:ext cx="3200400" cy="3310128"/>
          </a:xfrm>
          <a:prstGeom prst="roundRect">
            <a:avLst>
              <a:gd name="adj" fmla="val 3428"/>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7239" y="198424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monitor.png"/>
          <p:cNvPicPr>
            <a:picLocks noChangeAspect="1"/>
          </p:cNvPicPr>
          <p:nvPr/>
        </p:nvPicPr>
        <p:blipFill>
          <a:blip r:embed="rId2"/>
          <a:stretch>
            <a:fillRect/>
          </a:stretch>
        </p:blipFill>
        <p:spPr>
          <a:xfrm>
            <a:off x="908913" y="2115921"/>
            <a:ext cx="285292" cy="285292"/>
          </a:xfrm>
          <a:prstGeom prst="rect">
            <a:avLst/>
          </a:prstGeom>
        </p:spPr>
      </p:pic>
      <p:sp>
        <p:nvSpPr>
          <p:cNvPr id="8" name="TextBox 7"/>
          <p:cNvSpPr txBox="1"/>
          <p:nvPr/>
        </p:nvSpPr>
        <p:spPr>
          <a:xfrm>
            <a:off x="1444752" y="2011680"/>
            <a:ext cx="2194560" cy="502920"/>
          </a:xfrm>
          <a:prstGeom prst="rect">
            <a:avLst/>
          </a:prstGeom>
          <a:noFill/>
        </p:spPr>
        <p:txBody>
          <a:bodyPr wrap="square" lIns="0" rIns="0" tIns="0" bIns="0" anchor="ctr">
            <a:noAutofit/>
          </a:bodyPr>
          <a:lstStyle/>
          <a:p>
            <a:pPr algn="l">
              <a:spcAft>
                <a:spcPts val="0"/>
              </a:spcAft>
            </a:pPr>
            <a:r>
              <a:rPr sz="1500" b="1" i="0" lang="en-US">
                <a:solidFill>
                  <a:srgbClr val="FFFFFF"/>
                </a:solidFill>
                <a:latin typeface="Calibri"/>
              </a:rPr>
              <a:t>Published site</a:t>
            </a:r>
          </a:p>
        </p:txBody>
      </p:sp>
      <p:sp>
        <p:nvSpPr>
          <p:cNvPr id="9" name="TextBox 8"/>
          <p:cNvSpPr txBox="1"/>
          <p:nvPr/>
        </p:nvSpPr>
        <p:spPr>
          <a:xfrm>
            <a:off x="822959" y="2606040"/>
            <a:ext cx="2743200" cy="777240"/>
          </a:xfrm>
          <a:prstGeom prst="rect">
            <a:avLst/>
          </a:prstGeom>
          <a:noFill/>
        </p:spPr>
        <p:txBody>
          <a:bodyPr wrap="square" lIns="0" rIns="0" tIns="0" bIns="0" anchor="t">
            <a:noAutofit/>
          </a:bodyPr>
          <a:lstStyle/>
          <a:p>
            <a:pPr algn="l">
              <a:spcAft>
                <a:spcPts val="0"/>
              </a:spcAft>
            </a:pPr>
            <a:r>
              <a:rPr sz="4800" b="1" i="0" lang="en-US">
                <a:solidFill>
                  <a:srgbClr val="D9C5FF"/>
                </a:solidFill>
                <a:latin typeface="Calibri"/>
              </a:rPr>
              <a:t>6</a:t>
            </a:r>
          </a:p>
        </p:txBody>
      </p:sp>
      <p:sp>
        <p:nvSpPr>
          <p:cNvPr id="10" name="TextBox 9"/>
          <p:cNvSpPr txBox="1"/>
          <p:nvPr/>
        </p:nvSpPr>
        <p:spPr>
          <a:xfrm>
            <a:off x="822959" y="3383280"/>
            <a:ext cx="2743200" cy="292608"/>
          </a:xfrm>
          <a:prstGeom prst="rect">
            <a:avLst/>
          </a:prstGeom>
          <a:noFill/>
        </p:spPr>
        <p:txBody>
          <a:bodyPr wrap="square" lIns="0" rIns="0" tIns="0" bIns="0" anchor="t">
            <a:noAutofit/>
          </a:bodyPr>
          <a:lstStyle/>
          <a:p>
            <a:pPr algn="l">
              <a:spcAft>
                <a:spcPts val="0"/>
              </a:spcAft>
            </a:pPr>
            <a:r>
              <a:rPr sz="1200" b="0" i="0" lang="en-US">
                <a:solidFill>
                  <a:srgbClr val="DDD6EE"/>
                </a:solidFill>
                <a:latin typeface="Calibri"/>
              </a:rPr>
              <a:t>works, held in the visitor's browser tab</a:t>
            </a:r>
          </a:p>
        </p:txBody>
      </p:sp>
      <p:sp>
        <p:nvSpPr>
          <p:cNvPr id="11" name="Rounded Rectangle 10"/>
          <p:cNvSpPr/>
          <p:nvPr/>
        </p:nvSpPr>
        <p:spPr>
          <a:xfrm>
            <a:off x="822959" y="4681728"/>
            <a:ext cx="2651760" cy="274320"/>
          </a:xfrm>
          <a:prstGeom prst="roundRect">
            <a:avLst>
              <a:gd name="adj" fmla="val 50000"/>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n-US">
                <a:solidFill>
                  <a:srgbClr val="DDD6EE"/>
                </a:solidFill>
                <a:latin typeface="Calibri"/>
              </a:rPr>
              <a:t>supports → interface claims · Lighthouse audit</a:t>
            </a:r>
          </a:p>
        </p:txBody>
      </p:sp>
      <p:sp>
        <p:nvSpPr>
          <p:cNvPr id="12" name="Rounded Rectangle 11"/>
          <p:cNvSpPr/>
          <p:nvPr/>
        </p:nvSpPr>
        <p:spPr>
          <a:xfrm>
            <a:off x="3931920" y="1783080"/>
            <a:ext cx="4325112" cy="3310128"/>
          </a:xfrm>
          <a:prstGeom prst="roundRect">
            <a:avLst>
              <a:gd name="adj" fmla="val 3314"/>
            </a:avLst>
          </a:prstGeom>
          <a:solidFill>
            <a:srgbClr val="B57BFF">
              <a:alpha val="14000"/>
            </a:srgbClr>
          </a:solidFill>
          <a:ln w="9525">
            <a:solidFill>
              <a:srgbClr val="B57B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160520" y="198424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atabase.png"/>
          <p:cNvPicPr>
            <a:picLocks noChangeAspect="1"/>
          </p:cNvPicPr>
          <p:nvPr/>
        </p:nvPicPr>
        <p:blipFill>
          <a:blip r:embed="rId3"/>
          <a:stretch>
            <a:fillRect/>
          </a:stretch>
        </p:blipFill>
        <p:spPr>
          <a:xfrm>
            <a:off x="4292193" y="2115921"/>
            <a:ext cx="285292" cy="285292"/>
          </a:xfrm>
          <a:prstGeom prst="rect">
            <a:avLst/>
          </a:prstGeom>
        </p:spPr>
      </p:pic>
      <p:sp>
        <p:nvSpPr>
          <p:cNvPr id="15" name="TextBox 14"/>
          <p:cNvSpPr txBox="1"/>
          <p:nvPr/>
        </p:nvSpPr>
        <p:spPr>
          <a:xfrm>
            <a:off x="4828031" y="2011680"/>
            <a:ext cx="3319272" cy="502920"/>
          </a:xfrm>
          <a:prstGeom prst="rect">
            <a:avLst/>
          </a:prstGeom>
          <a:noFill/>
        </p:spPr>
        <p:txBody>
          <a:bodyPr wrap="square" lIns="0" rIns="0" tIns="0" bIns="0" anchor="ctr">
            <a:noAutofit/>
          </a:bodyPr>
          <a:lstStyle/>
          <a:p>
            <a:pPr algn="l">
              <a:spcAft>
                <a:spcPts val="0"/>
              </a:spcAft>
            </a:pPr>
            <a:r>
              <a:rPr sz="1500" b="1" i="0" lang="en-US">
                <a:solidFill>
                  <a:srgbClr val="FFFFFF"/>
                </a:solidFill>
                <a:latin typeface="Calibri"/>
              </a:rPr>
              <a:t>Seeded warehouse</a:t>
            </a:r>
          </a:p>
        </p:txBody>
      </p:sp>
      <p:sp>
        <p:nvSpPr>
          <p:cNvPr id="16" name="TextBox 15"/>
          <p:cNvSpPr txBox="1"/>
          <p:nvPr/>
        </p:nvSpPr>
        <p:spPr>
          <a:xfrm>
            <a:off x="4206240" y="2606040"/>
            <a:ext cx="3867912" cy="777240"/>
          </a:xfrm>
          <a:prstGeom prst="rect">
            <a:avLst/>
          </a:prstGeom>
          <a:noFill/>
        </p:spPr>
        <p:txBody>
          <a:bodyPr wrap="square" lIns="0" rIns="0" tIns="0" bIns="0" anchor="t">
            <a:noAutofit/>
          </a:bodyPr>
          <a:lstStyle/>
          <a:p>
            <a:pPr algn="l">
              <a:spcAft>
                <a:spcPts val="0"/>
              </a:spcAft>
            </a:pPr>
            <a:r>
              <a:rPr sz="5000" b="1" i="0" lang="en-US">
                <a:solidFill>
                  <a:srgbClr val="D9C5FF"/>
                </a:solidFill>
                <a:latin typeface="Calibri"/>
              </a:rPr>
              <a:t>1,247</a:t>
            </a:r>
          </a:p>
        </p:txBody>
      </p:sp>
      <p:sp>
        <p:nvSpPr>
          <p:cNvPr id="17" name="TextBox 16"/>
          <p:cNvSpPr txBox="1"/>
          <p:nvPr/>
        </p:nvSpPr>
        <p:spPr>
          <a:xfrm>
            <a:off x="4206240" y="3383280"/>
            <a:ext cx="3867912" cy="292608"/>
          </a:xfrm>
          <a:prstGeom prst="rect">
            <a:avLst/>
          </a:prstGeom>
          <a:noFill/>
        </p:spPr>
        <p:txBody>
          <a:bodyPr wrap="square" lIns="0" rIns="0" tIns="0" bIns="0" anchor="t">
            <a:noAutofit/>
          </a:bodyPr>
          <a:lstStyle/>
          <a:p>
            <a:pPr algn="l">
              <a:spcAft>
                <a:spcPts val="0"/>
              </a:spcAft>
            </a:pPr>
            <a:r>
              <a:rPr sz="1200" b="0" i="0" lang="en-US">
                <a:solidFill>
                  <a:srgbClr val="DDD6EE"/>
                </a:solidFill>
                <a:latin typeface="Calibri"/>
              </a:rPr>
              <a:t>works across 55 communities</a:t>
            </a:r>
          </a:p>
        </p:txBody>
      </p:sp>
      <p:sp>
        <p:nvSpPr>
          <p:cNvPr id="18" name="Rounded Rectangle 17"/>
          <p:cNvSpPr/>
          <p:nvPr/>
        </p:nvSpPr>
        <p:spPr>
          <a:xfrm>
            <a:off x="4206240" y="4681728"/>
            <a:ext cx="3776472" cy="274320"/>
          </a:xfrm>
          <a:prstGeom prst="roundRect">
            <a:avLst>
              <a:gd name="adj" fmla="val 50000"/>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n-US">
                <a:solidFill>
                  <a:srgbClr val="DDD6EE"/>
                </a:solidFill>
                <a:latin typeface="Calibri"/>
              </a:rPr>
              <a:t>supports → structural claims · latencies</a:t>
            </a:r>
          </a:p>
        </p:txBody>
      </p:sp>
      <p:sp>
        <p:nvSpPr>
          <p:cNvPr id="19" name="Rounded Rectangle 18"/>
          <p:cNvSpPr/>
          <p:nvPr/>
        </p:nvSpPr>
        <p:spPr>
          <a:xfrm>
            <a:off x="8439912" y="1783080"/>
            <a:ext cx="3200400" cy="3310128"/>
          </a:xfrm>
          <a:prstGeom prst="roundRect">
            <a:avLst>
              <a:gd name="adj" fmla="val 3428"/>
            </a:avLst>
          </a:prstGeom>
          <a:solidFill>
            <a:srgbClr val="FFFFFF">
              <a:alpha val="7000"/>
            </a:srgbClr>
          </a:solidFill>
          <a:ln w="9525">
            <a:solidFill>
              <a:srgbClr val="D9C5F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68512" y="1984248"/>
            <a:ext cx="548640" cy="548640"/>
          </a:xfrm>
          <a:prstGeom prst="ellipse">
            <a:avLst/>
          </a:prstGeom>
          <a:solidFill>
            <a:srgbClr val="B57BFF">
              <a:alpha val="18000"/>
            </a:srgbClr>
          </a:solidFill>
          <a:ln w="15875">
            <a:solidFill>
              <a:srgbClr val="B57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radar.png"/>
          <p:cNvPicPr>
            <a:picLocks noChangeAspect="1"/>
          </p:cNvPicPr>
          <p:nvPr/>
        </p:nvPicPr>
        <p:blipFill>
          <a:blip r:embed="rId4"/>
          <a:stretch>
            <a:fillRect/>
          </a:stretch>
        </p:blipFill>
        <p:spPr>
          <a:xfrm>
            <a:off x="8800185" y="2115921"/>
            <a:ext cx="285292" cy="285292"/>
          </a:xfrm>
          <a:prstGeom prst="rect">
            <a:avLst/>
          </a:prstGeom>
        </p:spPr>
      </p:pic>
      <p:sp>
        <p:nvSpPr>
          <p:cNvPr id="22" name="TextBox 21"/>
          <p:cNvSpPr txBox="1"/>
          <p:nvPr/>
        </p:nvSpPr>
        <p:spPr>
          <a:xfrm>
            <a:off x="9336024" y="2011680"/>
            <a:ext cx="2194560" cy="502920"/>
          </a:xfrm>
          <a:prstGeom prst="rect">
            <a:avLst/>
          </a:prstGeom>
          <a:noFill/>
        </p:spPr>
        <p:txBody>
          <a:bodyPr wrap="square" lIns="0" rIns="0" tIns="0" bIns="0" anchor="ctr">
            <a:noAutofit/>
          </a:bodyPr>
          <a:lstStyle/>
          <a:p>
            <a:pPr algn="l">
              <a:spcAft>
                <a:spcPts val="0"/>
              </a:spcAft>
            </a:pPr>
            <a:r>
              <a:rPr sz="1500" b="1" i="0" lang="en-US">
                <a:solidFill>
                  <a:srgbClr val="FFFFFF"/>
                </a:solidFill>
                <a:latin typeface="Calibri"/>
              </a:rPr>
              <a:t>Detection dataset</a:t>
            </a:r>
          </a:p>
        </p:txBody>
      </p:sp>
      <p:sp>
        <p:nvSpPr>
          <p:cNvPr id="23" name="TextBox 22"/>
          <p:cNvSpPr txBox="1"/>
          <p:nvPr/>
        </p:nvSpPr>
        <p:spPr>
          <a:xfrm>
            <a:off x="8714232" y="2606040"/>
            <a:ext cx="2743200" cy="777240"/>
          </a:xfrm>
          <a:prstGeom prst="rect">
            <a:avLst/>
          </a:prstGeom>
          <a:noFill/>
        </p:spPr>
        <p:txBody>
          <a:bodyPr wrap="square" lIns="0" rIns="0" tIns="0" bIns="0" anchor="t">
            <a:noAutofit/>
          </a:bodyPr>
          <a:lstStyle/>
          <a:p>
            <a:pPr algn="l">
              <a:spcAft>
                <a:spcPts val="0"/>
              </a:spcAft>
            </a:pPr>
            <a:r>
              <a:rPr sz="4800" b="1" i="0" lang="en-US">
                <a:solidFill>
                  <a:srgbClr val="D9C5FF"/>
                </a:solidFill>
                <a:latin typeface="Calibri"/>
              </a:rPr>
              <a:t>≈2,580</a:t>
            </a:r>
          </a:p>
        </p:txBody>
      </p:sp>
      <p:sp>
        <p:nvSpPr>
          <p:cNvPr id="24" name="TextBox 23"/>
          <p:cNvSpPr txBox="1"/>
          <p:nvPr/>
        </p:nvSpPr>
        <p:spPr>
          <a:xfrm>
            <a:off x="8714232" y="3383280"/>
            <a:ext cx="2743200" cy="292608"/>
          </a:xfrm>
          <a:prstGeom prst="rect">
            <a:avLst/>
          </a:prstGeom>
          <a:noFill/>
        </p:spPr>
        <p:txBody>
          <a:bodyPr wrap="square" lIns="0" rIns="0" tIns="0" bIns="0" anchor="t">
            <a:noAutofit/>
          </a:bodyPr>
          <a:lstStyle/>
          <a:p>
            <a:pPr algn="l">
              <a:spcAft>
                <a:spcPts val="0"/>
              </a:spcAft>
            </a:pPr>
            <a:r>
              <a:rPr sz="1200" b="0" i="0" lang="en-US">
                <a:solidFill>
                  <a:srgbClr val="DDD6EE"/>
                </a:solidFill>
                <a:latin typeface="Calibri"/>
              </a:rPr>
              <a:t>work–period records per seed</a:t>
            </a:r>
          </a:p>
        </p:txBody>
      </p:sp>
      <p:sp>
        <p:nvSpPr>
          <p:cNvPr id="25" name="Rounded Rectangle 24"/>
          <p:cNvSpPr/>
          <p:nvPr/>
        </p:nvSpPr>
        <p:spPr>
          <a:xfrm>
            <a:off x="8714232" y="4681728"/>
            <a:ext cx="2651760" cy="274320"/>
          </a:xfrm>
          <a:prstGeom prst="roundRect">
            <a:avLst>
              <a:gd name="adj" fmla="val 50000"/>
            </a:avLst>
          </a:prstGeom>
          <a:solidFill>
            <a:srgbClr val="FFFFFF">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n-US">
                <a:solidFill>
                  <a:srgbClr val="DDD6EE"/>
                </a:solidFill>
                <a:latin typeface="Calibri"/>
              </a:rPr>
              <a:t>supports → the detection table only</a:t>
            </a:r>
          </a:p>
        </p:txBody>
      </p:sp>
      <p:sp>
        <p:nvSpPr>
          <p:cNvPr id="26" name="TextBox 25"/>
          <p:cNvSpPr txBox="1"/>
          <p:nvPr/>
        </p:nvSpPr>
        <p:spPr>
          <a:xfrm>
            <a:off x="822960" y="3794760"/>
            <a:ext cx="2743200" cy="731520"/>
          </a:xfrm>
          <a:prstGeom prst="rect">
            <a:avLst/>
          </a:prstGeom>
          <a:noFill/>
        </p:spPr>
        <p:txBody>
          <a:bodyPr wrap="square" lIns="0" rIns="0" tIns="0" bIns="0" anchor="t">
            <a:noAutofit/>
          </a:bodyPr>
          <a:lstStyle/>
          <a:p>
            <a:pPr algn="l">
              <a:spcAft>
                <a:spcPts val="0"/>
              </a:spcAft>
            </a:pPr>
            <a:r>
              <a:rPr sz="1050" b="0" i="1" lang="en-US">
                <a:solidFill>
                  <a:srgbClr val="ADA3C8"/>
                </a:solidFill>
                <a:latin typeface="Calibri"/>
              </a:rPr>
              <a:t>the only population a visitor ever sees</a:t>
            </a:r>
          </a:p>
        </p:txBody>
      </p:sp>
      <p:sp>
        <p:nvSpPr>
          <p:cNvPr id="27" name="TextBox 26"/>
          <p:cNvSpPr txBox="1"/>
          <p:nvPr/>
        </p:nvSpPr>
        <p:spPr>
          <a:xfrm>
            <a:off x="4206240" y="3730752"/>
            <a:ext cx="1298448" cy="457200"/>
          </a:xfrm>
          <a:prstGeom prst="rect">
            <a:avLst/>
          </a:prstGeom>
          <a:noFill/>
        </p:spPr>
        <p:txBody>
          <a:bodyPr wrap="square" lIns="0" rIns="0" tIns="0" bIns="0" anchor="t">
            <a:noAutofit/>
          </a:bodyPr>
          <a:lstStyle/>
          <a:p>
            <a:pPr algn="l">
              <a:lnSpc>
                <a:spcPct val="90000"/>
              </a:lnSpc>
              <a:spcAft>
                <a:spcPts val="0"/>
              </a:spcAft>
            </a:pPr>
            <a:r>
              <a:rPr sz="1300" b="1" i="0" lang="en-US">
                <a:solidFill>
                  <a:srgbClr val="FFFFFF"/>
                </a:solidFill>
                <a:latin typeface="Calibri"/>
              </a:rPr>
              <a:t>$127.4 M</a:t>
            </a:r>
          </a:p>
          <a:p>
            <a:pPr algn="l">
              <a:lnSpc>
                <a:spcPct val="90000"/>
              </a:lnSpc>
              <a:spcAft>
                <a:spcPts val="0"/>
              </a:spcAft>
            </a:pPr>
            <a:r>
              <a:rPr sz="900" b="0" i="0" lang="en-US">
                <a:solidFill>
                  <a:srgbClr val="ADA3C8"/>
                </a:solidFill>
                <a:latin typeface="Calibri"/>
              </a:rPr>
              <a:t>budget</a:t>
            </a:r>
          </a:p>
        </p:txBody>
      </p:sp>
      <p:sp>
        <p:nvSpPr>
          <p:cNvPr id="28" name="TextBox 27"/>
          <p:cNvSpPr txBox="1"/>
          <p:nvPr/>
        </p:nvSpPr>
        <p:spPr>
          <a:xfrm>
            <a:off x="5532120" y="3730752"/>
            <a:ext cx="1298448" cy="457200"/>
          </a:xfrm>
          <a:prstGeom prst="rect">
            <a:avLst/>
          </a:prstGeom>
          <a:noFill/>
        </p:spPr>
        <p:txBody>
          <a:bodyPr wrap="square" lIns="0" rIns="0" tIns="0" bIns="0" anchor="t">
            <a:noAutofit/>
          </a:bodyPr>
          <a:lstStyle/>
          <a:p>
            <a:pPr algn="l">
              <a:lnSpc>
                <a:spcPct val="90000"/>
              </a:lnSpc>
              <a:spcAft>
                <a:spcPts val="0"/>
              </a:spcAft>
            </a:pPr>
            <a:r>
              <a:rPr sz="1300" b="1" i="0" lang="en-US">
                <a:solidFill>
                  <a:srgbClr val="FFFFFF"/>
                </a:solidFill>
                <a:latin typeface="Calibri"/>
              </a:rPr>
              <a:t>8,934</a:t>
            </a:r>
          </a:p>
          <a:p>
            <a:pPr algn="l">
              <a:lnSpc>
                <a:spcPct val="90000"/>
              </a:lnSpc>
              <a:spcAft>
                <a:spcPts val="0"/>
              </a:spcAft>
            </a:pPr>
            <a:r>
              <a:rPr sz="900" b="0" i="0" lang="en-US">
                <a:solidFill>
                  <a:srgbClr val="ADA3C8"/>
                </a:solidFill>
                <a:latin typeface="Calibri"/>
              </a:rPr>
              <a:t>audit events</a:t>
            </a:r>
          </a:p>
        </p:txBody>
      </p:sp>
      <p:sp>
        <p:nvSpPr>
          <p:cNvPr id="29" name="TextBox 28"/>
          <p:cNvSpPr txBox="1"/>
          <p:nvPr/>
        </p:nvSpPr>
        <p:spPr>
          <a:xfrm>
            <a:off x="6858000" y="3730752"/>
            <a:ext cx="1298448" cy="457200"/>
          </a:xfrm>
          <a:prstGeom prst="rect">
            <a:avLst/>
          </a:prstGeom>
          <a:noFill/>
        </p:spPr>
        <p:txBody>
          <a:bodyPr wrap="square" lIns="0" rIns="0" tIns="0" bIns="0" anchor="t">
            <a:noAutofit/>
          </a:bodyPr>
          <a:lstStyle/>
          <a:p>
            <a:pPr algn="l">
              <a:lnSpc>
                <a:spcPct val="90000"/>
              </a:lnSpc>
              <a:spcAft>
                <a:spcPts val="0"/>
              </a:spcAft>
            </a:pPr>
            <a:r>
              <a:rPr sz="1300" b="1" i="0" lang="en-US">
                <a:solidFill>
                  <a:srgbClr val="FFFFFF"/>
                </a:solidFill>
                <a:latin typeface="Calibri"/>
              </a:rPr>
              <a:t>3,421</a:t>
            </a:r>
          </a:p>
          <a:p>
            <a:pPr algn="l">
              <a:lnSpc>
                <a:spcPct val="90000"/>
              </a:lnSpc>
              <a:spcAft>
                <a:spcPts val="0"/>
              </a:spcAft>
            </a:pPr>
            <a:r>
              <a:rPr sz="900" b="0" i="0" lang="en-US">
                <a:solidFill>
                  <a:srgbClr val="ADA3C8"/>
                </a:solidFill>
                <a:latin typeface="Calibri"/>
              </a:rPr>
              <a:t>photo evidence</a:t>
            </a:r>
          </a:p>
        </p:txBody>
      </p:sp>
      <p:sp>
        <p:nvSpPr>
          <p:cNvPr id="30" name="TextBox 29"/>
          <p:cNvSpPr txBox="1"/>
          <p:nvPr/>
        </p:nvSpPr>
        <p:spPr>
          <a:xfrm>
            <a:off x="4206240" y="4187952"/>
            <a:ext cx="1298448" cy="457200"/>
          </a:xfrm>
          <a:prstGeom prst="rect">
            <a:avLst/>
          </a:prstGeom>
          <a:noFill/>
        </p:spPr>
        <p:txBody>
          <a:bodyPr wrap="square" lIns="0" rIns="0" tIns="0" bIns="0" anchor="t">
            <a:noAutofit/>
          </a:bodyPr>
          <a:lstStyle/>
          <a:p>
            <a:pPr algn="l">
              <a:lnSpc>
                <a:spcPct val="90000"/>
              </a:lnSpc>
              <a:spcAft>
                <a:spcPts val="0"/>
              </a:spcAft>
            </a:pPr>
            <a:r>
              <a:rPr sz="1300" b="1" i="0" lang="en-US">
                <a:solidFill>
                  <a:srgbClr val="FFFFFF"/>
                </a:solidFill>
                <a:latin typeface="Calibri"/>
              </a:rPr>
              <a:t>2,156</a:t>
            </a:r>
          </a:p>
          <a:p>
            <a:pPr algn="l">
              <a:lnSpc>
                <a:spcPct val="90000"/>
              </a:lnSpc>
              <a:spcAft>
                <a:spcPts val="0"/>
              </a:spcAft>
            </a:pPr>
            <a:r>
              <a:rPr sz="900" b="0" i="0" lang="en-US">
                <a:solidFill>
                  <a:srgbClr val="ADA3C8"/>
                </a:solidFill>
                <a:latin typeface="Calibri"/>
              </a:rPr>
              <a:t>proposals</a:t>
            </a:r>
          </a:p>
        </p:txBody>
      </p:sp>
      <p:sp>
        <p:nvSpPr>
          <p:cNvPr id="31" name="TextBox 30"/>
          <p:cNvSpPr txBox="1"/>
          <p:nvPr/>
        </p:nvSpPr>
        <p:spPr>
          <a:xfrm>
            <a:off x="5532120" y="4187952"/>
            <a:ext cx="1298448" cy="457200"/>
          </a:xfrm>
          <a:prstGeom prst="rect">
            <a:avLst/>
          </a:prstGeom>
          <a:noFill/>
        </p:spPr>
        <p:txBody>
          <a:bodyPr wrap="square" lIns="0" rIns="0" tIns="0" bIns="0" anchor="t">
            <a:noAutofit/>
          </a:bodyPr>
          <a:lstStyle/>
          <a:p>
            <a:pPr algn="l">
              <a:lnSpc>
                <a:spcPct val="90000"/>
              </a:lnSpc>
              <a:spcAft>
                <a:spcPts val="0"/>
              </a:spcAft>
            </a:pPr>
            <a:r>
              <a:rPr sz="1300" b="1" i="0" lang="en-US">
                <a:solidFill>
                  <a:srgbClr val="FFFFFF"/>
                </a:solidFill>
                <a:latin typeface="Calibri"/>
              </a:rPr>
              <a:t>8,723</a:t>
            </a:r>
          </a:p>
          <a:p>
            <a:pPr algn="l">
              <a:lnSpc>
                <a:spcPct val="90000"/>
              </a:lnSpc>
              <a:spcAft>
                <a:spcPts val="0"/>
              </a:spcAft>
            </a:pPr>
            <a:r>
              <a:rPr sz="900" b="0" i="0" lang="en-US">
                <a:solidFill>
                  <a:srgbClr val="ADA3C8"/>
                </a:solidFill>
                <a:latin typeface="Calibri"/>
              </a:rPr>
              <a:t>votes</a:t>
            </a:r>
          </a:p>
        </p:txBody>
      </p:sp>
      <p:sp>
        <p:nvSpPr>
          <p:cNvPr id="32" name="TextBox 31"/>
          <p:cNvSpPr txBox="1"/>
          <p:nvPr/>
        </p:nvSpPr>
        <p:spPr>
          <a:xfrm>
            <a:off x="6858000" y="4187952"/>
            <a:ext cx="1298448" cy="457200"/>
          </a:xfrm>
          <a:prstGeom prst="rect">
            <a:avLst/>
          </a:prstGeom>
          <a:noFill/>
        </p:spPr>
        <p:txBody>
          <a:bodyPr wrap="square" lIns="0" rIns="0" tIns="0" bIns="0" anchor="t">
            <a:noAutofit/>
          </a:bodyPr>
          <a:lstStyle/>
          <a:p>
            <a:pPr algn="l">
              <a:lnSpc>
                <a:spcPct val="90000"/>
              </a:lnSpc>
              <a:spcAft>
                <a:spcPts val="0"/>
              </a:spcAft>
            </a:pPr>
            <a:r>
              <a:rPr sz="1300" b="1" i="0" lang="en-US">
                <a:solidFill>
                  <a:srgbClr val="FFFFFF"/>
                </a:solidFill>
                <a:latin typeface="Calibri"/>
              </a:rPr>
              <a:t>29,928</a:t>
            </a:r>
          </a:p>
          <a:p>
            <a:pPr algn="l">
              <a:lnSpc>
                <a:spcPct val="90000"/>
              </a:lnSpc>
              <a:spcAft>
                <a:spcPts val="0"/>
              </a:spcAft>
            </a:pPr>
            <a:r>
              <a:rPr sz="900" b="0" i="0" lang="en-US">
                <a:solidFill>
                  <a:srgbClr val="ADA3C8"/>
                </a:solidFill>
                <a:latin typeface="Calibri"/>
              </a:rPr>
              <a:t>monthly rows</a:t>
            </a:r>
          </a:p>
        </p:txBody>
      </p:sp>
      <p:sp>
        <p:nvSpPr>
          <p:cNvPr id="33" name="TextBox 32"/>
          <p:cNvSpPr txBox="1"/>
          <p:nvPr/>
        </p:nvSpPr>
        <p:spPr>
          <a:xfrm>
            <a:off x="8714232" y="3749039"/>
            <a:ext cx="2743200" cy="822960"/>
          </a:xfrm>
          <a:prstGeom prst="rect">
            <a:avLst/>
          </a:prstGeom>
          <a:noFill/>
        </p:spPr>
        <p:txBody>
          <a:bodyPr wrap="square" lIns="0" rIns="0" tIns="0" bIns="0" anchor="t">
            <a:noAutofit/>
          </a:bodyPr>
          <a:lstStyle/>
          <a:p>
            <a:pPr algn="l">
              <a:spcAft>
                <a:spcPts val="200"/>
              </a:spcAft>
            </a:pPr>
            <a:r>
              <a:rPr sz="1050" b="1" i="0" lang="en-US">
                <a:solidFill>
                  <a:srgbClr val="FFFFFF"/>
                </a:solidFill>
                <a:latin typeface="Calibri"/>
              </a:rPr>
              <a:t>10 seeds × 4 prevalences</a:t>
            </a:r>
          </a:p>
          <a:p>
            <a:pPr algn="l">
              <a:spcAft>
                <a:spcPts val="0"/>
              </a:spcAft>
            </a:pPr>
            <a:r>
              <a:rPr sz="1050" b="0" i="0" lang="en-US">
                <a:solidFill>
                  <a:srgbClr val="ADA3C8"/>
                </a:solidFill>
                <a:latin typeface="Calibri"/>
              </a:rPr>
              <a:t>5 %, 10 %, 15 %, 20 % latent anomalies</a:t>
            </a:r>
          </a:p>
        </p:txBody>
      </p:sp>
      <p:sp>
        <p:nvSpPr>
          <p:cNvPr id="34" name="Rounded Rectangle 33"/>
          <p:cNvSpPr/>
          <p:nvPr/>
        </p:nvSpPr>
        <p:spPr>
          <a:xfrm>
            <a:off x="548640" y="5285232"/>
            <a:ext cx="11091672" cy="640080"/>
          </a:xfrm>
          <a:prstGeom prst="roundRect">
            <a:avLst>
              <a:gd name="adj" fmla="val 17142"/>
            </a:avLst>
          </a:prstGeom>
          <a:solidFill>
            <a:srgbClr val="FBBF24">
              <a:alpha val="10000"/>
            </a:srgbClr>
          </a:solidFill>
          <a:ln w="9525">
            <a:solidFill>
              <a:srgbClr val="FBBF2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04088" y="5394959"/>
            <a:ext cx="420624" cy="420624"/>
          </a:xfrm>
          <a:prstGeom prst="ellipse">
            <a:avLst/>
          </a:prstGeom>
          <a:solidFill>
            <a:srgbClr val="FBBF24">
              <a:alpha val="18000"/>
            </a:srgbClr>
          </a:solidFill>
          <a:ln w="1587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alert.png"/>
          <p:cNvPicPr>
            <a:picLocks noChangeAspect="1"/>
          </p:cNvPicPr>
          <p:nvPr/>
        </p:nvPicPr>
        <p:blipFill>
          <a:blip r:embed="rId5"/>
          <a:stretch>
            <a:fillRect/>
          </a:stretch>
        </p:blipFill>
        <p:spPr>
          <a:xfrm>
            <a:off x="805037" y="5495909"/>
            <a:ext cx="218724" cy="218724"/>
          </a:xfrm>
          <a:prstGeom prst="rect">
            <a:avLst/>
          </a:prstGeom>
        </p:spPr>
      </p:pic>
      <p:sp>
        <p:nvSpPr>
          <p:cNvPr id="37" name="TextBox 36"/>
          <p:cNvSpPr txBox="1"/>
          <p:nvPr/>
        </p:nvSpPr>
        <p:spPr>
          <a:xfrm>
            <a:off x="1280160" y="5303520"/>
            <a:ext cx="10241280" cy="603504"/>
          </a:xfrm>
          <a:prstGeom prst="rect">
            <a:avLst/>
          </a:prstGeom>
          <a:noFill/>
        </p:spPr>
        <p:txBody>
          <a:bodyPr wrap="square" lIns="0" rIns="0" tIns="0" bIns="0" anchor="ctr">
            <a:noAutofit/>
          </a:bodyPr>
          <a:lstStyle/>
          <a:p>
            <a:pPr algn="l">
              <a:spcAft>
                <a:spcPts val="0"/>
              </a:spcAft>
            </a:pPr>
            <a:r>
              <a:rPr sz="1300" b="1" i="0" lang="en-US">
                <a:solidFill>
                  <a:srgbClr val="FBBF24"/>
                </a:solidFill>
                <a:latin typeface="Calibri"/>
              </a:rPr>
              <a:t>Measured vs projected are kept apart. </a:t>
            </a:r>
            <a:r>
              <a:rPr sz="1300" b="0" i="0" lang="en-US">
                <a:solidFill>
                  <a:srgbClr val="FFFFFF"/>
                </a:solidFill>
                <a:latin typeface="Calibri"/>
              </a:rPr>
              <a:t>No number in this talk is a measurement on real municipal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Detection: a rule an operator can actually run</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DETECTION MODULE</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13 / 19</a:t>
            </a:r>
          </a:p>
        </p:txBody>
      </p:sp>
      <p:pic>
        <p:nvPicPr>
          <p:cNvPr id="100" name="Picture 100" descr="Embedded illustration or system screenshot"/>
          <p:cNvPicPr>
            <a:picLocks noChangeAspect="1"/>
          </p:cNvPicPr>
          <p:nvPr/>
        </p:nvPicPr>
        <p:blipFill>
          <a:blip r:embed="rId6"/>
          <a:srcRect l="0" r="66667" t="0" b="0"/>
          <a:stretch>
            <a:fillRect/>
          </a:stretch>
        </p:blipFill>
        <p:spPr>
          <a:xfrm>
            <a:off x="1214438" y="1704975"/>
            <a:ext cx="2238375" cy="2238375"/>
          </a:xfrm>
          <a:prstGeom prst="rect">
            <a:avLst/>
          </a:prstGeom>
        </p:spPr>
      </p:pic>
      <p:pic>
        <p:nvPicPr>
          <p:cNvPr id="101" name="Picture 101" descr="Embedded illustration or system screenshot"/>
          <p:cNvPicPr>
            <a:picLocks noChangeAspect="1"/>
          </p:cNvPicPr>
          <p:nvPr/>
        </p:nvPicPr>
        <p:blipFill>
          <a:blip r:embed="rId7"/>
          <a:srcRect l="33333" r="33333" t="0" b="0"/>
          <a:stretch>
            <a:fillRect/>
          </a:stretch>
        </p:blipFill>
        <p:spPr>
          <a:xfrm>
            <a:off x="4967288" y="1704975"/>
            <a:ext cx="2238375" cy="2238375"/>
          </a:xfrm>
          <a:prstGeom prst="rect">
            <a:avLst/>
          </a:prstGeom>
        </p:spPr>
      </p:pic>
      <p:pic>
        <p:nvPicPr>
          <p:cNvPr id="102" name="Picture 102" descr="Embedded illustration or system screenshot"/>
          <p:cNvPicPr>
            <a:picLocks noChangeAspect="1"/>
          </p:cNvPicPr>
          <p:nvPr/>
        </p:nvPicPr>
        <p:blipFill>
          <a:blip r:embed="rId8"/>
          <a:srcRect l="66667" r="0" t="0" b="0"/>
          <a:stretch>
            <a:fillRect/>
          </a:stretch>
        </p:blipFill>
        <p:spPr>
          <a:xfrm>
            <a:off x="8720138" y="1704975"/>
            <a:ext cx="2238375" cy="2238375"/>
          </a:xfrm>
          <a:prstGeom prst="rect">
            <a:avLst/>
          </a:prstGeom>
        </p:spPr>
      </p:pic>
      <p:sp>
        <p:nvSpPr>
          <p:cNvPr id="103" name="Visual C1  Cost outlier">
            <a:extLst>
              <a:ext uri="{FF2B5EF4-FFF2-40B4-BE49-F238E27FC236}">
                <a16:creationId xmlns:a16="http://schemas.microsoft.com/office/drawing/2014/main" id="{089B3935-1150-4A77-9C25-B8C50A5099FE}"/>
              </a:ext>
            </a:extLst>
          </p:cNvPr>
          <p:cNvSpPr>
            <a:spLocks noGrp="1"/>
          </p:cNvSpPr>
          <p:nvPr/>
        </p:nvSpPr>
        <p:spPr>
          <a:xfrm>
            <a:off x="666750" y="4048125"/>
            <a:ext cx="342900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C1  Cost outlier</a:t>
            </a:r>
          </a:p>
        </p:txBody>
      </p:sp>
      <p:sp>
        <p:nvSpPr>
          <p:cNvPr id="104" name="Visual |bᵢ − μᵦ| / σᵦ &gt; 3">
            <a:extLst>
              <a:ext uri="{FF2B5EF4-FFF2-40B4-BE49-F238E27FC236}">
                <a16:creationId xmlns:a16="http://schemas.microsoft.com/office/drawing/2014/main" id="{E825DFA7-041F-4318-BCB8-0753C7559313}"/>
              </a:ext>
            </a:extLst>
          </p:cNvPr>
          <p:cNvSpPr>
            <a:spLocks noGrp="1"/>
          </p:cNvSpPr>
          <p:nvPr/>
        </p:nvSpPr>
        <p:spPr>
          <a:xfrm>
            <a:off x="666750" y="4448175"/>
            <a:ext cx="3429000" cy="571500"/>
          </a:xfrm>
          <a:prstGeom prst="rect">
            <a:avLst/>
          </a:prstGeom>
          <a:noFill/>
          <a:ln w="0">
            <a:noFill/>
          </a:ln>
        </p:spPr>
        <p:txBody>
          <a:bodyPr anchor="t">
            <a:noAutofit/>
          </a:bodyPr>
          <a:lstStyle/>
          <a:p>
            <a:pPr algn="l">
              <a:defRPr sz="1875" b="1">
                <a:solidFill>
                  <a:srgbClr val="F7F4FF"/>
                </a:solidFill>
                <a:latin typeface="Calibri"/>
                <a:ea typeface="Calibri"/>
                <a:cs typeface="Calibri"/>
              </a:defRPr>
            </a:pPr>
            <a:r>
              <a:rPr sz="1875" b="1">
                <a:solidFill>
                  <a:srgbClr val="F7F4FF"/>
                </a:solidFill>
                <a:latin typeface="Calibri"/>
                <a:ea typeface="Calibri"/>
                <a:cs typeface="Calibri"/>
              </a:rPr>
              <a:t>|b − μ| / σ &gt; 3</a:t>
            </a:r>
          </a:p>
        </p:txBody>
      </p:sp>
      <p:sp>
        <p:nvSpPr>
          <p:cNvPr id="105" name="Visual Executed amount against t">
            <a:extLst>
              <a:ext uri="{FF2B5EF4-FFF2-40B4-BE49-F238E27FC236}">
                <a16:creationId xmlns:a16="http://schemas.microsoft.com/office/drawing/2014/main" id="{F9ADCC80-BF56-4104-95AF-93F1685E2B22}"/>
              </a:ext>
            </a:extLst>
          </p:cNvPr>
          <p:cNvSpPr>
            <a:spLocks noGrp="1"/>
          </p:cNvSpPr>
          <p:nvPr/>
        </p:nvSpPr>
        <p:spPr>
          <a:xfrm>
            <a:off x="666750" y="5124450"/>
            <a:ext cx="3333750" cy="476250"/>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Executed amount against the period mean</a:t>
            </a:r>
          </a:p>
        </p:txBody>
      </p:sp>
      <p:sp>
        <p:nvSpPr>
          <p:cNvPr id="106" name="Visual C2  Extreme delay">
            <a:extLst>
              <a:ext uri="{FF2B5EF4-FFF2-40B4-BE49-F238E27FC236}">
                <a16:creationId xmlns:a16="http://schemas.microsoft.com/office/drawing/2014/main" id="{52489B1B-61A3-4B3F-B11A-80FA236732A7}"/>
              </a:ext>
            </a:extLst>
          </p:cNvPr>
          <p:cNvSpPr>
            <a:spLocks noGrp="1"/>
          </p:cNvSpPr>
          <p:nvPr/>
        </p:nvSpPr>
        <p:spPr>
          <a:xfrm>
            <a:off x="4419600" y="4048125"/>
            <a:ext cx="342900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C2  Extreme delay</a:t>
            </a:r>
          </a:p>
        </p:txBody>
      </p:sp>
      <p:sp>
        <p:nvSpPr>
          <p:cNvPr id="107" name="Visual dᵢ &gt; 120 days">
            <a:extLst>
              <a:ext uri="{FF2B5EF4-FFF2-40B4-BE49-F238E27FC236}">
                <a16:creationId xmlns:a16="http://schemas.microsoft.com/office/drawing/2014/main" id="{77D87044-F33B-4C6A-A0C3-BD72E690402B}"/>
              </a:ext>
            </a:extLst>
          </p:cNvPr>
          <p:cNvSpPr>
            <a:spLocks noGrp="1"/>
          </p:cNvSpPr>
          <p:nvPr/>
        </p:nvSpPr>
        <p:spPr>
          <a:xfrm>
            <a:off x="4419600" y="4448175"/>
            <a:ext cx="3429000" cy="571500"/>
          </a:xfrm>
          <a:prstGeom prst="rect">
            <a:avLst/>
          </a:prstGeom>
          <a:noFill/>
          <a:ln w="0">
            <a:noFill/>
          </a:ln>
        </p:spPr>
        <p:txBody>
          <a:bodyPr anchor="t">
            <a:noAutofit/>
          </a:bodyPr>
          <a:lstStyle/>
          <a:p>
            <a:pPr algn="l">
              <a:defRPr sz="1875" b="1">
                <a:solidFill>
                  <a:srgbClr val="F7F4FF"/>
                </a:solidFill>
                <a:latin typeface="Calibri"/>
                <a:ea typeface="Calibri"/>
                <a:cs typeface="Calibri"/>
              </a:defRPr>
            </a:pPr>
            <a:r>
              <a:rPr sz="1875" b="1">
                <a:solidFill>
                  <a:srgbClr val="F7F4FF"/>
                </a:solidFill>
                <a:latin typeface="Calibri"/>
                <a:ea typeface="Calibri"/>
                <a:cs typeface="Calibri"/>
              </a:rPr>
              <a:t>dᵢ &gt; 120 days</a:t>
            </a:r>
          </a:p>
        </p:txBody>
      </p:sp>
      <p:sp>
        <p:nvSpPr>
          <p:cNvPr id="108" name="Visual Recorded slippage against">
            <a:extLst>
              <a:ext uri="{FF2B5EF4-FFF2-40B4-BE49-F238E27FC236}">
                <a16:creationId xmlns:a16="http://schemas.microsoft.com/office/drawing/2014/main" id="{CBA3DB22-0D41-463A-98BF-C809063374EB}"/>
              </a:ext>
            </a:extLst>
          </p:cNvPr>
          <p:cNvSpPr>
            <a:spLocks noGrp="1"/>
          </p:cNvSpPr>
          <p:nvPr/>
        </p:nvSpPr>
        <p:spPr>
          <a:xfrm>
            <a:off x="4419600" y="5124450"/>
            <a:ext cx="3333750" cy="476250"/>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Recorded slippage against the schedule</a:t>
            </a:r>
          </a:p>
        </p:txBody>
      </p:sp>
      <p:sp>
        <p:nvSpPr>
          <p:cNvPr id="109" name="Visual C3  Progress inconsistenc">
            <a:extLst>
              <a:ext uri="{FF2B5EF4-FFF2-40B4-BE49-F238E27FC236}">
                <a16:creationId xmlns:a16="http://schemas.microsoft.com/office/drawing/2014/main" id="{E6C0E5E8-026F-4755-970A-807B9C5135DC}"/>
              </a:ext>
            </a:extLst>
          </p:cNvPr>
          <p:cNvSpPr>
            <a:spLocks noGrp="1"/>
          </p:cNvSpPr>
          <p:nvPr/>
        </p:nvSpPr>
        <p:spPr>
          <a:xfrm>
            <a:off x="8172450" y="4048125"/>
            <a:ext cx="3429000" cy="34290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C3  Progress inconsistency</a:t>
            </a:r>
          </a:p>
        </p:txBody>
      </p:sp>
      <p:sp>
        <p:nvSpPr>
          <p:cNvPr id="110" name="Visual Physical &lt; 30%&#10;Financial ">
            <a:extLst>
              <a:ext uri="{FF2B5EF4-FFF2-40B4-BE49-F238E27FC236}">
                <a16:creationId xmlns:a16="http://schemas.microsoft.com/office/drawing/2014/main" id="{1EF6FC79-5497-43AB-BBA7-0B90B7B35185}"/>
              </a:ext>
            </a:extLst>
          </p:cNvPr>
          <p:cNvSpPr>
            <a:spLocks noGrp="1"/>
          </p:cNvSpPr>
          <p:nvPr/>
        </p:nvSpPr>
        <p:spPr>
          <a:xfrm>
            <a:off x="8172450" y="4448175"/>
            <a:ext cx="3429000" cy="571500"/>
          </a:xfrm>
          <a:prstGeom prst="rect">
            <a:avLst/>
          </a:prstGeom>
          <a:noFill/>
          <a:ln w="0">
            <a:noFill/>
          </a:ln>
        </p:spPr>
        <p:txBody>
          <a:bodyPr anchor="t">
            <a:noAutofit/>
          </a:bodyPr>
          <a:lstStyle/>
          <a:p>
            <a:pPr algn="l">
              <a:defRPr sz="1875" b="1">
                <a:solidFill>
                  <a:srgbClr val="F7F4FF"/>
                </a:solidFill>
                <a:latin typeface="Calibri"/>
                <a:ea typeface="Calibri"/>
                <a:cs typeface="Calibri"/>
              </a:defRPr>
            </a:pPr>
            <a:r>
              <a:rPr sz="1875" b="1">
                <a:solidFill>
                  <a:srgbClr val="F7F4FF"/>
                </a:solidFill>
                <a:latin typeface="Calibri"/>
                <a:ea typeface="Calibri"/>
                <a:cs typeface="Calibri"/>
              </a:rPr>
              <a:t>Physical &lt; 30%</a:t>
            </a:r>
          </a:p>
          <a:p>
            <a:pPr algn="l">
              <a:defRPr sz="1875" b="1">
                <a:solidFill>
                  <a:srgbClr val="F7F4FF"/>
                </a:solidFill>
                <a:latin typeface="Calibri"/>
                <a:ea typeface="Calibri"/>
                <a:cs typeface="Calibri"/>
              </a:defRPr>
            </a:pPr>
            <a:r>
              <a:rPr sz="1875" b="1">
                <a:solidFill>
                  <a:srgbClr val="F7F4FF"/>
                </a:solidFill>
                <a:latin typeface="Calibri"/>
                <a:ea typeface="Calibri"/>
                <a:cs typeface="Calibri"/>
              </a:rPr>
              <a:t>Financial &gt; 80%</a:t>
            </a:r>
          </a:p>
        </p:txBody>
      </p:sp>
      <p:sp>
        <p:nvSpPr>
          <p:cNvPr id="111" name="Visual Low physical progress wit">
            <a:extLst>
              <a:ext uri="{FF2B5EF4-FFF2-40B4-BE49-F238E27FC236}">
                <a16:creationId xmlns:a16="http://schemas.microsoft.com/office/drawing/2014/main" id="{05AF550C-BD76-4F5A-B064-F783041C5B19}"/>
              </a:ext>
            </a:extLst>
          </p:cNvPr>
          <p:cNvSpPr>
            <a:spLocks noGrp="1"/>
          </p:cNvSpPr>
          <p:nvPr/>
        </p:nvSpPr>
        <p:spPr>
          <a:xfrm>
            <a:off x="8172450" y="5124450"/>
            <a:ext cx="3333750" cy="476250"/>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Low physical progress with high payment</a:t>
            </a:r>
          </a:p>
        </p:txBody>
      </p:sp>
      <p:sp>
        <p:nvSpPr>
          <p:cNvPr id="112" name="Visual C1–C3 criteria on each wo">
            <a:extLst>
              <a:ext uri="{FF2B5EF4-FFF2-40B4-BE49-F238E27FC236}">
                <a16:creationId xmlns:a16="http://schemas.microsoft.com/office/drawing/2014/main" id="{A6493DFE-AADD-4B78-AED9-CBA691FE35E5}"/>
              </a:ext>
            </a:extLst>
          </p:cNvPr>
          <p:cNvSpPr>
            <a:spLocks noGrp="1"/>
          </p:cNvSpPr>
          <p:nvPr/>
        </p:nvSpPr>
        <p:spPr>
          <a:xfrm>
            <a:off x="552450" y="5695950"/>
            <a:ext cx="11087100" cy="285750"/>
          </a:xfrm>
          <a:prstGeom prst="rect">
            <a:avLst/>
          </a:prstGeom>
          <a:noFill/>
          <a:ln w="0">
            <a:noFill/>
          </a:ln>
        </p:spPr>
        <p:txBody>
          <a:bodyPr anchor="t">
            <a:noAutofit/>
          </a:bodyPr>
          <a:lstStyle/>
          <a:p>
            <a:pPr algn="l">
              <a:defRPr sz="1500" b="0">
                <a:solidFill>
                  <a:srgbClr val="3ED4BA"/>
                </a:solidFill>
                <a:latin typeface="Calibri"/>
                <a:ea typeface="Calibri"/>
                <a:cs typeface="Calibri"/>
              </a:defRPr>
            </a:pPr>
            <a:r>
              <a:rPr sz="1500" b="0">
                <a:solidFill>
                  <a:srgbClr val="3ED4BA"/>
                </a:solidFill>
                <a:latin typeface="Calibri"/>
                <a:ea typeface="Calibri"/>
                <a:cs typeface="Calibri"/>
              </a:rPr>
              <a:t>C1–C3 criteria on each work–month record. Read-only SQL view and API.</a:t>
            </a:r>
          </a:p>
        </p:txBody>
      </p:sp>
      <p:sp>
        <p:nvSpPr>
          <p:cNvPr id="113" name="Visual AI-generated conceptual i">
            <a:extLst>
              <a:ext uri="{FF2B5EF4-FFF2-40B4-BE49-F238E27FC236}">
                <a16:creationId xmlns:a16="http://schemas.microsoft.com/office/drawing/2014/main" id="{5E5DE6E3-3EB9-49D0-873C-2ADA05242CB8}"/>
              </a:ext>
            </a:extLst>
          </p:cNvPr>
          <p:cNvSpPr>
            <a:spLocks noGrp="1"/>
          </p:cNvSpPr>
          <p:nvPr/>
        </p:nvSpPr>
        <p:spPr>
          <a:xfrm>
            <a:off x="552450" y="6019800"/>
            <a:ext cx="11087100" cy="15240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AI-generated conceptual illustrations. Score formula in speaker notes.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Results against latent causes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EVALUATION</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14 / 19</a:t>
            </a:r>
          </a:p>
        </p:txBody>
      </p:sp>
      <p:sp>
        <p:nvSpPr>
          <p:cNvPr id="5" name="Rounded Rectangle 4"/>
          <p:cNvSpPr/>
          <p:nvPr/>
        </p:nvSpPr>
        <p:spPr>
          <a:xfrm>
            <a:off x="548640" y="1783080"/>
            <a:ext cx="2697480" cy="420624"/>
          </a:xfrm>
          <a:prstGeom prst="roundRect">
            <a:avLst>
              <a:gd name="adj" fmla="val 50000"/>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n-US">
                <a:solidFill>
                  <a:srgbClr val="DDD6EE"/>
                </a:solidFill>
                <a:latin typeface="Calibri"/>
              </a:rPr>
              <a:t>5 latent causes overlapping the normal range</a:t>
            </a:r>
          </a:p>
        </p:txBody>
      </p:sp>
      <p:sp>
        <p:nvSpPr>
          <p:cNvPr id="6" name="Rounded Rectangle 5"/>
          <p:cNvSpPr/>
          <p:nvPr/>
        </p:nvSpPr>
        <p:spPr>
          <a:xfrm>
            <a:off x="3346704" y="1783080"/>
            <a:ext cx="2697480" cy="420624"/>
          </a:xfrm>
          <a:prstGeom prst="roundRect">
            <a:avLst>
              <a:gd name="adj" fmla="val 50000"/>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n-US">
                <a:solidFill>
                  <a:srgbClr val="DDD6EE"/>
                </a:solidFill>
                <a:latin typeface="Calibri"/>
              </a:rPr>
              <a:t>10 seeds × 4 prevalences (5–20 %)</a:t>
            </a:r>
          </a:p>
        </p:txBody>
      </p:sp>
      <p:sp>
        <p:nvSpPr>
          <p:cNvPr id="7" name="Rounded Rectangle 6"/>
          <p:cNvSpPr/>
          <p:nvPr/>
        </p:nvSpPr>
        <p:spPr>
          <a:xfrm>
            <a:off x="6144768" y="1783080"/>
            <a:ext cx="2697480" cy="420624"/>
          </a:xfrm>
          <a:prstGeom prst="roundRect">
            <a:avLst>
              <a:gd name="adj" fmla="val 50000"/>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n-US">
                <a:solidFill>
                  <a:srgbClr val="DDD6EE"/>
                </a:solidFill>
                <a:latin typeface="Calibri"/>
              </a:rPr>
              <a:t>≈2,580 records / seed · 17.2 % anomalous</a:t>
            </a:r>
          </a:p>
        </p:txBody>
      </p:sp>
      <p:sp>
        <p:nvSpPr>
          <p:cNvPr id="8" name="Rounded Rectangle 7"/>
          <p:cNvSpPr/>
          <p:nvPr/>
        </p:nvSpPr>
        <p:spPr>
          <a:xfrm>
            <a:off x="8942832" y="1783080"/>
            <a:ext cx="2697480" cy="420624"/>
          </a:xfrm>
          <a:prstGeom prst="roundRect">
            <a:avLst>
              <a:gd name="adj" fmla="val 50000"/>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0" i="0" lang="en-US">
                <a:solidFill>
                  <a:srgbClr val="DDD6EE"/>
                </a:solidFill>
                <a:latin typeface="Calibri"/>
              </a:rPr>
              <a:t>Baseline: Isolation Forest (default + matched)</a:t>
            </a:r>
          </a:p>
        </p:txBody>
      </p:sp>
      <p:graphicFrame>
        <p:nvGraphicFramePr>
          <p:cNvPr id="9" name="Chart 8"/>
          <p:cNvGraphicFramePr>
            <a:graphicFrameLocks noGrp="1"/>
          </p:cNvGraphicFramePr>
          <p:nvPr/>
        </p:nvGraphicFramePr>
        <p:xfrm>
          <a:off x="457200" y="2377440"/>
          <a:ext cx="6903720" cy="3611880"/>
        </p:xfrm>
        <a:graphic>
          <a:graphicData uri="http://schemas.openxmlformats.org/drawingml/2006/chart">
            <c:chart xmlns:c="http://schemas.openxmlformats.org/drawingml/2006/chart" r:id="rId2"/>
          </a:graphicData>
        </a:graphic>
      </p:graphicFrame>
      <p:sp>
        <p:nvSpPr>
          <p:cNvPr id="10" name="TextBox 9"/>
          <p:cNvSpPr txBox="1"/>
          <p:nvPr/>
        </p:nvSpPr>
        <p:spPr>
          <a:xfrm>
            <a:off x="548640" y="5989320"/>
            <a:ext cx="3840480" cy="274320"/>
          </a:xfrm>
          <a:prstGeom prst="rect">
            <a:avLst/>
          </a:prstGeom>
          <a:noFill/>
        </p:spPr>
        <p:txBody>
          <a:bodyPr wrap="square" lIns="0" rIns="0" tIns="0" bIns="0" anchor="t">
            <a:noAutofit/>
          </a:bodyPr>
          <a:lstStyle/>
          <a:p>
            <a:pPr algn="l">
              <a:spcAft>
                <a:spcPts val="0"/>
              </a:spcAft>
            </a:pPr>
            <a:r>
              <a:rPr sz="850" b="0" i="0" lang="en-US">
                <a:solidFill>
                  <a:srgbClr val="8E84AB"/>
                </a:solidFill>
                <a:latin typeface="Calibri"/>
              </a:rPr>
              <a:t>Mean over 10 seeds, error bars = 95 % CI · Table 2 of the paper</a:t>
            </a:r>
          </a:p>
        </p:txBody>
      </p:sp>
      <p:sp>
        <p:nvSpPr>
          <p:cNvPr id="11" name="TextBox 10"/>
          <p:cNvSpPr txBox="1"/>
          <p:nvPr/>
        </p:nvSpPr>
        <p:spPr>
          <a:xfrm>
            <a:off x="7635240" y="2395728"/>
            <a:ext cx="4023360" cy="1188720"/>
          </a:xfrm>
          <a:prstGeom prst="rect">
            <a:avLst/>
          </a:prstGeom>
          <a:noFill/>
        </p:spPr>
        <p:txBody>
          <a:bodyPr wrap="square" lIns="0" rIns="0" tIns="0" bIns="0" anchor="t">
            <a:noAutofit/>
          </a:bodyPr>
          <a:lstStyle/>
          <a:p>
            <a:pPr algn="l">
              <a:lnSpc>
                <a:spcPct val="95000"/>
              </a:lnSpc>
              <a:spcAft>
                <a:spcPts val="0"/>
              </a:spcAft>
            </a:pPr>
            <a:r>
              <a:rPr sz="4400" b="1" i="0" lang="en-US">
                <a:solidFill>
                  <a:srgbClr val="D9C5FF"/>
                </a:solidFill>
                <a:latin typeface="Calibri"/>
              </a:rPr>
              <a:t>0.46 </a:t>
            </a:r>
            <a:r>
              <a:rPr sz="1600" b="0" i="0" lang="en-US">
                <a:solidFill>
                  <a:srgbClr val="FFFFFF"/>
                </a:solidFill>
                <a:latin typeface="Calibri"/>
              </a:rPr>
              <a:t>precision</a:t>
            </a:r>
          </a:p>
          <a:p>
            <a:pPr algn="l">
              <a:lnSpc>
                <a:spcPct val="95000"/>
              </a:lnSpc>
              <a:spcAft>
                <a:spcPts val="0"/>
              </a:spcAft>
            </a:pPr>
            <a:r>
              <a:rPr sz="1600" b="0" i="0" lang="en-US">
                <a:solidFill>
                  <a:srgbClr val="DDD6EE"/>
                </a:solidFill>
                <a:latin typeface="Calibri"/>
              </a:rPr>
              <a:t>at 0.35 recall</a:t>
            </a:r>
          </a:p>
        </p:txBody>
      </p:sp>
      <p:sp>
        <p:nvSpPr>
          <p:cNvPr id="12" name="Rounded Rectangle 11"/>
          <p:cNvSpPr/>
          <p:nvPr/>
        </p:nvSpPr>
        <p:spPr>
          <a:xfrm>
            <a:off x="7635240" y="3657600"/>
            <a:ext cx="4005072" cy="868680"/>
          </a:xfrm>
          <a:prstGeom prst="roundRect">
            <a:avLst>
              <a:gd name="adj" fmla="val 12631"/>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0" y="3675887"/>
            <a:ext cx="3749039" cy="832104"/>
          </a:xfrm>
          <a:prstGeom prst="rect">
            <a:avLst/>
          </a:prstGeom>
          <a:noFill/>
        </p:spPr>
        <p:txBody>
          <a:bodyPr wrap="square" lIns="0" rIns="0" tIns="0" bIns="0" anchor="ctr">
            <a:noAutofit/>
          </a:bodyPr>
          <a:lstStyle/>
          <a:p>
            <a:pPr algn="l">
              <a:spcAft>
                <a:spcPts val="0"/>
              </a:spcAft>
            </a:pPr>
            <a:r>
              <a:rPr sz="1150" b="1" i="0" lang="en-US">
                <a:solidFill>
                  <a:srgbClr val="94A3B8"/>
                </a:solidFill>
                <a:latin typeface="Calibri"/>
              </a:rPr>
              <a:t>As a scoring function: </a:t>
            </a:r>
            <a:r>
              <a:rPr sz="1150" b="0" i="0" lang="en-US">
                <a:solidFill>
                  <a:srgbClr val="FFFFFF"/>
                </a:solidFill>
                <a:latin typeface="Calibri"/>
              </a:rPr>
              <a:t>Isolation Forest ranks better on both AUCs, at every prevalence.</a:t>
            </a:r>
          </a:p>
        </p:txBody>
      </p:sp>
      <p:sp>
        <p:nvSpPr>
          <p:cNvPr id="14" name="Rounded Rectangle 13"/>
          <p:cNvSpPr/>
          <p:nvPr/>
        </p:nvSpPr>
        <p:spPr>
          <a:xfrm>
            <a:off x="7635240" y="4617720"/>
            <a:ext cx="4005072" cy="1005840"/>
          </a:xfrm>
          <a:prstGeom prst="roundRect">
            <a:avLst>
              <a:gd name="adj" fmla="val 10909"/>
            </a:avLst>
          </a:prstGeom>
          <a:solidFill>
            <a:srgbClr val="B57BFF">
              <a:alpha val="14000"/>
            </a:srgbClr>
          </a:solidFill>
          <a:ln w="9525">
            <a:solidFill>
              <a:srgbClr val="B57BFF">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0" y="4636008"/>
            <a:ext cx="3749039" cy="969264"/>
          </a:xfrm>
          <a:prstGeom prst="rect">
            <a:avLst/>
          </a:prstGeom>
          <a:noFill/>
        </p:spPr>
        <p:txBody>
          <a:bodyPr wrap="square" lIns="0" rIns="0" tIns="0" bIns="0" anchor="ctr">
            <a:noAutofit/>
          </a:bodyPr>
          <a:lstStyle/>
          <a:p>
            <a:pPr algn="l">
              <a:spcAft>
                <a:spcPts val="0"/>
              </a:spcAft>
            </a:pPr>
            <a:r>
              <a:rPr sz="1150" b="1" i="0" lang="en-US">
                <a:solidFill>
                  <a:srgbClr val="D9C5FF"/>
                </a:solidFill>
                <a:latin typeface="Calibri"/>
              </a:rPr>
              <a:t>At the operating point: </a:t>
            </a:r>
            <a:r>
              <a:rPr sz="1150" b="0" i="0" lang="en-US">
                <a:solidFill>
                  <a:srgbClr val="FFFFFF"/>
                </a:solidFill>
                <a:latin typeface="Calibri"/>
              </a:rPr>
              <a:t>with the same alert budget the rule is more precise (.462 vs .387) and recovers more (.351 vs .294).</a:t>
            </a:r>
          </a:p>
        </p:txBody>
      </p:sp>
      <p:sp>
        <p:nvSpPr>
          <p:cNvPr id="16" name="TextBox 15"/>
          <p:cNvSpPr txBox="1"/>
          <p:nvPr/>
        </p:nvSpPr>
        <p:spPr>
          <a:xfrm>
            <a:off x="7635240" y="5669280"/>
            <a:ext cx="4023360" cy="320040"/>
          </a:xfrm>
          <a:prstGeom prst="rect">
            <a:avLst/>
          </a:prstGeom>
          <a:noFill/>
        </p:spPr>
        <p:txBody>
          <a:bodyPr wrap="square" lIns="0" rIns="0" tIns="0" bIns="0" anchor="t">
            <a:noAutofit/>
          </a:bodyPr>
          <a:lstStyle/>
          <a:p>
            <a:pPr algn="l">
              <a:spcAft>
                <a:spcPts val="0"/>
              </a:spcAft>
            </a:pPr>
            <a:r>
              <a:rPr sz="1000" b="0" i="1" lang="en-US">
                <a:solidFill>
                  <a:srgbClr val="ADA3C8"/>
                </a:solidFill>
                <a:latin typeface="Calibri"/>
              </a:rPr>
              <a:t>An office reviews a fixed number of files per period, not a ranking.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Where it fails — and why</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FAILURE ANALYSIS</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15 / 19</a:t>
            </a:r>
          </a:p>
        </p:txBody>
      </p:sp>
      <p:graphicFrame>
        <p:nvGraphicFramePr>
          <p:cNvPr id="5" name="Chart 4"/>
          <p:cNvGraphicFramePr>
            <a:graphicFrameLocks noGrp="1"/>
          </p:cNvGraphicFramePr>
          <p:nvPr/>
        </p:nvGraphicFramePr>
        <p:xfrm>
          <a:off x="457200" y="2057400"/>
          <a:ext cx="6492240" cy="3566160"/>
        </p:xfrm>
        <a:graphic>
          <a:graphicData uri="http://schemas.openxmlformats.org/drawingml/2006/chart">
            <c:chart xmlns:c="http://schemas.openxmlformats.org/drawingml/2006/chart" r:id="rId2"/>
          </a:graphicData>
        </a:graphic>
      </p:graphicFrame>
      <p:sp>
        <p:nvSpPr>
          <p:cNvPr id="6" name="TextBox 5"/>
          <p:cNvSpPr txBox="1"/>
          <p:nvPr/>
        </p:nvSpPr>
        <p:spPr>
          <a:xfrm>
            <a:off x="548640" y="1783080"/>
            <a:ext cx="6400800" cy="292608"/>
          </a:xfrm>
          <a:prstGeom prst="rect">
            <a:avLst/>
          </a:prstGeom>
          <a:noFill/>
        </p:spPr>
        <p:txBody>
          <a:bodyPr wrap="square" lIns="0" rIns="0" tIns="0" bIns="0" anchor="t">
            <a:noAutofit/>
          </a:bodyPr>
          <a:lstStyle/>
          <a:p>
            <a:pPr algn="l">
              <a:spcAft>
                <a:spcPts val="0"/>
              </a:spcAft>
            </a:pPr>
            <a:r>
              <a:rPr sz="1100" b="0" i="0" lang="en-US">
                <a:solidFill>
                  <a:srgbClr val="ADA3C8"/>
                </a:solidFill>
                <a:latin typeface="Calibri"/>
              </a:rPr>
              <a:t>Recall per latent cause · 15 % prevalence · mean ± 95 % CI</a:t>
            </a:r>
          </a:p>
        </p:txBody>
      </p:sp>
      <p:sp>
        <p:nvSpPr>
          <p:cNvPr id="7" name="Rounded Rectangle 6"/>
          <p:cNvSpPr/>
          <p:nvPr/>
        </p:nvSpPr>
        <p:spPr>
          <a:xfrm>
            <a:off x="7178040" y="1920240"/>
            <a:ext cx="4462272" cy="1371600"/>
          </a:xfrm>
          <a:prstGeom prst="roundRect">
            <a:avLst>
              <a:gd name="adj" fmla="val 8000"/>
            </a:avLst>
          </a:prstGeom>
          <a:solidFill>
            <a:srgbClr val="F87171">
              <a:alpha val="7000"/>
            </a:srgbClr>
          </a:solidFill>
          <a:ln w="9525">
            <a:solidFill>
              <a:srgbClr val="F8717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306056" y="2368296"/>
            <a:ext cx="475488" cy="475488"/>
          </a:xfrm>
          <a:prstGeom prst="ellipse">
            <a:avLst/>
          </a:prstGeom>
          <a:solidFill>
            <a:srgbClr val="F87171">
              <a:alpha val="18000"/>
            </a:srgbClr>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ins.png"/>
          <p:cNvPicPr>
            <a:picLocks noChangeAspect="1"/>
          </p:cNvPicPr>
          <p:nvPr/>
        </p:nvPicPr>
        <p:blipFill>
          <a:blip r:embed="rId3"/>
          <a:stretch>
            <a:fillRect/>
          </a:stretch>
        </p:blipFill>
        <p:spPr>
          <a:xfrm>
            <a:off x="7420173" y="2482413"/>
            <a:ext cx="247253" cy="247253"/>
          </a:xfrm>
          <a:prstGeom prst="rect">
            <a:avLst/>
          </a:prstGeom>
        </p:spPr>
      </p:pic>
      <p:sp>
        <p:nvSpPr>
          <p:cNvPr id="10" name="TextBox 9"/>
          <p:cNvSpPr txBox="1"/>
          <p:nvPr/>
        </p:nvSpPr>
        <p:spPr>
          <a:xfrm>
            <a:off x="7909560" y="1965960"/>
            <a:ext cx="3611880" cy="1280160"/>
          </a:xfrm>
          <a:prstGeom prst="rect">
            <a:avLst/>
          </a:prstGeom>
          <a:noFill/>
        </p:spPr>
        <p:txBody>
          <a:bodyPr wrap="square" lIns="0" rIns="0" tIns="0" bIns="0" anchor="ctr">
            <a:noAutofit/>
          </a:bodyPr>
          <a:lstStyle/>
          <a:p>
            <a:pPr algn="l">
              <a:spcAft>
                <a:spcPts val="200"/>
              </a:spcAft>
            </a:pPr>
            <a:r>
              <a:rPr sz="1200" b="1" i="0" lang="en-US">
                <a:solidFill>
                  <a:srgbClr val="FFFFFF"/>
                </a:solidFill>
                <a:latin typeface="Calibri"/>
              </a:rPr>
              <a:t>C1 compares an absolute amount with its period mean</a:t>
            </a:r>
          </a:p>
          <a:p>
            <a:pPr algn="l">
              <a:spcAft>
                <a:spcPts val="400"/>
              </a:spcAft>
            </a:pPr>
            <a:r>
              <a:rPr sz="1100" b="0" i="0" lang="en-US">
                <a:solidFill>
                  <a:srgbClr val="DDD6EE"/>
                </a:solidFill>
                <a:latin typeface="Calibri"/>
              </a:rPr>
              <a:t>→ it flags large works, not overpriced ones.</a:t>
            </a:r>
          </a:p>
          <a:p>
            <a:pPr algn="l">
              <a:spcAft>
                <a:spcPts val="0"/>
              </a:spcAft>
            </a:pPr>
            <a:r>
              <a:rPr sz="1150" b="0" i="1" lang="en-US">
                <a:solidFill>
                  <a:srgbClr val="D9C5FF"/>
                </a:solidFill>
                <a:latin typeface="Calibri"/>
              </a:rPr>
              <a:t>“A school inflated by 30 % is still cheaper than an honest road.”</a:t>
            </a:r>
          </a:p>
        </p:txBody>
      </p:sp>
      <p:sp>
        <p:nvSpPr>
          <p:cNvPr id="11" name="Rounded Rectangle 10"/>
          <p:cNvSpPr/>
          <p:nvPr/>
        </p:nvSpPr>
        <p:spPr>
          <a:xfrm>
            <a:off x="7178040" y="3474720"/>
            <a:ext cx="4462272" cy="1078992"/>
          </a:xfrm>
          <a:prstGeom prst="roundRect">
            <a:avLst>
              <a:gd name="adj" fmla="val 10169"/>
            </a:avLst>
          </a:prstGeom>
          <a:solidFill>
            <a:srgbClr val="F87171">
              <a:alpha val="7000"/>
            </a:srgbClr>
          </a:solidFill>
          <a:ln w="9525">
            <a:solidFill>
              <a:srgbClr val="F87171">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7306056" y="3776472"/>
            <a:ext cx="475488" cy="475488"/>
          </a:xfrm>
          <a:prstGeom prst="ellipse">
            <a:avLst/>
          </a:prstGeom>
          <a:solidFill>
            <a:srgbClr val="F87171">
              <a:alpha val="18000"/>
            </a:srgbClr>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auge.png"/>
          <p:cNvPicPr>
            <a:picLocks noChangeAspect="1"/>
          </p:cNvPicPr>
          <p:nvPr/>
        </p:nvPicPr>
        <p:blipFill>
          <a:blip r:embed="rId4"/>
          <a:stretch>
            <a:fillRect/>
          </a:stretch>
        </p:blipFill>
        <p:spPr>
          <a:xfrm>
            <a:off x="7420173" y="3890589"/>
            <a:ext cx="247253" cy="247253"/>
          </a:xfrm>
          <a:prstGeom prst="rect">
            <a:avLst/>
          </a:prstGeom>
        </p:spPr>
      </p:pic>
      <p:sp>
        <p:nvSpPr>
          <p:cNvPr id="14" name="TextBox 13"/>
          <p:cNvSpPr txBox="1"/>
          <p:nvPr/>
        </p:nvSpPr>
        <p:spPr>
          <a:xfrm>
            <a:off x="7909560" y="3520439"/>
            <a:ext cx="3611880" cy="987551"/>
          </a:xfrm>
          <a:prstGeom prst="rect">
            <a:avLst/>
          </a:prstGeom>
          <a:noFill/>
        </p:spPr>
        <p:txBody>
          <a:bodyPr wrap="square" lIns="0" rIns="0" tIns="0" bIns="0" anchor="ctr">
            <a:noAutofit/>
          </a:bodyPr>
          <a:lstStyle/>
          <a:p>
            <a:pPr algn="l">
              <a:spcAft>
                <a:spcPts val="200"/>
              </a:spcAft>
            </a:pPr>
            <a:r>
              <a:rPr sz="1200" b="1" i="0" lang="en-US">
                <a:solidFill>
                  <a:srgbClr val="FFFFFF"/>
                </a:solidFill>
                <a:latin typeface="Calibri"/>
              </a:rPr>
              <a:t>No criterion looks at the physical–financial gap</a:t>
            </a:r>
          </a:p>
          <a:p>
            <a:pPr algn="l">
              <a:spcAft>
                <a:spcPts val="400"/>
              </a:spcAft>
            </a:pPr>
            <a:r>
              <a:rPr sz="1100" b="0" i="0" lang="en-US">
                <a:solidFill>
                  <a:srgbClr val="DDD6EE"/>
                </a:solidFill>
                <a:latin typeface="Calibri"/>
              </a:rPr>
              <a:t>unless physical progress falls below 30 % → steady over-payment passes if the work eventually finishes.</a:t>
            </a:r>
          </a:p>
        </p:txBody>
      </p:sp>
      <p:sp>
        <p:nvSpPr>
          <p:cNvPr id="15" name="Rounded Rectangle 14"/>
          <p:cNvSpPr/>
          <p:nvPr/>
        </p:nvSpPr>
        <p:spPr>
          <a:xfrm>
            <a:off x="7178040" y="4736592"/>
            <a:ext cx="4462272" cy="1005840"/>
          </a:xfrm>
          <a:prstGeom prst="roundRect">
            <a:avLst>
              <a:gd name="adj" fmla="val 10909"/>
            </a:avLst>
          </a:prstGeom>
          <a:solidFill>
            <a:srgbClr val="B57BFF">
              <a:alpha val="16000"/>
            </a:srgbClr>
          </a:solidFill>
          <a:ln w="9525">
            <a:solidFill>
              <a:srgbClr val="B57B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60920" y="4745736"/>
            <a:ext cx="4114800" cy="987552"/>
          </a:xfrm>
          <a:prstGeom prst="rect">
            <a:avLst/>
          </a:prstGeom>
          <a:noFill/>
        </p:spPr>
        <p:txBody>
          <a:bodyPr wrap="square" lIns="0" rIns="0" tIns="0" bIns="0" anchor="ctr">
            <a:noAutofit/>
          </a:bodyPr>
          <a:lstStyle/>
          <a:p>
            <a:pPr algn="l">
              <a:spcAft>
                <a:spcPts val="300"/>
              </a:spcAft>
            </a:pPr>
            <a:r>
              <a:rPr sz="1250" b="1" i="0" lang="en-US">
                <a:solidFill>
                  <a:srgbClr val="FFFFFF"/>
                </a:solidFill>
                <a:latin typeface="Calibri"/>
              </a:rPr>
              <a:t>A schedule-failure filter with a narrow ghost-work check — not a cost-anomaly detector.</a:t>
            </a:r>
          </a:p>
          <a:p>
            <a:pPr algn="l">
              <a:spcAft>
                <a:spcPts val="0"/>
              </a:spcAft>
            </a:pPr>
            <a:r>
              <a:rPr sz="1050" b="0" i="0" lang="en-US">
                <a:solidFill>
                  <a:srgbClr val="DDD6EE"/>
                </a:solidFill>
                <a:latin typeface="Calibri"/>
              </a:rPr>
              <a:t>Next: recompute C1 per work type and re-evaluate on the same ground truth.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Measured: the warehouse is not the bottleneck</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PERFORMANCE</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16 / 19</a:t>
            </a:r>
          </a:p>
        </p:txBody>
      </p:sp>
      <p:graphicFrame>
        <p:nvGraphicFramePr>
          <p:cNvPr id="5" name="Chart 4"/>
          <p:cNvGraphicFramePr>
            <a:graphicFrameLocks noGrp="1"/>
          </p:cNvGraphicFramePr>
          <p:nvPr/>
        </p:nvGraphicFramePr>
        <p:xfrm>
          <a:off x="457200" y="2103120"/>
          <a:ext cx="6766560" cy="3200400"/>
        </p:xfrm>
        <a:graphic>
          <a:graphicData uri="http://schemas.openxmlformats.org/drawingml/2006/chart">
            <c:chart xmlns:c="http://schemas.openxmlformats.org/drawingml/2006/chart" r:id="rId2"/>
          </a:graphicData>
        </a:graphic>
      </p:graphicFrame>
      <p:sp>
        <p:nvSpPr>
          <p:cNvPr id="6" name="Rounded Rectangle 5"/>
          <p:cNvSpPr/>
          <p:nvPr/>
        </p:nvSpPr>
        <p:spPr>
          <a:xfrm>
            <a:off x="594360" y="1801368"/>
            <a:ext cx="2103120" cy="274320"/>
          </a:xfrm>
          <a:prstGeom prst="roundRect">
            <a:avLst>
              <a:gd name="adj" fmla="val 50000"/>
            </a:avLst>
          </a:prstGeom>
          <a:solidFill>
            <a:srgbClr val="B57B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warehouse (SQL execution)</a:t>
            </a:r>
          </a:p>
        </p:txBody>
      </p:sp>
      <p:sp>
        <p:nvSpPr>
          <p:cNvPr id="7" name="Rounded Rectangle 6"/>
          <p:cNvSpPr/>
          <p:nvPr/>
        </p:nvSpPr>
        <p:spPr>
          <a:xfrm>
            <a:off x="2788920" y="1801368"/>
            <a:ext cx="2103120" cy="274320"/>
          </a:xfrm>
          <a:prstGeom prst="roundRect">
            <a:avLst>
              <a:gd name="adj" fmla="val 50000"/>
            </a:avLst>
          </a:prstGeom>
          <a:solidFill>
            <a:srgbClr val="FBBF2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spcAft>
                <a:spcPts val="0"/>
              </a:spcAft>
            </a:pPr>
            <a:r>
              <a:rPr sz="950" b="1" i="0" lang="en-US">
                <a:solidFill>
                  <a:srgbClr val="1B1530"/>
                </a:solidFill>
                <a:latin typeface="Calibri"/>
              </a:rPr>
              <a:t>API end-to-end (HTTP)</a:t>
            </a:r>
          </a:p>
        </p:txBody>
      </p:sp>
      <p:sp>
        <p:nvSpPr>
          <p:cNvPr id="8" name="TextBox 7"/>
          <p:cNvSpPr txBox="1"/>
          <p:nvPr/>
        </p:nvSpPr>
        <p:spPr>
          <a:xfrm>
            <a:off x="4983480" y="1801368"/>
            <a:ext cx="2194560" cy="274320"/>
          </a:xfrm>
          <a:prstGeom prst="rect">
            <a:avLst/>
          </a:prstGeom>
          <a:noFill/>
        </p:spPr>
        <p:txBody>
          <a:bodyPr wrap="square" lIns="0" rIns="0" tIns="0" bIns="0" anchor="t">
            <a:noAutofit/>
          </a:bodyPr>
          <a:lstStyle/>
          <a:p>
            <a:pPr algn="l">
              <a:spcAft>
                <a:spcPts val="0"/>
              </a:spcAft>
            </a:pPr>
            <a:r>
              <a:rPr sz="950" b="0" i="0" lang="en-US">
                <a:solidFill>
                  <a:srgbClr val="ADA3C8"/>
                </a:solidFill>
                <a:latin typeface="Calibri"/>
              </a:rPr>
              <a:t>mean, log scale</a:t>
            </a:r>
          </a:p>
        </p:txBody>
      </p:sp>
      <p:sp>
        <p:nvSpPr>
          <p:cNvPr id="9" name="TextBox 8"/>
          <p:cNvSpPr txBox="1"/>
          <p:nvPr/>
        </p:nvSpPr>
        <p:spPr>
          <a:xfrm>
            <a:off x="548640" y="5349240"/>
            <a:ext cx="6583680" cy="566928"/>
          </a:xfrm>
          <a:prstGeom prst="rect">
            <a:avLst/>
          </a:prstGeom>
          <a:noFill/>
        </p:spPr>
        <p:txBody>
          <a:bodyPr wrap="square" lIns="0" rIns="0" tIns="0" bIns="0" anchor="t">
            <a:noAutofit/>
          </a:bodyPr>
          <a:lstStyle/>
          <a:p>
            <a:pPr algn="l">
              <a:spcAft>
                <a:spcPts val="0"/>
              </a:spcAft>
            </a:pPr>
            <a:r>
              <a:rPr sz="1100" b="1" i="0" lang="en-US">
                <a:solidFill>
                  <a:srgbClr val="FBBF24"/>
                </a:solidFill>
                <a:latin typeface="Calibri"/>
              </a:rPr>
              <a:t>Throughput: </a:t>
            </a:r>
            <a:r>
              <a:rPr sz="1100" b="0" i="0" lang="en-US">
                <a:solidFill>
                  <a:srgbClr val="DDD6EE"/>
                </a:solidFill>
                <a:latin typeface="Calibri"/>
              </a:rPr>
              <a:t>3.4 req/s (10 clients, 2 sync workers) — the unpaginated 753 kB portfolio response. </a:t>
            </a:r>
            <a:r>
              <a:rPr sz="1100" b="0" i="0" lang="en-US">
                <a:solidFill>
                  <a:srgbClr val="ADA3C8"/>
                </a:solidFill>
                <a:latin typeface="Calibri"/>
              </a:rPr>
              <a:t>Remedy: pagination + more workers; the dimensional design is untouched.</a:t>
            </a:r>
          </a:p>
        </p:txBody>
      </p:sp>
      <p:sp>
        <p:nvSpPr>
          <p:cNvPr id="10" name="TextBox 9"/>
          <p:cNvSpPr txBox="1"/>
          <p:nvPr/>
        </p:nvSpPr>
        <p:spPr>
          <a:xfrm>
            <a:off x="548640" y="5989320"/>
            <a:ext cx="3840480" cy="384048"/>
          </a:xfrm>
          <a:prstGeom prst="rect">
            <a:avLst/>
          </a:prstGeom>
          <a:noFill/>
        </p:spPr>
        <p:txBody>
          <a:bodyPr wrap="square" lIns="0" rIns="0" tIns="0" bIns="0" anchor="t">
            <a:noAutofit/>
          </a:bodyPr>
          <a:lstStyle/>
          <a:p>
            <a:pPr algn="l">
              <a:spcAft>
                <a:spcPts val="0"/>
              </a:spcAft>
            </a:pPr>
            <a:r>
              <a:rPr sz="850" b="0" i="0" lang="en-US">
                <a:solidFill>
                  <a:srgbClr val="8E84AB"/>
                </a:solidFill>
                <a:latin typeface="Calibri"/>
              </a:rPr>
              <a:t>Docker reference stack: PostgreSQL 16.14 + Flask/gunicorn · 1,247 works · Table 1</a:t>
            </a:r>
          </a:p>
        </p:txBody>
      </p:sp>
      <p:sp>
        <p:nvSpPr>
          <p:cNvPr id="11" name="Rounded Rectangle 10"/>
          <p:cNvSpPr/>
          <p:nvPr/>
        </p:nvSpPr>
        <p:spPr>
          <a:xfrm>
            <a:off x="7498079" y="1783080"/>
            <a:ext cx="4142232" cy="4160520"/>
          </a:xfrm>
          <a:prstGeom prst="roundRect">
            <a:avLst>
              <a:gd name="adj" fmla="val 2649"/>
            </a:avLst>
          </a:prstGeom>
          <a:solidFill>
            <a:srgbClr val="FFFFFF">
              <a:alpha val="7000"/>
            </a:srgbClr>
          </a:solidFill>
          <a:ln w="9525">
            <a:solidFill>
              <a:srgbClr val="D9C5FF">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ghthouse.png"/>
          <p:cNvPicPr>
            <a:picLocks noChangeAspect="1"/>
          </p:cNvPicPr>
          <p:nvPr/>
        </p:nvPicPr>
        <p:blipFill>
          <a:blip r:embed="rId3"/>
          <a:stretch>
            <a:fillRect/>
          </a:stretch>
        </p:blipFill>
        <p:spPr>
          <a:xfrm>
            <a:off x="7699248" y="1920240"/>
            <a:ext cx="329184" cy="329184"/>
          </a:xfrm>
          <a:prstGeom prst="rect">
            <a:avLst/>
          </a:prstGeom>
        </p:spPr>
      </p:pic>
      <p:sp>
        <p:nvSpPr>
          <p:cNvPr id="13" name="TextBox 12"/>
          <p:cNvSpPr txBox="1"/>
          <p:nvPr/>
        </p:nvSpPr>
        <p:spPr>
          <a:xfrm>
            <a:off x="8119872" y="1874519"/>
            <a:ext cx="3474720" cy="411480"/>
          </a:xfrm>
          <a:prstGeom prst="rect">
            <a:avLst/>
          </a:prstGeom>
          <a:noFill/>
        </p:spPr>
        <p:txBody>
          <a:bodyPr wrap="square" lIns="0" rIns="0" tIns="0" bIns="0" anchor="ctr">
            <a:noAutofit/>
          </a:bodyPr>
          <a:lstStyle/>
          <a:p>
            <a:pPr algn="l">
              <a:spcAft>
                <a:spcPts val="0"/>
              </a:spcAft>
            </a:pPr>
            <a:r>
              <a:rPr sz="1350" b="1" i="0" lang="en-US">
                <a:solidFill>
                  <a:srgbClr val="D9C5FF"/>
                </a:solidFill>
                <a:latin typeface="Calibri"/>
              </a:rPr>
              <a:t>Lighthouse · published site</a:t>
            </a:r>
          </a:p>
        </p:txBody>
      </p:sp>
      <p:sp>
        <p:nvSpPr>
          <p:cNvPr id="14" name="TextBox 13"/>
          <p:cNvSpPr txBox="1"/>
          <p:nvPr/>
        </p:nvSpPr>
        <p:spPr>
          <a:xfrm>
            <a:off x="7699248" y="2377440"/>
            <a:ext cx="2743200" cy="274320"/>
          </a:xfrm>
          <a:prstGeom prst="rect">
            <a:avLst/>
          </a:prstGeom>
          <a:noFill/>
        </p:spPr>
        <p:txBody>
          <a:bodyPr wrap="square" lIns="0" rIns="0" tIns="0" bIns="0" anchor="t">
            <a:noAutofit/>
          </a:bodyPr>
          <a:lstStyle/>
          <a:p>
            <a:pPr algn="l">
              <a:spcAft>
                <a:spcPts val="0"/>
              </a:spcAft>
            </a:pPr>
            <a:r>
              <a:rPr sz="1150" b="1" i="0" lang="en-US">
                <a:solidFill>
                  <a:srgbClr val="FFFFFF"/>
                </a:solidFill>
                <a:latin typeface="Calibri"/>
              </a:rPr>
              <a:t>Landing page</a:t>
            </a:r>
          </a:p>
        </p:txBody>
      </p:sp>
      <p:sp>
        <p:nvSpPr>
          <p:cNvPr id="15" name="Donut 14"/>
          <p:cNvSpPr/>
          <p:nvPr/>
        </p:nvSpPr>
        <p:spPr>
          <a:xfrm>
            <a:off x="7808975" y="2715768"/>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lock Arc 15"/>
          <p:cNvSpPr/>
          <p:nvPr/>
        </p:nvSpPr>
        <p:spPr>
          <a:xfrm>
            <a:off x="7808975" y="2715768"/>
            <a:ext cx="749808" cy="749808"/>
          </a:xfrm>
          <a:prstGeom prst="blockArc">
            <a:avLst>
              <a:gd name="adj1" fmla="val 16200000"/>
              <a:gd name="adj2" fmla="val 12960000"/>
              <a:gd name="adj3" fmla="val 10365"/>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08975" y="2715768"/>
            <a:ext cx="749808" cy="749808"/>
          </a:xfrm>
          <a:prstGeom prst="rect">
            <a:avLst/>
          </a:prstGeom>
          <a:noFill/>
        </p:spPr>
        <p:txBody>
          <a:bodyPr wrap="square" lIns="0" rIns="0" tIns="0" bIns="0" anchor="ctr">
            <a:noAutofit/>
          </a:bodyPr>
          <a:lstStyle/>
          <a:p>
            <a:pPr algn="ctr">
              <a:spcAft>
                <a:spcPts val="0"/>
              </a:spcAft>
            </a:pPr>
            <a:r>
              <a:rPr sz="1700" b="1" i="0" lang="en-US">
                <a:solidFill>
                  <a:srgbClr val="FBBF24"/>
                </a:solidFill>
                <a:latin typeface="Calibri"/>
              </a:rPr>
              <a:t>85</a:t>
            </a:r>
          </a:p>
        </p:txBody>
      </p:sp>
      <p:sp>
        <p:nvSpPr>
          <p:cNvPr id="18" name="TextBox 17"/>
          <p:cNvSpPr txBox="1"/>
          <p:nvPr/>
        </p:nvSpPr>
        <p:spPr>
          <a:xfrm>
            <a:off x="7635240" y="3493008"/>
            <a:ext cx="1097280" cy="256032"/>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Perf.</a:t>
            </a:r>
          </a:p>
        </p:txBody>
      </p:sp>
      <p:sp>
        <p:nvSpPr>
          <p:cNvPr id="19" name="Donut 18"/>
          <p:cNvSpPr/>
          <p:nvPr/>
        </p:nvSpPr>
        <p:spPr>
          <a:xfrm>
            <a:off x="8796528" y="2715768"/>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nut 19"/>
          <p:cNvSpPr/>
          <p:nvPr/>
        </p:nvSpPr>
        <p:spPr>
          <a:xfrm>
            <a:off x="8796528" y="2715768"/>
            <a:ext cx="749808" cy="749808"/>
          </a:xfrm>
          <a:prstGeom prst="donut">
            <a:avLst>
              <a:gd name="adj"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96528" y="2715768"/>
            <a:ext cx="749808" cy="749808"/>
          </a:xfrm>
          <a:prstGeom prst="rect">
            <a:avLst/>
          </a:prstGeom>
          <a:noFill/>
        </p:spPr>
        <p:txBody>
          <a:bodyPr wrap="square" lIns="0" rIns="0" tIns="0" bIns="0" anchor="ctr">
            <a:noAutofit/>
          </a:bodyPr>
          <a:lstStyle/>
          <a:p>
            <a:pPr algn="ctr">
              <a:spcAft>
                <a:spcPts val="0"/>
              </a:spcAft>
            </a:pPr>
            <a:r>
              <a:rPr sz="1700" b="1" i="0" lang="en-US">
                <a:solidFill>
                  <a:srgbClr val="34D399"/>
                </a:solidFill>
                <a:latin typeface="Calibri"/>
              </a:rPr>
              <a:t>100</a:t>
            </a:r>
          </a:p>
        </p:txBody>
      </p:sp>
      <p:sp>
        <p:nvSpPr>
          <p:cNvPr id="22" name="TextBox 21"/>
          <p:cNvSpPr txBox="1"/>
          <p:nvPr/>
        </p:nvSpPr>
        <p:spPr>
          <a:xfrm>
            <a:off x="8622792" y="3493008"/>
            <a:ext cx="1097280" cy="256032"/>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Access.</a:t>
            </a:r>
          </a:p>
        </p:txBody>
      </p:sp>
      <p:sp>
        <p:nvSpPr>
          <p:cNvPr id="23" name="Donut 22"/>
          <p:cNvSpPr/>
          <p:nvPr/>
        </p:nvSpPr>
        <p:spPr>
          <a:xfrm>
            <a:off x="9784080" y="2715768"/>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lock Arc 23"/>
          <p:cNvSpPr/>
          <p:nvPr/>
        </p:nvSpPr>
        <p:spPr>
          <a:xfrm>
            <a:off x="9784080" y="2715768"/>
            <a:ext cx="749808" cy="749808"/>
          </a:xfrm>
          <a:prstGeom prst="blockArc">
            <a:avLst>
              <a:gd name="adj1" fmla="val 16200000"/>
              <a:gd name="adj2" fmla="val 15336000"/>
              <a:gd name="adj3"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2715768"/>
            <a:ext cx="749808" cy="749808"/>
          </a:xfrm>
          <a:prstGeom prst="rect">
            <a:avLst/>
          </a:prstGeom>
          <a:noFill/>
        </p:spPr>
        <p:txBody>
          <a:bodyPr wrap="square" lIns="0" rIns="0" tIns="0" bIns="0" anchor="ctr">
            <a:noAutofit/>
          </a:bodyPr>
          <a:lstStyle/>
          <a:p>
            <a:pPr algn="ctr">
              <a:spcAft>
                <a:spcPts val="0"/>
              </a:spcAft>
            </a:pPr>
            <a:r>
              <a:rPr sz="1700" b="1" i="0" lang="en-US">
                <a:solidFill>
                  <a:srgbClr val="34D399"/>
                </a:solidFill>
                <a:latin typeface="Calibri"/>
              </a:rPr>
              <a:t>96</a:t>
            </a:r>
          </a:p>
        </p:txBody>
      </p:sp>
      <p:sp>
        <p:nvSpPr>
          <p:cNvPr id="26" name="TextBox 25"/>
          <p:cNvSpPr txBox="1"/>
          <p:nvPr/>
        </p:nvSpPr>
        <p:spPr>
          <a:xfrm>
            <a:off x="9610344" y="3493008"/>
            <a:ext cx="1097280" cy="256032"/>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Best pr.</a:t>
            </a:r>
          </a:p>
        </p:txBody>
      </p:sp>
      <p:sp>
        <p:nvSpPr>
          <p:cNvPr id="27" name="Donut 26"/>
          <p:cNvSpPr/>
          <p:nvPr/>
        </p:nvSpPr>
        <p:spPr>
          <a:xfrm>
            <a:off x="10771632" y="2715768"/>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lock Arc 27"/>
          <p:cNvSpPr/>
          <p:nvPr/>
        </p:nvSpPr>
        <p:spPr>
          <a:xfrm>
            <a:off x="10771632" y="2715768"/>
            <a:ext cx="749808" cy="749808"/>
          </a:xfrm>
          <a:prstGeom prst="blockArc">
            <a:avLst>
              <a:gd name="adj1" fmla="val 16200000"/>
              <a:gd name="adj2" fmla="val 14040000"/>
              <a:gd name="adj3"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71632" y="2715768"/>
            <a:ext cx="749808" cy="749808"/>
          </a:xfrm>
          <a:prstGeom prst="rect">
            <a:avLst/>
          </a:prstGeom>
          <a:noFill/>
        </p:spPr>
        <p:txBody>
          <a:bodyPr wrap="square" lIns="0" rIns="0" tIns="0" bIns="0" anchor="ctr">
            <a:noAutofit/>
          </a:bodyPr>
          <a:lstStyle/>
          <a:p>
            <a:pPr algn="ctr">
              <a:spcAft>
                <a:spcPts val="0"/>
              </a:spcAft>
            </a:pPr>
            <a:r>
              <a:rPr sz="1700" b="1" i="0" lang="en-US">
                <a:solidFill>
                  <a:srgbClr val="34D399"/>
                </a:solidFill>
                <a:latin typeface="Calibri"/>
              </a:rPr>
              <a:t>90</a:t>
            </a:r>
          </a:p>
        </p:txBody>
      </p:sp>
      <p:sp>
        <p:nvSpPr>
          <p:cNvPr id="30" name="TextBox 29"/>
          <p:cNvSpPr txBox="1"/>
          <p:nvPr/>
        </p:nvSpPr>
        <p:spPr>
          <a:xfrm>
            <a:off x="10597896" y="3493008"/>
            <a:ext cx="1097280" cy="256032"/>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SEO</a:t>
            </a:r>
          </a:p>
        </p:txBody>
      </p:sp>
      <p:sp>
        <p:nvSpPr>
          <p:cNvPr id="31" name="TextBox 30"/>
          <p:cNvSpPr txBox="1"/>
          <p:nvPr/>
        </p:nvSpPr>
        <p:spPr>
          <a:xfrm>
            <a:off x="7699248" y="3858768"/>
            <a:ext cx="2743200" cy="274320"/>
          </a:xfrm>
          <a:prstGeom prst="rect">
            <a:avLst/>
          </a:prstGeom>
          <a:noFill/>
        </p:spPr>
        <p:txBody>
          <a:bodyPr wrap="square" lIns="0" rIns="0" tIns="0" bIns="0" anchor="t">
            <a:noAutofit/>
          </a:bodyPr>
          <a:lstStyle/>
          <a:p>
            <a:pPr algn="l">
              <a:spcAft>
                <a:spcPts val="0"/>
              </a:spcAft>
            </a:pPr>
            <a:r>
              <a:rPr sz="1150" b="1" i="0" lang="en-US">
                <a:solidFill>
                  <a:srgbClr val="FFFFFF"/>
                </a:solidFill>
                <a:latin typeface="Calibri"/>
              </a:rPr>
              <a:t>Map</a:t>
            </a:r>
          </a:p>
        </p:txBody>
      </p:sp>
      <p:sp>
        <p:nvSpPr>
          <p:cNvPr id="32" name="Donut 31"/>
          <p:cNvSpPr/>
          <p:nvPr/>
        </p:nvSpPr>
        <p:spPr>
          <a:xfrm>
            <a:off x="7808975" y="4197096"/>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lock Arc 32"/>
          <p:cNvSpPr/>
          <p:nvPr/>
        </p:nvSpPr>
        <p:spPr>
          <a:xfrm>
            <a:off x="7808975" y="4197096"/>
            <a:ext cx="749808" cy="749808"/>
          </a:xfrm>
          <a:prstGeom prst="blockArc">
            <a:avLst>
              <a:gd name="adj1" fmla="val 16200000"/>
              <a:gd name="adj2" fmla="val 10152000"/>
              <a:gd name="adj3" fmla="val 10365"/>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08975" y="4197096"/>
            <a:ext cx="749808" cy="749808"/>
          </a:xfrm>
          <a:prstGeom prst="rect">
            <a:avLst/>
          </a:prstGeom>
          <a:noFill/>
        </p:spPr>
        <p:txBody>
          <a:bodyPr wrap="square" lIns="0" rIns="0" tIns="0" bIns="0" anchor="ctr">
            <a:noAutofit/>
          </a:bodyPr>
          <a:lstStyle/>
          <a:p>
            <a:pPr algn="ctr">
              <a:spcAft>
                <a:spcPts val="0"/>
              </a:spcAft>
            </a:pPr>
            <a:r>
              <a:rPr sz="1700" b="1" i="0" lang="en-US">
                <a:solidFill>
                  <a:srgbClr val="FBBF24"/>
                </a:solidFill>
                <a:latin typeface="Calibri"/>
              </a:rPr>
              <a:t>72</a:t>
            </a:r>
          </a:p>
        </p:txBody>
      </p:sp>
      <p:sp>
        <p:nvSpPr>
          <p:cNvPr id="35" name="TextBox 34"/>
          <p:cNvSpPr txBox="1"/>
          <p:nvPr/>
        </p:nvSpPr>
        <p:spPr>
          <a:xfrm>
            <a:off x="7635240" y="4974336"/>
            <a:ext cx="1097280" cy="256032"/>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Perf.</a:t>
            </a:r>
          </a:p>
        </p:txBody>
      </p:sp>
      <p:sp>
        <p:nvSpPr>
          <p:cNvPr id="36" name="Donut 35"/>
          <p:cNvSpPr/>
          <p:nvPr/>
        </p:nvSpPr>
        <p:spPr>
          <a:xfrm>
            <a:off x="8796528" y="4197096"/>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onut 36"/>
          <p:cNvSpPr/>
          <p:nvPr/>
        </p:nvSpPr>
        <p:spPr>
          <a:xfrm>
            <a:off x="8796528" y="4197096"/>
            <a:ext cx="749808" cy="749808"/>
          </a:xfrm>
          <a:prstGeom prst="donut">
            <a:avLst>
              <a:gd name="adj"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96528" y="4197096"/>
            <a:ext cx="749808" cy="749808"/>
          </a:xfrm>
          <a:prstGeom prst="rect">
            <a:avLst/>
          </a:prstGeom>
          <a:noFill/>
        </p:spPr>
        <p:txBody>
          <a:bodyPr wrap="square" lIns="0" rIns="0" tIns="0" bIns="0" anchor="ctr">
            <a:noAutofit/>
          </a:bodyPr>
          <a:lstStyle/>
          <a:p>
            <a:pPr algn="ctr">
              <a:spcAft>
                <a:spcPts val="0"/>
              </a:spcAft>
            </a:pPr>
            <a:r>
              <a:rPr sz="1700" b="1" i="0" lang="en-US">
                <a:solidFill>
                  <a:srgbClr val="34D399"/>
                </a:solidFill>
                <a:latin typeface="Calibri"/>
              </a:rPr>
              <a:t>100</a:t>
            </a:r>
          </a:p>
        </p:txBody>
      </p:sp>
      <p:sp>
        <p:nvSpPr>
          <p:cNvPr id="39" name="TextBox 38"/>
          <p:cNvSpPr txBox="1"/>
          <p:nvPr/>
        </p:nvSpPr>
        <p:spPr>
          <a:xfrm>
            <a:off x="8622792" y="4974336"/>
            <a:ext cx="1097280" cy="256032"/>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Access.</a:t>
            </a:r>
          </a:p>
        </p:txBody>
      </p:sp>
      <p:sp>
        <p:nvSpPr>
          <p:cNvPr id="40" name="Donut 39"/>
          <p:cNvSpPr/>
          <p:nvPr/>
        </p:nvSpPr>
        <p:spPr>
          <a:xfrm>
            <a:off x="9784080" y="4197096"/>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lock Arc 40"/>
          <p:cNvSpPr/>
          <p:nvPr/>
        </p:nvSpPr>
        <p:spPr>
          <a:xfrm>
            <a:off x="9784080" y="4197096"/>
            <a:ext cx="749808" cy="749808"/>
          </a:xfrm>
          <a:prstGeom prst="blockArc">
            <a:avLst>
              <a:gd name="adj1" fmla="val 16200000"/>
              <a:gd name="adj2" fmla="val 14687999"/>
              <a:gd name="adj3"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84080" y="4197096"/>
            <a:ext cx="749808" cy="749808"/>
          </a:xfrm>
          <a:prstGeom prst="rect">
            <a:avLst/>
          </a:prstGeom>
          <a:noFill/>
        </p:spPr>
        <p:txBody>
          <a:bodyPr wrap="square" lIns="0" rIns="0" tIns="0" bIns="0" anchor="ctr">
            <a:noAutofit/>
          </a:bodyPr>
          <a:lstStyle/>
          <a:p>
            <a:pPr algn="ctr">
              <a:spcAft>
                <a:spcPts val="0"/>
              </a:spcAft>
            </a:pPr>
            <a:r>
              <a:rPr sz="1700" b="1" i="0" lang="en-US">
                <a:solidFill>
                  <a:srgbClr val="34D399"/>
                </a:solidFill>
                <a:latin typeface="Calibri"/>
              </a:rPr>
              <a:t>93</a:t>
            </a:r>
          </a:p>
        </p:txBody>
      </p:sp>
      <p:sp>
        <p:nvSpPr>
          <p:cNvPr id="43" name="TextBox 42"/>
          <p:cNvSpPr txBox="1"/>
          <p:nvPr/>
        </p:nvSpPr>
        <p:spPr>
          <a:xfrm>
            <a:off x="9610344" y="4974336"/>
            <a:ext cx="1097280" cy="256032"/>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Best pr.</a:t>
            </a:r>
          </a:p>
        </p:txBody>
      </p:sp>
      <p:sp>
        <p:nvSpPr>
          <p:cNvPr id="44" name="Donut 43"/>
          <p:cNvSpPr/>
          <p:nvPr/>
        </p:nvSpPr>
        <p:spPr>
          <a:xfrm>
            <a:off x="10771632" y="4197096"/>
            <a:ext cx="749808" cy="749808"/>
          </a:xfrm>
          <a:prstGeom prst="donut">
            <a:avLst>
              <a:gd name="adj" fmla="val 10365"/>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onut 44"/>
          <p:cNvSpPr/>
          <p:nvPr/>
        </p:nvSpPr>
        <p:spPr>
          <a:xfrm>
            <a:off x="10771632" y="4197096"/>
            <a:ext cx="749808" cy="749808"/>
          </a:xfrm>
          <a:prstGeom prst="donut">
            <a:avLst>
              <a:gd name="adj" fmla="val 10365"/>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771632" y="4197096"/>
            <a:ext cx="749808" cy="749808"/>
          </a:xfrm>
          <a:prstGeom prst="rect">
            <a:avLst/>
          </a:prstGeom>
          <a:noFill/>
        </p:spPr>
        <p:txBody>
          <a:bodyPr wrap="square" lIns="0" rIns="0" tIns="0" bIns="0" anchor="ctr">
            <a:noAutofit/>
          </a:bodyPr>
          <a:lstStyle/>
          <a:p>
            <a:pPr algn="ctr">
              <a:spcAft>
                <a:spcPts val="0"/>
              </a:spcAft>
            </a:pPr>
            <a:r>
              <a:rPr sz="1700" b="1" i="0" lang="en-US">
                <a:solidFill>
                  <a:srgbClr val="34D399"/>
                </a:solidFill>
                <a:latin typeface="Calibri"/>
              </a:rPr>
              <a:t>100</a:t>
            </a:r>
          </a:p>
        </p:txBody>
      </p:sp>
      <p:sp>
        <p:nvSpPr>
          <p:cNvPr id="47" name="TextBox 46"/>
          <p:cNvSpPr txBox="1"/>
          <p:nvPr/>
        </p:nvSpPr>
        <p:spPr>
          <a:xfrm>
            <a:off x="10597896" y="4974336"/>
            <a:ext cx="1097280" cy="256032"/>
          </a:xfrm>
          <a:prstGeom prst="rect">
            <a:avLst/>
          </a:prstGeom>
          <a:noFill/>
        </p:spPr>
        <p:txBody>
          <a:bodyPr wrap="square" lIns="0" rIns="0" tIns="0" bIns="0" anchor="t">
            <a:noAutofit/>
          </a:bodyPr>
          <a:lstStyle/>
          <a:p>
            <a:pPr algn="ctr">
              <a:spcAft>
                <a:spcPts val="0"/>
              </a:spcAft>
            </a:pPr>
            <a:r>
              <a:rPr sz="1000" b="0" i="0" lang="en-US">
                <a:solidFill>
                  <a:srgbClr val="DDD6EE"/>
                </a:solidFill>
                <a:latin typeface="Calibri"/>
              </a:rPr>
              <a:t>SEO</a:t>
            </a:r>
          </a:p>
        </p:txBody>
      </p:sp>
      <p:sp>
        <p:nvSpPr>
          <p:cNvPr id="48" name="TextBox 47"/>
          <p:cNvSpPr txBox="1"/>
          <p:nvPr/>
        </p:nvSpPr>
        <p:spPr>
          <a:xfrm>
            <a:off x="7699248" y="5303520"/>
            <a:ext cx="3840480" cy="594360"/>
          </a:xfrm>
          <a:prstGeom prst="rect">
            <a:avLst/>
          </a:prstGeom>
          <a:noFill/>
        </p:spPr>
        <p:txBody>
          <a:bodyPr wrap="square" lIns="0" rIns="0" tIns="0" bIns="0" anchor="t">
            <a:noAutofit/>
          </a:bodyPr>
          <a:lstStyle/>
          <a:p>
            <a:pPr algn="l">
              <a:spcAft>
                <a:spcPts val="100"/>
              </a:spcAft>
            </a:pPr>
            <a:r>
              <a:rPr sz="1050" b="0" i="0" lang="en-US">
                <a:solidFill>
                  <a:srgbClr val="DDD6EE"/>
                </a:solidFill>
                <a:latin typeface="Calibri"/>
              </a:rPr>
              <a:t>0 ms blocking time · CLS 0 · FCP 3.2 s / 3.6 s</a:t>
            </a:r>
          </a:p>
          <a:p>
            <a:pPr algn="l">
              <a:spcAft>
                <a:spcPts val="0"/>
              </a:spcAft>
            </a:pPr>
            <a:r>
              <a:rPr sz="900" b="0" i="0" lang="en-US">
                <a:solidFill>
                  <a:srgbClr val="8E84AB"/>
                </a:solidFill>
                <a:latin typeface="Calibri"/>
              </a:rPr>
              <a:t>median of 3 runs · Lighthouse 12.8.2 · mobile · 11 Aug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Answers to the research questions</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CONCLUSIONS</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17 / 19</a:t>
            </a:r>
          </a:p>
        </p:txBody>
      </p:sp>
      <p:sp>
        <p:nvSpPr>
          <p:cNvPr id="100" name="Visual RQ1  Feasibility">
            <a:extLst>
              <a:ext uri="{FF2B5EF4-FFF2-40B4-BE49-F238E27FC236}">
                <a16:creationId xmlns:a16="http://schemas.microsoft.com/office/drawing/2014/main" id="{2990149E-81E7-41B8-B6A8-5C947E926E0D}"/>
              </a:ext>
            </a:extLst>
          </p:cNvPr>
          <p:cNvSpPr>
            <a:spLocks noGrp="1"/>
          </p:cNvSpPr>
          <p:nvPr/>
        </p:nvSpPr>
        <p:spPr>
          <a:xfrm>
            <a:off x="666750" y="1990725"/>
            <a:ext cx="3333750" cy="36195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RQ1  Feasibility</a:t>
            </a:r>
          </a:p>
        </p:txBody>
      </p:sp>
      <p:sp>
        <p:nvSpPr>
          <p:cNvPr id="101" name="Visual 10 / 2 / 6">
            <a:extLst>
              <a:ext uri="{FF2B5EF4-FFF2-40B4-BE49-F238E27FC236}">
                <a16:creationId xmlns:a16="http://schemas.microsoft.com/office/drawing/2014/main" id="{63431118-2486-4169-A33D-A039204593BD}"/>
              </a:ext>
            </a:extLst>
          </p:cNvPr>
          <p:cNvSpPr>
            <a:spLocks noGrp="1"/>
          </p:cNvSpPr>
          <p:nvPr/>
        </p:nvSpPr>
        <p:spPr>
          <a:xfrm>
            <a:off x="666750" y="2676525"/>
            <a:ext cx="3429000" cy="809625"/>
          </a:xfrm>
          <a:prstGeom prst="rect">
            <a:avLst/>
          </a:prstGeom>
          <a:noFill/>
          <a:ln w="0">
            <a:noFill/>
          </a:ln>
        </p:spPr>
        <p:txBody>
          <a:bodyPr anchor="t">
            <a:noAutofit/>
          </a:bodyPr>
          <a:lstStyle/>
          <a:p>
            <a:pPr algn="l">
              <a:defRPr sz="3900" b="1">
                <a:solidFill>
                  <a:srgbClr val="3ED4BA"/>
                </a:solidFill>
                <a:latin typeface="Calibri"/>
                <a:ea typeface="Calibri"/>
                <a:cs typeface="Calibri"/>
              </a:defRPr>
            </a:pPr>
            <a:r>
              <a:rPr sz="3900" b="1">
                <a:solidFill>
                  <a:srgbClr val="3ED4BA"/>
                </a:solidFill>
                <a:latin typeface="Calibri"/>
                <a:ea typeface="Calibri"/>
                <a:cs typeface="Calibri"/>
              </a:rPr>
              <a:t>10 / 2 / 6</a:t>
            </a:r>
          </a:p>
        </p:txBody>
      </p:sp>
      <p:sp>
        <p:nvSpPr>
          <p:cNvPr id="102" name="Visual dimensions / facts / view">
            <a:extLst>
              <a:ext uri="{FF2B5EF4-FFF2-40B4-BE49-F238E27FC236}">
                <a16:creationId xmlns:a16="http://schemas.microsoft.com/office/drawing/2014/main" id="{0B162513-D3EB-4C63-BE40-8E10C93651FF}"/>
              </a:ext>
            </a:extLst>
          </p:cNvPr>
          <p:cNvSpPr>
            <a:spLocks noGrp="1"/>
          </p:cNvSpPr>
          <p:nvPr/>
        </p:nvSpPr>
        <p:spPr>
          <a:xfrm>
            <a:off x="666750" y="3524250"/>
            <a:ext cx="3333750" cy="457200"/>
          </a:xfrm>
          <a:prstGeom prst="rect">
            <a:avLst/>
          </a:prstGeom>
          <a:noFill/>
          <a:ln w="0">
            <a:noFill/>
          </a:ln>
        </p:spPr>
        <p:txBody>
          <a:bodyPr anchor="t">
            <a:noAutofit/>
          </a:bodyPr>
          <a:lstStyle/>
          <a:p>
            <a:pPr algn="l">
              <a:defRPr sz="1575" b="0">
                <a:solidFill>
                  <a:srgbClr val="CEC4DF"/>
                </a:solidFill>
                <a:latin typeface="Calibri"/>
                <a:ea typeface="Calibri"/>
                <a:cs typeface="Calibri"/>
              </a:defRPr>
            </a:pPr>
            <a:r>
              <a:rPr sz="1575" b="0">
                <a:solidFill>
                  <a:srgbClr val="CEC4DF"/>
                </a:solidFill>
                <a:latin typeface="Calibri"/>
                <a:ea typeface="Calibri"/>
                <a:cs typeface="Calibri"/>
              </a:rPr>
              <a:t>dimensions / facts / views</a:t>
            </a:r>
          </a:p>
        </p:txBody>
      </p:sp>
      <p:sp>
        <p:nvSpPr>
          <p:cNvPr id="103" name="Visual Analytical queries in mil">
            <a:extLst>
              <a:ext uri="{FF2B5EF4-FFF2-40B4-BE49-F238E27FC236}">
                <a16:creationId xmlns:a16="http://schemas.microsoft.com/office/drawing/2014/main" id="{81642B29-F8EF-4CFF-A01E-12721943C6E3}"/>
              </a:ext>
            </a:extLst>
          </p:cNvPr>
          <p:cNvSpPr>
            <a:spLocks noGrp="1"/>
          </p:cNvSpPr>
          <p:nvPr/>
        </p:nvSpPr>
        <p:spPr>
          <a:xfrm>
            <a:off x="666750" y="4229100"/>
            <a:ext cx="3333750" cy="1047750"/>
          </a:xfrm>
          <a:prstGeom prst="rect">
            <a:avLst/>
          </a:prstGeom>
          <a:noFill/>
          <a:ln w="0">
            <a:noFill/>
          </a:ln>
        </p:spPr>
        <p:txBody>
          <a:bodyPr anchor="t">
            <a:noAutofit/>
          </a:bodyPr>
          <a:lstStyle/>
          <a:p>
            <a:pPr algn="l">
              <a:defRPr sz="1725" b="0">
                <a:solidFill>
                  <a:srgbClr val="F7F4FF"/>
                </a:solidFill>
                <a:latin typeface="Calibri"/>
                <a:ea typeface="Calibri"/>
                <a:cs typeface="Calibri"/>
              </a:defRPr>
            </a:pPr>
            <a:r>
              <a:rPr sz="1725" b="0">
                <a:solidFill>
                  <a:srgbClr val="F7F4FF"/>
                </a:solidFill>
                <a:latin typeface="Calibri"/>
                <a:ea typeface="Calibri"/>
                <a:cs typeface="Calibri"/>
              </a:rPr>
              <a:t>Analytical queries in milliseconds. The observed limit lies in API delivery.</a:t>
            </a:r>
          </a:p>
        </p:txBody>
      </p:sp>
      <p:sp>
        <p:nvSpPr>
          <p:cNvPr id="104" name="Visual RQ2  One schema">
            <a:extLst>
              <a:ext uri="{FF2B5EF4-FFF2-40B4-BE49-F238E27FC236}">
                <a16:creationId xmlns:a16="http://schemas.microsoft.com/office/drawing/2014/main" id="{DEEAF098-0AA2-4393-99DD-BE053252DA75}"/>
              </a:ext>
            </a:extLst>
          </p:cNvPr>
          <p:cNvSpPr>
            <a:spLocks noGrp="1"/>
          </p:cNvSpPr>
          <p:nvPr/>
        </p:nvSpPr>
        <p:spPr>
          <a:xfrm>
            <a:off x="4419600" y="1990725"/>
            <a:ext cx="3333750" cy="36195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RQ2  One schema</a:t>
            </a:r>
          </a:p>
        </p:txBody>
      </p:sp>
      <p:sp>
        <p:nvSpPr>
          <p:cNvPr id="105" name="Visual 5 SCD 2">
            <a:extLst>
              <a:ext uri="{FF2B5EF4-FFF2-40B4-BE49-F238E27FC236}">
                <a16:creationId xmlns:a16="http://schemas.microsoft.com/office/drawing/2014/main" id="{1DD778C1-F4B5-48D3-A450-D4B32D7B292C}"/>
              </a:ext>
            </a:extLst>
          </p:cNvPr>
          <p:cNvSpPr>
            <a:spLocks noGrp="1"/>
          </p:cNvSpPr>
          <p:nvPr/>
        </p:nvSpPr>
        <p:spPr>
          <a:xfrm>
            <a:off x="4419600" y="2676525"/>
            <a:ext cx="3429000" cy="809625"/>
          </a:xfrm>
          <a:prstGeom prst="rect">
            <a:avLst/>
          </a:prstGeom>
          <a:noFill/>
          <a:ln w="0">
            <a:noFill/>
          </a:ln>
        </p:spPr>
        <p:txBody>
          <a:bodyPr anchor="t">
            <a:noAutofit/>
          </a:bodyPr>
          <a:lstStyle/>
          <a:p>
            <a:pPr algn="l">
              <a:defRPr sz="3900" b="1">
                <a:solidFill>
                  <a:srgbClr val="3ED4BA"/>
                </a:solidFill>
                <a:latin typeface="Calibri"/>
                <a:ea typeface="Calibri"/>
                <a:cs typeface="Calibri"/>
              </a:defRPr>
            </a:pPr>
            <a:r>
              <a:rPr sz="3900" b="1">
                <a:solidFill>
                  <a:srgbClr val="3ED4BA"/>
                </a:solidFill>
                <a:latin typeface="Calibri"/>
                <a:ea typeface="Calibri"/>
                <a:cs typeface="Calibri"/>
              </a:rPr>
              <a:t>5 SCD 2</a:t>
            </a:r>
          </a:p>
        </p:txBody>
      </p:sp>
      <p:sp>
        <p:nvSpPr>
          <p:cNvPr id="106" name="Visual entities with auditable h">
            <a:extLst>
              <a:ext uri="{FF2B5EF4-FFF2-40B4-BE49-F238E27FC236}">
                <a16:creationId xmlns:a16="http://schemas.microsoft.com/office/drawing/2014/main" id="{1961F192-FB19-4F6A-8404-26581C21637C}"/>
              </a:ext>
            </a:extLst>
          </p:cNvPr>
          <p:cNvSpPr>
            <a:spLocks noGrp="1"/>
          </p:cNvSpPr>
          <p:nvPr/>
        </p:nvSpPr>
        <p:spPr>
          <a:xfrm>
            <a:off x="4419600" y="3524250"/>
            <a:ext cx="3333750" cy="457200"/>
          </a:xfrm>
          <a:prstGeom prst="rect">
            <a:avLst/>
          </a:prstGeom>
          <a:noFill/>
          <a:ln w="0">
            <a:noFill/>
          </a:ln>
        </p:spPr>
        <p:txBody>
          <a:bodyPr anchor="t">
            <a:noAutofit/>
          </a:bodyPr>
          <a:lstStyle/>
          <a:p>
            <a:pPr algn="l">
              <a:defRPr sz="1575" b="0">
                <a:solidFill>
                  <a:srgbClr val="CEC4DF"/>
                </a:solidFill>
                <a:latin typeface="Calibri"/>
                <a:ea typeface="Calibri"/>
                <a:cs typeface="Calibri"/>
              </a:defRPr>
            </a:pPr>
            <a:r>
              <a:rPr sz="1575" b="0">
                <a:solidFill>
                  <a:srgbClr val="CEC4DF"/>
                </a:solidFill>
                <a:latin typeface="Calibri"/>
                <a:ea typeface="Calibri"/>
                <a:cs typeface="Calibri"/>
              </a:rPr>
              <a:t>entities with auditable history</a:t>
            </a:r>
          </a:p>
        </p:txBody>
      </p:sp>
      <p:sp>
        <p:nvSpPr>
          <p:cNvPr id="107" name="Visual An event fact and a work ">
            <a:extLst>
              <a:ext uri="{FF2B5EF4-FFF2-40B4-BE49-F238E27FC236}">
                <a16:creationId xmlns:a16="http://schemas.microsoft.com/office/drawing/2014/main" id="{FC8144EF-72B5-474F-88C2-D8076F9915F0}"/>
              </a:ext>
            </a:extLst>
          </p:cNvPr>
          <p:cNvSpPr>
            <a:spLocks noGrp="1"/>
          </p:cNvSpPr>
          <p:nvPr/>
        </p:nvSpPr>
        <p:spPr>
          <a:xfrm>
            <a:off x="4419600" y="4229100"/>
            <a:ext cx="3333750" cy="1047750"/>
          </a:xfrm>
          <a:prstGeom prst="rect">
            <a:avLst/>
          </a:prstGeom>
          <a:noFill/>
          <a:ln w="0">
            <a:noFill/>
          </a:ln>
        </p:spPr>
        <p:txBody>
          <a:bodyPr anchor="t">
            <a:noAutofit/>
          </a:bodyPr>
          <a:lstStyle/>
          <a:p>
            <a:pPr algn="l">
              <a:defRPr sz="1725" b="0">
                <a:solidFill>
                  <a:srgbClr val="F7F4FF"/>
                </a:solidFill>
                <a:latin typeface="Calibri"/>
                <a:ea typeface="Calibri"/>
                <a:cs typeface="Calibri"/>
              </a:defRPr>
            </a:pPr>
            <a:r>
              <a:rPr sz="1725" b="0">
                <a:solidFill>
                  <a:srgbClr val="F7F4FF"/>
                </a:solidFill>
                <a:latin typeface="Calibri"/>
                <a:ea typeface="Calibri"/>
                <a:cs typeface="Calibri"/>
              </a:rPr>
              <a:t>An event fact and a work × month snapshot serve alerts, budgets and participation.</a:t>
            </a:r>
          </a:p>
        </p:txBody>
      </p:sp>
      <p:sp>
        <p:nvSpPr>
          <p:cNvPr id="108" name="Visual RQ3  Rule capability">
            <a:extLst>
              <a:ext uri="{FF2B5EF4-FFF2-40B4-BE49-F238E27FC236}">
                <a16:creationId xmlns:a16="http://schemas.microsoft.com/office/drawing/2014/main" id="{C2058FC1-58DE-4DDB-AE55-F464DE1FC7D0}"/>
              </a:ext>
            </a:extLst>
          </p:cNvPr>
          <p:cNvSpPr>
            <a:spLocks noGrp="1"/>
          </p:cNvSpPr>
          <p:nvPr/>
        </p:nvSpPr>
        <p:spPr>
          <a:xfrm>
            <a:off x="8172450" y="1990725"/>
            <a:ext cx="3333750" cy="361950"/>
          </a:xfrm>
          <a:prstGeom prst="rect">
            <a:avLst/>
          </a:prstGeom>
          <a:noFill/>
          <a:ln w="0">
            <a:noFill/>
          </a:ln>
        </p:spPr>
        <p:txBody>
          <a:bodyPr anchor="t">
            <a:noAutofit/>
          </a:bodyPr>
          <a:lstStyle/>
          <a:p>
            <a:pPr algn="l">
              <a:defRPr sz="1875" b="1">
                <a:solidFill>
                  <a:srgbClr val="BD8CFF"/>
                </a:solidFill>
                <a:latin typeface="Calibri"/>
                <a:ea typeface="Calibri"/>
                <a:cs typeface="Calibri"/>
              </a:defRPr>
            </a:pPr>
            <a:r>
              <a:rPr sz="1875" b="1">
                <a:solidFill>
                  <a:srgbClr val="BD8CFF"/>
                </a:solidFill>
                <a:latin typeface="Calibri"/>
                <a:ea typeface="Calibri"/>
                <a:cs typeface="Calibri"/>
              </a:rPr>
              <a:t>RQ3  Rule capability</a:t>
            </a:r>
          </a:p>
        </p:txBody>
      </p:sp>
      <p:sp>
        <p:nvSpPr>
          <p:cNvPr id="109" name="Visual 0.46 / 0.35">
            <a:extLst>
              <a:ext uri="{FF2B5EF4-FFF2-40B4-BE49-F238E27FC236}">
                <a16:creationId xmlns:a16="http://schemas.microsoft.com/office/drawing/2014/main" id="{2C3139C6-5829-4976-B878-A21FC2DBDF46}"/>
              </a:ext>
            </a:extLst>
          </p:cNvPr>
          <p:cNvSpPr>
            <a:spLocks noGrp="1"/>
          </p:cNvSpPr>
          <p:nvPr/>
        </p:nvSpPr>
        <p:spPr>
          <a:xfrm>
            <a:off x="8172450" y="2676525"/>
            <a:ext cx="3429000" cy="809625"/>
          </a:xfrm>
          <a:prstGeom prst="rect">
            <a:avLst/>
          </a:prstGeom>
          <a:noFill/>
          <a:ln w="0">
            <a:noFill/>
          </a:ln>
        </p:spPr>
        <p:txBody>
          <a:bodyPr anchor="t">
            <a:noAutofit/>
          </a:bodyPr>
          <a:lstStyle/>
          <a:p>
            <a:pPr algn="l">
              <a:defRPr sz="3900" b="1">
                <a:solidFill>
                  <a:srgbClr val="F4C259"/>
                </a:solidFill>
                <a:latin typeface="Calibri"/>
                <a:ea typeface="Calibri"/>
                <a:cs typeface="Calibri"/>
              </a:defRPr>
            </a:pPr>
            <a:r>
              <a:rPr sz="3900" b="1">
                <a:solidFill>
                  <a:srgbClr val="F4C259"/>
                </a:solidFill>
                <a:latin typeface="Calibri"/>
                <a:ea typeface="Calibri"/>
                <a:cs typeface="Calibri"/>
              </a:rPr>
              <a:t>0.46 / 0.35</a:t>
            </a:r>
          </a:p>
        </p:txBody>
      </p:sp>
      <p:sp>
        <p:nvSpPr>
          <p:cNvPr id="110" name="Visual precision / recall">
            <a:extLst>
              <a:ext uri="{FF2B5EF4-FFF2-40B4-BE49-F238E27FC236}">
                <a16:creationId xmlns:a16="http://schemas.microsoft.com/office/drawing/2014/main" id="{E59EE615-33A7-46A9-8B9E-25265FEDB85F}"/>
              </a:ext>
            </a:extLst>
          </p:cNvPr>
          <p:cNvSpPr>
            <a:spLocks noGrp="1"/>
          </p:cNvSpPr>
          <p:nvPr/>
        </p:nvSpPr>
        <p:spPr>
          <a:xfrm>
            <a:off x="8172450" y="3524250"/>
            <a:ext cx="3333750" cy="457200"/>
          </a:xfrm>
          <a:prstGeom prst="rect">
            <a:avLst/>
          </a:prstGeom>
          <a:noFill/>
          <a:ln w="0">
            <a:noFill/>
          </a:ln>
        </p:spPr>
        <p:txBody>
          <a:bodyPr anchor="t">
            <a:noAutofit/>
          </a:bodyPr>
          <a:lstStyle/>
          <a:p>
            <a:pPr algn="l">
              <a:defRPr sz="1575" b="0">
                <a:solidFill>
                  <a:srgbClr val="CEC4DF"/>
                </a:solidFill>
                <a:latin typeface="Calibri"/>
                <a:ea typeface="Calibri"/>
                <a:cs typeface="Calibri"/>
              </a:defRPr>
            </a:pPr>
            <a:r>
              <a:rPr sz="1575" b="0">
                <a:solidFill>
                  <a:srgbClr val="CEC4DF"/>
                </a:solidFill>
                <a:latin typeface="Calibri"/>
                <a:ea typeface="Calibri"/>
                <a:cs typeface="Calibri"/>
              </a:rPr>
              <a:t>precision / recall</a:t>
            </a:r>
          </a:p>
        </p:txBody>
      </p:sp>
      <p:sp>
        <p:nvSpPr>
          <p:cNvPr id="111" name="Visual An advantage at the same ">
            <a:extLst>
              <a:ext uri="{FF2B5EF4-FFF2-40B4-BE49-F238E27FC236}">
                <a16:creationId xmlns:a16="http://schemas.microsoft.com/office/drawing/2014/main" id="{2B3A10C8-F7AB-43BF-8616-5905CBE5EE9A}"/>
              </a:ext>
            </a:extLst>
          </p:cNvPr>
          <p:cNvSpPr>
            <a:spLocks noGrp="1"/>
          </p:cNvSpPr>
          <p:nvPr/>
        </p:nvSpPr>
        <p:spPr>
          <a:xfrm>
            <a:off x="8172450" y="4229100"/>
            <a:ext cx="3333750" cy="1047750"/>
          </a:xfrm>
          <a:prstGeom prst="rect">
            <a:avLst/>
          </a:prstGeom>
          <a:noFill/>
          <a:ln w="0">
            <a:noFill/>
          </a:ln>
        </p:spPr>
        <p:txBody>
          <a:bodyPr anchor="t">
            <a:noAutofit/>
          </a:bodyPr>
          <a:lstStyle/>
          <a:p>
            <a:pPr algn="l">
              <a:defRPr sz="1725" b="0">
                <a:solidFill>
                  <a:srgbClr val="F7F4FF"/>
                </a:solidFill>
                <a:latin typeface="Calibri"/>
                <a:ea typeface="Calibri"/>
                <a:cs typeface="Calibri"/>
              </a:defRPr>
            </a:pPr>
            <a:r>
              <a:rPr sz="1725" b="0">
                <a:solidFill>
                  <a:srgbClr val="F7F4FF"/>
                </a:solidFill>
                <a:latin typeface="Calibri"/>
                <a:ea typeface="Calibri"/>
                <a:cs typeface="Calibri"/>
              </a:rPr>
              <a:t>An advantage at the same alert budget. Isolation Forest achieves better AUCs.</a:t>
            </a:r>
          </a:p>
        </p:txBody>
      </p:sp>
      <p:sp>
        <p:nvSpPr>
          <p:cNvPr id="112" name="Visual Validated under synthetic">
            <a:extLst>
              <a:ext uri="{FF2B5EF4-FFF2-40B4-BE49-F238E27FC236}">
                <a16:creationId xmlns:a16="http://schemas.microsoft.com/office/drawing/2014/main" id="{4AC8FC66-55EF-44CB-90A8-6263F3F7E271}"/>
              </a:ext>
            </a:extLst>
          </p:cNvPr>
          <p:cNvSpPr>
            <a:spLocks noGrp="1"/>
          </p:cNvSpPr>
          <p:nvPr/>
        </p:nvSpPr>
        <p:spPr>
          <a:xfrm>
            <a:off x="666750" y="5591175"/>
            <a:ext cx="10810875" cy="457200"/>
          </a:xfrm>
          <a:prstGeom prst="rect">
            <a:avLst/>
          </a:prstGeom>
          <a:noFill/>
          <a:ln w="0">
            <a:noFill/>
          </a:ln>
        </p:spPr>
        <p:txBody>
          <a:bodyPr anchor="t">
            <a:noAutofit/>
          </a:bodyPr>
          <a:lstStyle/>
          <a:p>
            <a:pPr algn="l">
              <a:defRPr sz="1575" b="0">
                <a:solidFill>
                  <a:srgbClr val="F4C259"/>
                </a:solidFill>
                <a:latin typeface="Calibri"/>
                <a:ea typeface="Calibri"/>
                <a:cs typeface="Calibri"/>
              </a:defRPr>
            </a:pPr>
            <a:r>
              <a:rPr sz="1575" b="0">
                <a:solidFill>
                  <a:srgbClr val="F4C259"/>
                </a:solidFill>
                <a:latin typeface="Calibri"/>
                <a:ea typeface="Calibri"/>
                <a:cs typeface="Calibri"/>
              </a:rPr>
              <a:t>Validated under synthetic load on a reference stack. No validation against real municipal records.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27248" y="676656"/>
            <a:ext cx="8549640" cy="868680"/>
          </a:xfrm>
        </p:spPr>
        <p:txBody>
          <a:bodyPr wrap="square"/>
          <a:lstStyle/>
          <a:p>
            <a:r>
              <a:rPr sz="3000" lang="en-US">
                <a:solidFill>
                  <a:srgbClr val="FFFFFF"/>
                </a:solidFill>
                <a:latin typeface="Calibri Light"/>
              </a:rPr>
              <a:t>Limitations, and the road to a lakehouse</a:t>
            </a:r>
          </a:p>
        </p:txBody>
      </p:sp>
      <p:sp>
        <p:nvSpPr>
          <p:cNvPr id="3" name="TextBox 2"/>
          <p:cNvSpPr txBox="1"/>
          <p:nvPr/>
        </p:nvSpPr>
        <p:spPr>
          <a:xfrm>
            <a:off x="3163824" y="420624"/>
            <a:ext cx="6400800" cy="274320"/>
          </a:xfrm>
          <a:prstGeom prst="rect">
            <a:avLst/>
          </a:prstGeom>
          <a:noFill/>
        </p:spPr>
        <p:txBody>
          <a:bodyPr wrap="square" lIns="0" rIns="0" tIns="0" bIns="0" anchor="t">
            <a:noAutofit/>
          </a:bodyPr>
          <a:lstStyle/>
          <a:p>
            <a:pPr algn="l">
              <a:spcAft>
                <a:spcPts val="0"/>
              </a:spcAft>
            </a:pPr>
            <a:r>
              <a:rPr sz="1050" b="1" i="0" lang="en-US" spc="250">
                <a:solidFill>
                  <a:srgbClr val="B57BFF"/>
                </a:solidFill>
                <a:latin typeface="Calibri"/>
              </a:rPr>
              <a:t>FUTURE WORK</a:t>
            </a:r>
          </a:p>
        </p:txBody>
      </p:sp>
      <p:sp>
        <p:nvSpPr>
          <p:cNvPr id="4" name="TextBox 3"/>
          <p:cNvSpPr txBox="1"/>
          <p:nvPr/>
        </p:nvSpPr>
        <p:spPr>
          <a:xfrm>
            <a:off x="10725912" y="6419088"/>
            <a:ext cx="914400" cy="256032"/>
          </a:xfrm>
          <a:prstGeom prst="rect">
            <a:avLst/>
          </a:prstGeom>
          <a:noFill/>
        </p:spPr>
        <p:txBody>
          <a:bodyPr wrap="square" lIns="0" rIns="0" tIns="0" bIns="0" anchor="t">
            <a:noAutofit/>
          </a:bodyPr>
          <a:lstStyle/>
          <a:p>
            <a:pPr algn="r">
              <a:spcAft>
                <a:spcPts val="0"/>
              </a:spcAft>
            </a:pPr>
            <a:r>
              <a:rPr sz="1000" b="0" i="0" lang="en-US">
                <a:solidFill>
                  <a:srgbClr val="8E84AB"/>
                </a:solidFill>
                <a:latin typeface="Calibri"/>
              </a:rPr>
              <a:t>18 / 19</a:t>
            </a:r>
          </a:p>
        </p:txBody>
      </p:sp>
      <p:pic>
        <p:nvPicPr>
          <p:cNvPr id="100" name="Picture 100" descr="Embedded illustration or system screenshot"/>
          <p:cNvPicPr>
            <a:picLocks noChangeAspect="1"/>
          </p:cNvPicPr>
          <p:nvPr/>
        </p:nvPicPr>
        <p:blipFill>
          <a:blip r:embed="rId16"/>
          <a:srcRect l="0" r="66667" t="0" b="0"/>
          <a:stretch>
            <a:fillRect/>
          </a:stretch>
        </p:blipFill>
        <p:spPr>
          <a:xfrm>
            <a:off x="1428750" y="1714500"/>
            <a:ext cx="1809750" cy="1809750"/>
          </a:xfrm>
          <a:prstGeom prst="rect">
            <a:avLst/>
          </a:prstGeom>
        </p:spPr>
      </p:pic>
      <p:pic>
        <p:nvPicPr>
          <p:cNvPr id="101" name="Picture 101" descr="Embedded illustration or system screenshot"/>
          <p:cNvPicPr>
            <a:picLocks noChangeAspect="1"/>
          </p:cNvPicPr>
          <p:nvPr/>
        </p:nvPicPr>
        <p:blipFill>
          <a:blip r:embed="rId17"/>
          <a:srcRect l="33333" r="33333" t="0" b="0"/>
          <a:stretch>
            <a:fillRect/>
          </a:stretch>
        </p:blipFill>
        <p:spPr>
          <a:xfrm>
            <a:off x="5181600" y="1714500"/>
            <a:ext cx="1809750" cy="1809750"/>
          </a:xfrm>
          <a:prstGeom prst="rect">
            <a:avLst/>
          </a:prstGeom>
        </p:spPr>
      </p:pic>
      <p:pic>
        <p:nvPicPr>
          <p:cNvPr id="102" name="Picture 102" descr="Embedded illustration or system screenshot"/>
          <p:cNvPicPr>
            <a:picLocks noChangeAspect="1"/>
          </p:cNvPicPr>
          <p:nvPr/>
        </p:nvPicPr>
        <p:blipFill>
          <a:blip r:embed="rId18"/>
          <a:srcRect l="66667" r="0" t="0" b="0"/>
          <a:stretch>
            <a:fillRect/>
          </a:stretch>
        </p:blipFill>
        <p:spPr>
          <a:xfrm>
            <a:off x="8934450" y="1714500"/>
            <a:ext cx="1809750" cy="1809750"/>
          </a:xfrm>
          <a:prstGeom prst="rect">
            <a:avLst/>
          </a:prstGeom>
        </p:spPr>
      </p:pic>
      <p:sp>
        <p:nvSpPr>
          <p:cNvPr id="103" name="Visual TODAY  Warehouse + eviden">
            <a:extLst>
              <a:ext uri="{FF2B5EF4-FFF2-40B4-BE49-F238E27FC236}">
                <a16:creationId xmlns:a16="http://schemas.microsoft.com/office/drawing/2014/main" id="{F9FDB49D-69D6-41FC-B7A9-35CE86508F55}"/>
              </a:ext>
            </a:extLst>
          </p:cNvPr>
          <p:cNvSpPr>
            <a:spLocks noGrp="1"/>
          </p:cNvSpPr>
          <p:nvPr/>
        </p:nvSpPr>
        <p:spPr>
          <a:xfrm>
            <a:off x="666750" y="3657600"/>
            <a:ext cx="3381375" cy="285750"/>
          </a:xfrm>
          <a:prstGeom prst="rect">
            <a:avLst/>
          </a:prstGeom>
          <a:noFill/>
          <a:ln w="0">
            <a:noFill/>
          </a:ln>
        </p:spPr>
        <p:txBody>
          <a:bodyPr anchor="t">
            <a:noAutofit/>
          </a:bodyPr>
          <a:lstStyle/>
          <a:p>
            <a:pPr algn="l">
              <a:defRPr sz="1650" b="1">
                <a:solidFill>
                  <a:srgbClr val="BD8CFF"/>
                </a:solidFill>
                <a:latin typeface="Calibri"/>
                <a:ea typeface="Calibri"/>
                <a:cs typeface="Calibri"/>
              </a:defRPr>
            </a:pPr>
            <a:r>
              <a:rPr sz="1650" b="1">
                <a:solidFill>
                  <a:srgbClr val="BD8CFF"/>
                </a:solidFill>
                <a:latin typeface="Calibri"/>
                <a:ea typeface="Calibri"/>
                <a:cs typeface="Calibri"/>
              </a:rPr>
              <a:t>TODAY  Warehouse + evidence</a:t>
            </a:r>
          </a:p>
        </p:txBody>
      </p:sp>
      <p:sp>
        <p:nvSpPr>
          <p:cNvPr id="104" name="Visual PostgreSQL and binaries i">
            <a:extLst>
              <a:ext uri="{FF2B5EF4-FFF2-40B4-BE49-F238E27FC236}">
                <a16:creationId xmlns:a16="http://schemas.microsoft.com/office/drawing/2014/main" id="{68FA1504-5BF1-4ADB-998A-9EFCDE810433}"/>
              </a:ext>
            </a:extLst>
          </p:cNvPr>
          <p:cNvSpPr>
            <a:spLocks noGrp="1"/>
          </p:cNvSpPr>
          <p:nvPr/>
        </p:nvSpPr>
        <p:spPr>
          <a:xfrm>
            <a:off x="666750" y="4048125"/>
            <a:ext cx="3333750" cy="704850"/>
          </a:xfrm>
          <a:prstGeom prst="rect">
            <a:avLst/>
          </a:prstGeom>
          <a:noFill/>
          <a:ln w="0">
            <a:noFill/>
          </a:ln>
        </p:spPr>
        <p:txBody>
          <a:bodyPr anchor="t">
            <a:noAutofit/>
          </a:bodyPr>
          <a:lstStyle/>
          <a:p>
            <a:pPr algn="l">
              <a:defRPr sz="1425" b="0">
                <a:solidFill>
                  <a:srgbClr val="F7F4FF"/>
                </a:solidFill>
                <a:latin typeface="Calibri"/>
                <a:ea typeface="Calibri"/>
                <a:cs typeface="Calibri"/>
              </a:defRPr>
            </a:pPr>
            <a:r>
              <a:rPr sz="1425" b="0">
                <a:solidFill>
                  <a:srgbClr val="F7F4FF"/>
                </a:solidFill>
                <a:latin typeface="Calibri"/>
                <a:ea typeface="Calibri"/>
                <a:cs typeface="Calibri"/>
              </a:rPr>
              <a:t>PostgreSQL and binaries in R2.</a:t>
            </a:r>
          </a:p>
          <a:p>
            <a:pPr algn="l">
              <a:defRPr sz="1425" b="0">
                <a:solidFill>
                  <a:srgbClr val="F7F4FF"/>
                </a:solidFill>
                <a:latin typeface="Calibri"/>
                <a:ea typeface="Calibri"/>
                <a:cs typeface="Calibri"/>
              </a:defRPr>
            </a:pPr>
            <a:r>
              <a:rPr sz="1425" b="0">
                <a:solidFill>
                  <a:srgbClr val="F7F4FF"/>
                </a:solidFill>
                <a:latin typeface="Calibri"/>
                <a:ea typeface="Calibri"/>
                <a:cs typeface="Calibri"/>
              </a:rPr>
              <a:t>No analytical queries over object storage yet.</a:t>
            </a:r>
          </a:p>
        </p:txBody>
      </p:sp>
      <p:sp>
        <p:nvSpPr>
          <p:cNvPr id="105" name="Visual NEXT  Lakehouse">
            <a:extLst>
              <a:ext uri="{FF2B5EF4-FFF2-40B4-BE49-F238E27FC236}">
                <a16:creationId xmlns:a16="http://schemas.microsoft.com/office/drawing/2014/main" id="{783270D3-F9C3-4392-A6F1-50EF75D3EA30}"/>
              </a:ext>
            </a:extLst>
          </p:cNvPr>
          <p:cNvSpPr>
            <a:spLocks noGrp="1"/>
          </p:cNvSpPr>
          <p:nvPr/>
        </p:nvSpPr>
        <p:spPr>
          <a:xfrm>
            <a:off x="4419600" y="3657600"/>
            <a:ext cx="3381375" cy="285750"/>
          </a:xfrm>
          <a:prstGeom prst="rect">
            <a:avLst/>
          </a:prstGeom>
          <a:noFill/>
          <a:ln w="0">
            <a:noFill/>
          </a:ln>
        </p:spPr>
        <p:txBody>
          <a:bodyPr anchor="t">
            <a:noAutofit/>
          </a:bodyPr>
          <a:lstStyle/>
          <a:p>
            <a:pPr algn="l">
              <a:defRPr sz="1650" b="1">
                <a:solidFill>
                  <a:srgbClr val="BD8CFF"/>
                </a:solidFill>
                <a:latin typeface="Calibri"/>
                <a:ea typeface="Calibri"/>
                <a:cs typeface="Calibri"/>
              </a:defRPr>
            </a:pPr>
            <a:r>
              <a:rPr sz="1650" b="1">
                <a:solidFill>
                  <a:srgbClr val="BD8CFF"/>
                </a:solidFill>
                <a:latin typeface="Calibri"/>
                <a:ea typeface="Calibri"/>
                <a:cs typeface="Calibri"/>
              </a:rPr>
              <a:t>NEXT  Lakehouse</a:t>
            </a:r>
          </a:p>
        </p:txBody>
      </p:sp>
      <p:sp>
        <p:nvSpPr>
          <p:cNvPr id="106" name="Visual Iceberg or Parquet with t">
            <a:extLst>
              <a:ext uri="{FF2B5EF4-FFF2-40B4-BE49-F238E27FC236}">
                <a16:creationId xmlns:a16="http://schemas.microsoft.com/office/drawing/2014/main" id="{496EAB53-8130-495F-96DC-1A99DFB68C8E}"/>
              </a:ext>
            </a:extLst>
          </p:cNvPr>
          <p:cNvSpPr>
            <a:spLocks noGrp="1"/>
          </p:cNvSpPr>
          <p:nvPr/>
        </p:nvSpPr>
        <p:spPr>
          <a:xfrm>
            <a:off x="4419600" y="4048125"/>
            <a:ext cx="3333750" cy="704850"/>
          </a:xfrm>
          <a:prstGeom prst="rect">
            <a:avLst/>
          </a:prstGeom>
          <a:noFill/>
          <a:ln w="0">
            <a:noFill/>
          </a:ln>
        </p:spPr>
        <p:txBody>
          <a:bodyPr anchor="t">
            <a:noAutofit/>
          </a:bodyPr>
          <a:lstStyle/>
          <a:p>
            <a:pPr algn="l">
              <a:defRPr sz="1425" b="0">
                <a:solidFill>
                  <a:srgbClr val="F7F4FF"/>
                </a:solidFill>
                <a:latin typeface="Calibri"/>
                <a:ea typeface="Calibri"/>
                <a:cs typeface="Calibri"/>
              </a:defRPr>
            </a:pPr>
            <a:r>
              <a:rPr sz="1425" b="0">
                <a:solidFill>
                  <a:srgbClr val="F7F4FF"/>
                </a:solidFill>
                <a:latin typeface="Calibri"/>
                <a:ea typeface="Calibri"/>
                <a:cs typeface="Calibri"/>
              </a:rPr>
              <a:t>Iceberg or Parquet with transactional metadata on R2. DuckDB or Trino.</a:t>
            </a:r>
          </a:p>
        </p:txBody>
      </p:sp>
      <p:sp>
        <p:nvSpPr>
          <p:cNvPr id="107" name="Visual LATER  Interoperability">
            <a:extLst>
              <a:ext uri="{FF2B5EF4-FFF2-40B4-BE49-F238E27FC236}">
                <a16:creationId xmlns:a16="http://schemas.microsoft.com/office/drawing/2014/main" id="{94F5C9B4-72C6-42FC-B0EF-3268C54AB31D}"/>
              </a:ext>
            </a:extLst>
          </p:cNvPr>
          <p:cNvSpPr>
            <a:spLocks noGrp="1"/>
          </p:cNvSpPr>
          <p:nvPr/>
        </p:nvSpPr>
        <p:spPr>
          <a:xfrm>
            <a:off x="8172450" y="3657600"/>
            <a:ext cx="3381375" cy="285750"/>
          </a:xfrm>
          <a:prstGeom prst="rect">
            <a:avLst/>
          </a:prstGeom>
          <a:noFill/>
          <a:ln w="0">
            <a:noFill/>
          </a:ln>
        </p:spPr>
        <p:txBody>
          <a:bodyPr anchor="t">
            <a:noAutofit/>
          </a:bodyPr>
          <a:lstStyle/>
          <a:p>
            <a:pPr algn="l">
              <a:defRPr sz="1650" b="1">
                <a:solidFill>
                  <a:srgbClr val="3ED4BA"/>
                </a:solidFill>
                <a:latin typeface="Calibri"/>
                <a:ea typeface="Calibri"/>
                <a:cs typeface="Calibri"/>
              </a:defRPr>
            </a:pPr>
            <a:r>
              <a:rPr sz="1650" b="1">
                <a:solidFill>
                  <a:srgbClr val="3ED4BA"/>
                </a:solidFill>
                <a:latin typeface="Calibri"/>
                <a:ea typeface="Calibri"/>
                <a:cs typeface="Calibri"/>
              </a:rPr>
              <a:t>LATER  Interoperability</a:t>
            </a:r>
          </a:p>
        </p:txBody>
      </p:sp>
      <p:sp>
        <p:nvSpPr>
          <p:cNvPr id="108" name="Visual An OWL vocabulary and dat">
            <a:extLst>
              <a:ext uri="{FF2B5EF4-FFF2-40B4-BE49-F238E27FC236}">
                <a16:creationId xmlns:a16="http://schemas.microsoft.com/office/drawing/2014/main" id="{A9B8B986-9736-4CC6-99F8-66CCD42CC077}"/>
              </a:ext>
            </a:extLst>
          </p:cNvPr>
          <p:cNvSpPr>
            <a:spLocks noGrp="1"/>
          </p:cNvSpPr>
          <p:nvPr/>
        </p:nvSpPr>
        <p:spPr>
          <a:xfrm>
            <a:off x="8172450" y="4048125"/>
            <a:ext cx="3333750" cy="704850"/>
          </a:xfrm>
          <a:prstGeom prst="rect">
            <a:avLst/>
          </a:prstGeom>
          <a:noFill/>
          <a:ln w="0">
            <a:noFill/>
          </a:ln>
        </p:spPr>
        <p:txBody>
          <a:bodyPr anchor="t">
            <a:noAutofit/>
          </a:bodyPr>
          <a:lstStyle/>
          <a:p>
            <a:pPr algn="l">
              <a:defRPr sz="1425" b="0">
                <a:solidFill>
                  <a:srgbClr val="F7F4FF"/>
                </a:solidFill>
                <a:latin typeface="Calibri"/>
                <a:ea typeface="Calibri"/>
                <a:cs typeface="Calibri"/>
              </a:defRPr>
            </a:pPr>
            <a:r>
              <a:rPr sz="1425" b="0">
                <a:solidFill>
                  <a:srgbClr val="F7F4FF"/>
                </a:solidFill>
                <a:latin typeface="Calibri"/>
                <a:ea typeface="Calibri"/>
                <a:cs typeface="Calibri"/>
              </a:rPr>
              <a:t>An OWL vocabulary and data publication aligned with OC4IDS.</a:t>
            </a:r>
          </a:p>
        </p:txBody>
      </p:sp>
      <p:sp>
        <p:nvSpPr>
          <p:cNvPr id="109" name="Visual Current limitations">
            <a:extLst>
              <a:ext uri="{FF2B5EF4-FFF2-40B4-BE49-F238E27FC236}">
                <a16:creationId xmlns:a16="http://schemas.microsoft.com/office/drawing/2014/main" id="{9EC87A20-926A-426E-98D3-E1FE8616977D}"/>
              </a:ext>
            </a:extLst>
          </p:cNvPr>
          <p:cNvSpPr>
            <a:spLocks noGrp="1"/>
          </p:cNvSpPr>
          <p:nvPr/>
        </p:nvSpPr>
        <p:spPr>
          <a:xfrm>
            <a:off x="666750" y="4867275"/>
            <a:ext cx="5172075" cy="285750"/>
          </a:xfrm>
          <a:prstGeom prst="rect">
            <a:avLst/>
          </a:prstGeom>
          <a:noFill/>
          <a:ln w="0">
            <a:noFill/>
          </a:ln>
        </p:spPr>
        <p:txBody>
          <a:bodyPr anchor="t">
            <a:noAutofit/>
          </a:bodyPr>
          <a:lstStyle/>
          <a:p>
            <a:pPr algn="l">
              <a:defRPr sz="1650" b="1">
                <a:solidFill>
                  <a:srgbClr val="F4C259"/>
                </a:solidFill>
                <a:latin typeface="Calibri"/>
                <a:ea typeface="Calibri"/>
                <a:cs typeface="Calibri"/>
              </a:defRPr>
            </a:pPr>
            <a:r>
              <a:rPr sz="1650" b="1">
                <a:solidFill>
                  <a:srgbClr val="F4C259"/>
                </a:solidFill>
                <a:latin typeface="Calibri"/>
                <a:ea typeface="Calibri"/>
                <a:cs typeface="Calibri"/>
              </a:rPr>
              <a:t>Current limitations</a:t>
            </a:r>
          </a:p>
        </p:txBody>
      </p:sp>
      <p:sp>
        <p:nvSpPr>
          <p:cNvPr id="110" name="Visual Synthetic data and static">
            <a:extLst>
              <a:ext uri="{FF2B5EF4-FFF2-40B4-BE49-F238E27FC236}">
                <a16:creationId xmlns:a16="http://schemas.microsoft.com/office/drawing/2014/main" id="{F0B2BE50-33D2-4296-9946-92CC342D924B}"/>
              </a:ext>
            </a:extLst>
          </p:cNvPr>
          <p:cNvSpPr>
            <a:spLocks noGrp="1"/>
          </p:cNvSpPr>
          <p:nvPr/>
        </p:nvSpPr>
        <p:spPr>
          <a:xfrm>
            <a:off x="666750" y="5219700"/>
            <a:ext cx="5172075" cy="638175"/>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Synthetic data and static demo. Map reads separate from the DW. Lightweight access control and simple voting.</a:t>
            </a:r>
          </a:p>
        </p:txBody>
      </p:sp>
      <p:sp>
        <p:nvSpPr>
          <p:cNvPr id="111" name="Visual Further validation and im">
            <a:extLst>
              <a:ext uri="{FF2B5EF4-FFF2-40B4-BE49-F238E27FC236}">
                <a16:creationId xmlns:a16="http://schemas.microsoft.com/office/drawing/2014/main" id="{AD624B65-E1FB-4AAB-8D94-7AEE2F276492}"/>
              </a:ext>
            </a:extLst>
          </p:cNvPr>
          <p:cNvSpPr>
            <a:spLocks noGrp="1"/>
          </p:cNvSpPr>
          <p:nvPr/>
        </p:nvSpPr>
        <p:spPr>
          <a:xfrm>
            <a:off x="6286500" y="4867275"/>
            <a:ext cx="5334000" cy="285750"/>
          </a:xfrm>
          <a:prstGeom prst="rect">
            <a:avLst/>
          </a:prstGeom>
          <a:noFill/>
          <a:ln w="0">
            <a:noFill/>
          </a:ln>
        </p:spPr>
        <p:txBody>
          <a:bodyPr anchor="t">
            <a:noAutofit/>
          </a:bodyPr>
          <a:lstStyle/>
          <a:p>
            <a:pPr algn="l">
              <a:defRPr sz="1650" b="1">
                <a:solidFill>
                  <a:srgbClr val="BD8CFF"/>
                </a:solidFill>
                <a:latin typeface="Calibri"/>
                <a:ea typeface="Calibri"/>
                <a:cs typeface="Calibri"/>
              </a:defRPr>
            </a:pPr>
            <a:r>
              <a:rPr sz="1650" b="1">
                <a:solidFill>
                  <a:srgbClr val="BD8CFF"/>
                </a:solidFill>
                <a:latin typeface="Calibri"/>
                <a:ea typeface="Calibri"/>
                <a:cs typeface="Calibri"/>
              </a:rPr>
              <a:t>Further validation and improvements</a:t>
            </a:r>
          </a:p>
        </p:txBody>
      </p:sp>
      <p:sp>
        <p:nvSpPr>
          <p:cNvPr id="112" name="Visual Cost by work type, securi">
            <a:extLst>
              <a:ext uri="{FF2B5EF4-FFF2-40B4-BE49-F238E27FC236}">
                <a16:creationId xmlns:a16="http://schemas.microsoft.com/office/drawing/2014/main" id="{553A12B4-9D6C-472D-A489-CFFA1AD9BA9C}"/>
              </a:ext>
            </a:extLst>
          </p:cNvPr>
          <p:cNvSpPr>
            <a:spLocks noGrp="1"/>
          </p:cNvSpPr>
          <p:nvPr/>
        </p:nvSpPr>
        <p:spPr>
          <a:xfrm>
            <a:off x="6286500" y="5219700"/>
            <a:ext cx="5334000" cy="638175"/>
          </a:xfrm>
          <a:prstGeom prst="rect">
            <a:avLst/>
          </a:prstGeom>
          <a:noFill/>
          <a:ln w="0">
            <a:noFill/>
          </a:ln>
        </p:spPr>
        <p:txBody>
          <a:bodyPr anchor="t">
            <a:noAutofit/>
          </a:bodyPr>
          <a:lstStyle/>
          <a:p>
            <a:pPr algn="l">
              <a:defRPr sz="1425" b="0">
                <a:solidFill>
                  <a:srgbClr val="CEC4DF"/>
                </a:solidFill>
                <a:latin typeface="Calibri"/>
                <a:ea typeface="Calibri"/>
                <a:cs typeface="Calibri"/>
              </a:defRPr>
            </a:pPr>
            <a:r>
              <a:rPr sz="1425" b="0">
                <a:solidFill>
                  <a:srgbClr val="CEC4DF"/>
                </a:solidFill>
                <a:latin typeface="Calibri"/>
                <a:ea typeface="Calibri"/>
                <a:cs typeface="Calibri"/>
              </a:rPr>
              <a:t>Cost by work type, security and municipal validation. Computer vision, forecasting and quadratic voting.</a:t>
            </a:r>
          </a:p>
        </p:txBody>
      </p:sp>
      <p:sp>
        <p:nvSpPr>
          <p:cNvPr id="113" name="Visual Proposed path. AI-generat">
            <a:extLst>
              <a:ext uri="{FF2B5EF4-FFF2-40B4-BE49-F238E27FC236}">
                <a16:creationId xmlns:a16="http://schemas.microsoft.com/office/drawing/2014/main" id="{0607635E-0AC6-45BC-AAE6-2EDF4D9DF254}"/>
              </a:ext>
            </a:extLst>
          </p:cNvPr>
          <p:cNvSpPr>
            <a:spLocks noGrp="1"/>
          </p:cNvSpPr>
          <p:nvPr/>
        </p:nvSpPr>
        <p:spPr>
          <a:xfrm>
            <a:off x="666750" y="5962650"/>
            <a:ext cx="10477500" cy="171450"/>
          </a:xfrm>
          <a:prstGeom prst="rect">
            <a:avLst/>
          </a:prstGeom>
          <a:noFill/>
          <a:ln w="0">
            <a:noFill/>
          </a:ln>
        </p:spPr>
        <p:txBody>
          <a:bodyPr anchor="t">
            <a:noAutofit/>
          </a:bodyPr>
          <a:lstStyle/>
          <a:p>
            <a:pPr algn="l">
              <a:defRPr sz="825" b="0">
                <a:solidFill>
                  <a:srgbClr val="CEC4DF"/>
                </a:solidFill>
                <a:latin typeface="Calibri"/>
                <a:ea typeface="Calibri"/>
                <a:cs typeface="Calibri"/>
              </a:defRPr>
            </a:pPr>
            <a:r>
              <a:rPr sz="825" b="0">
                <a:solidFill>
                  <a:srgbClr val="CEC4DF"/>
                </a:solidFill>
                <a:latin typeface="Calibri"/>
                <a:ea typeface="Calibri"/>
                <a:cs typeface="Calibri"/>
              </a:rPr>
              <a:t>Proposed path. AI-generated conceptual illustrations.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669280" y="502920"/>
            <a:ext cx="6172200" cy="1234440"/>
          </a:xfrm>
        </p:spPr>
        <p:txBody>
          <a:bodyPr wrap="square" lIns="0" rIns="0" tIns="0" bIns="0" anchor="ctr">
            <a:noAutofit/>
          </a:bodyPr>
          <a:lstStyle/>
          <a:p>
            <a:pPr algn="ctr">
              <a:spcAft>
                <a:spcPts val="0"/>
              </a:spcAft>
            </a:pPr>
            <a:r>
              <a:rPr sz="4000" b="0" i="0" lang="en-US">
                <a:solidFill>
                  <a:srgbClr val="FFFFFF"/>
                </a:solidFill>
                <a:latin typeface="Calibri Light"/>
              </a:rPr>
              <a:t>Thank you — questions?</a:t>
            </a:r>
          </a:p>
        </p:txBody>
      </p:sp>
      <p:sp>
        <p:nvSpPr>
          <p:cNvPr id="3" name="Subtitle 2"/>
          <p:cNvSpPr>
            <a:spLocks noGrp="1"/>
          </p:cNvSpPr>
          <p:nvPr>
            <p:ph type="subTitle" idx="1"/>
          </p:nvPr>
        </p:nvSpPr>
        <p:spPr>
          <a:xfrm>
            <a:off x="5669280" y="4892040"/>
            <a:ext cx="6172200" cy="1097280"/>
          </a:xfrm>
        </p:spPr>
        <p:txBody>
          <a:bodyPr wrap="square" lIns="0" rIns="0" tIns="0" bIns="0" anchor="t">
            <a:noAutofit/>
          </a:bodyPr>
          <a:lstStyle/>
          <a:p>
            <a:pPr algn="ctr">
              <a:spcAft>
                <a:spcPts val="400"/>
              </a:spcAft>
            </a:pPr>
            <a:r>
              <a:rPr sz="1500" b="0" i="0" lang="en-US">
                <a:solidFill>
                  <a:srgbClr val="D9C5FF"/>
                </a:solidFill>
                <a:latin typeface="Calibri"/>
              </a:rPr>
              <a:t>gabrielhuav@gmail.com  ·  ghurtadoa@ipn.mx</a:t>
            </a:r>
          </a:p>
          <a:p>
            <a:pPr algn="ctr">
              <a:spcAft>
                <a:spcPts val="0"/>
              </a:spcAft>
            </a:pPr>
            <a:r>
              <a:rPr sz="1200" b="0" i="0" lang="en-US">
                <a:solidFill>
                  <a:srgbClr val="DDD6EE"/>
                </a:solidFill>
                <a:latin typeface="Calibri"/>
              </a:rPr>
              <a:t>U. González Casiano · M. T. Maldonado Mejía · G. Hurtado Avilés — ESCOM, IPN</a:t>
            </a:r>
          </a:p>
        </p:txBody>
      </p:sp>
      <p:sp>
        <p:nvSpPr>
          <p:cNvPr id="4" name="Rounded Rectangle 3"/>
          <p:cNvSpPr/>
          <p:nvPr/>
        </p:nvSpPr>
        <p:spPr>
          <a:xfrm>
            <a:off x="6172200" y="1920240"/>
            <a:ext cx="2377440" cy="2743200"/>
          </a:xfrm>
          <a:prstGeom prst="roundRect">
            <a:avLst>
              <a:gd name="adj" fmla="val 615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qr_site.png"/>
          <p:cNvPicPr>
            <a:picLocks noChangeAspect="1"/>
          </p:cNvPicPr>
          <p:nvPr/>
        </p:nvPicPr>
        <p:blipFill>
          <a:blip r:embed="rId2"/>
          <a:stretch>
            <a:fillRect/>
          </a:stretch>
        </p:blipFill>
        <p:spPr>
          <a:xfrm>
            <a:off x="6446520" y="2029968"/>
            <a:ext cx="1828800" cy="1828800"/>
          </a:xfrm>
          <a:prstGeom prst="rect">
            <a:avLst/>
          </a:prstGeom>
        </p:spPr>
      </p:pic>
      <p:sp>
        <p:nvSpPr>
          <p:cNvPr id="6" name="TextBox 5"/>
          <p:cNvSpPr txBox="1"/>
          <p:nvPr/>
        </p:nvSpPr>
        <p:spPr>
          <a:xfrm>
            <a:off x="6172200" y="3886200"/>
            <a:ext cx="2377440" cy="731520"/>
          </a:xfrm>
          <a:prstGeom prst="rect">
            <a:avLst/>
          </a:prstGeom>
          <a:noFill/>
        </p:spPr>
        <p:txBody>
          <a:bodyPr wrap="square" lIns="0" rIns="0" tIns="0" bIns="0" anchor="ctr">
            <a:noAutofit/>
          </a:bodyPr>
          <a:lstStyle/>
          <a:p>
            <a:pPr algn="ctr">
              <a:spcAft>
                <a:spcPts val="0"/>
              </a:spcAft>
            </a:pPr>
            <a:r>
              <a:rPr sz="1400" b="1" i="0" lang="en-US">
                <a:solidFill>
                  <a:srgbClr val="1B1530"/>
                </a:solidFill>
                <a:latin typeface="Calibri"/>
              </a:rPr>
              <a:t>Live demo</a:t>
            </a:r>
          </a:p>
          <a:p>
            <a:pPr algn="ctr">
              <a:spcAft>
                <a:spcPts val="0"/>
              </a:spcAft>
            </a:pPr>
            <a:r>
              <a:rPr sz="1050" b="0" i="0" lang="en-US">
                <a:solidFill>
                  <a:srgbClr val="6B6388"/>
                </a:solidFill>
                <a:latin typeface="Calibri"/>
              </a:rPr>
              <a:t>GitHub Pages</a:t>
            </a:r>
          </a:p>
        </p:txBody>
      </p:sp>
      <p:sp>
        <p:nvSpPr>
          <p:cNvPr id="7" name="Rounded Rectangle 6"/>
          <p:cNvSpPr/>
          <p:nvPr/>
        </p:nvSpPr>
        <p:spPr>
          <a:xfrm>
            <a:off x="8961120" y="1920240"/>
            <a:ext cx="2377440" cy="2743200"/>
          </a:xfrm>
          <a:prstGeom prst="roundRect">
            <a:avLst>
              <a:gd name="adj" fmla="val 615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qr_repo.png"/>
          <p:cNvPicPr>
            <a:picLocks noChangeAspect="1"/>
          </p:cNvPicPr>
          <p:nvPr/>
        </p:nvPicPr>
        <p:blipFill>
          <a:blip r:embed="rId3"/>
          <a:stretch>
            <a:fillRect/>
          </a:stretch>
        </p:blipFill>
        <p:spPr>
          <a:xfrm>
            <a:off x="9235440" y="2029968"/>
            <a:ext cx="1828800" cy="1828800"/>
          </a:xfrm>
          <a:prstGeom prst="rect">
            <a:avLst/>
          </a:prstGeom>
        </p:spPr>
      </p:pic>
      <p:sp>
        <p:nvSpPr>
          <p:cNvPr id="9" name="TextBox 8"/>
          <p:cNvSpPr txBox="1"/>
          <p:nvPr/>
        </p:nvSpPr>
        <p:spPr>
          <a:xfrm>
            <a:off x="8961120" y="3886200"/>
            <a:ext cx="2377440" cy="731520"/>
          </a:xfrm>
          <a:prstGeom prst="rect">
            <a:avLst/>
          </a:prstGeom>
          <a:noFill/>
        </p:spPr>
        <p:txBody>
          <a:bodyPr wrap="square" lIns="0" rIns="0" tIns="0" bIns="0" anchor="ctr">
            <a:noAutofit/>
          </a:bodyPr>
          <a:lstStyle/>
          <a:p>
            <a:pPr algn="ctr">
              <a:spcAft>
                <a:spcPts val="0"/>
              </a:spcAft>
            </a:pPr>
            <a:r>
              <a:rPr sz="1400" b="1" i="0" lang="en-US">
                <a:solidFill>
                  <a:srgbClr val="1B1530"/>
                </a:solidFill>
                <a:latin typeface="Calibri"/>
              </a:rPr>
              <a:t>Code, data &amp; scripts</a:t>
            </a:r>
          </a:p>
          <a:p>
            <a:pPr algn="ctr">
              <a:spcAft>
                <a:spcPts val="0"/>
              </a:spcAft>
            </a:pPr>
            <a:r>
              <a:rPr sz="1050" b="0" i="0" lang="en-US">
                <a:solidFill>
                  <a:srgbClr val="6B6388"/>
                </a:solidFill>
                <a:latin typeface="Calibri"/>
              </a:rPr>
              <a:t>GitHub</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0</Words>
  <Application>Microsoft Office PowerPoint</Application>
  <PresentationFormat>Panorámica</PresentationFormat>
  <Paragraphs>0</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Dimensional Data Warehouse for Geospatial Monitoring of Municipal Public Works</dc:title>
  <dc:creator>U. González Casiano, M. T. Maldonado Mejía, G. Hurtado Avilés</dc:creator>
  <cp:lastModifiedBy>Paula D. Cozaya</cp:lastModifiedBy>
  <cp:revision>2</cp:revision>
  <dcterms:created xsi:type="dcterms:W3CDTF">2026-08-21T01:27:15Z</dcterms:created>
  <dcterms:modified xsi:type="dcterms:W3CDTF">2026-08-21T01:41:18Z</dcterms:modified>
  <dc:subject>ICOKG 2026 — Paper 37</dc:subject>
</cp:coreProperties>
</file>